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media/image18.jpg" ContentType="image/jpg"/>
  <Override PartName="/ppt/media/image21.jpg" ContentType="image/jpg"/>
  <Override PartName="/ppt/media/image23.jpg" ContentType="image/jpg"/>
  <Override PartName="/ppt/media/image25.jpg" ContentType="image/jpg"/>
  <Override PartName="/ppt/media/image30.jpg" ContentType="image/jpg"/>
  <Override PartName="/ppt/media/image31.jpg" ContentType="image/jpg"/>
  <Override PartName="/ppt/media/image36.jpg" ContentType="image/jpg"/>
  <Override PartName="/ppt/media/image37.jpg" ContentType="image/jpg"/>
  <Override PartName="/ppt/media/image38.jpg" ContentType="image/jpg"/>
  <Override PartName="/ppt/media/image39.jpg" ContentType="image/jpg"/>
  <Override PartName="/ppt/media/image40.jpg" ContentType="image/jpg"/>
  <Override PartName="/ppt/media/image46.jpg" ContentType="image/jpg"/>
  <Override PartName="/ppt/media/image47.jpg" ContentType="image/jpg"/>
  <Override PartName="/ppt/media/image48.jpg" ContentType="image/jpg"/>
  <Override PartName="/ppt/media/image54.jpg" ContentType="image/jp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77"/>
  </p:notesMasterIdLst>
  <p:handoutMasterIdLst>
    <p:handoutMasterId r:id="rId78"/>
  </p:handoutMasterIdLst>
  <p:sldIdLst>
    <p:sldId id="1845" r:id="rId2"/>
    <p:sldId id="700" r:id="rId3"/>
    <p:sldId id="394" r:id="rId4"/>
    <p:sldId id="702" r:id="rId5"/>
    <p:sldId id="465" r:id="rId6"/>
    <p:sldId id="397" r:id="rId7"/>
    <p:sldId id="464" r:id="rId8"/>
    <p:sldId id="399" r:id="rId9"/>
    <p:sldId id="400" r:id="rId10"/>
    <p:sldId id="1858" r:id="rId11"/>
    <p:sldId id="1865" r:id="rId12"/>
    <p:sldId id="1866" r:id="rId13"/>
    <p:sldId id="1861" r:id="rId14"/>
    <p:sldId id="1860" r:id="rId15"/>
    <p:sldId id="1862" r:id="rId16"/>
    <p:sldId id="1863" r:id="rId17"/>
    <p:sldId id="1864" r:id="rId18"/>
    <p:sldId id="750" r:id="rId19"/>
    <p:sldId id="1773" r:id="rId20"/>
    <p:sldId id="1774" r:id="rId21"/>
    <p:sldId id="404" r:id="rId22"/>
    <p:sldId id="1867" r:id="rId23"/>
    <p:sldId id="470" r:id="rId24"/>
    <p:sldId id="1868" r:id="rId25"/>
    <p:sldId id="1886" r:id="rId26"/>
    <p:sldId id="1869" r:id="rId27"/>
    <p:sldId id="1870" r:id="rId28"/>
    <p:sldId id="1871" r:id="rId29"/>
    <p:sldId id="471" r:id="rId30"/>
    <p:sldId id="1872" r:id="rId31"/>
    <p:sldId id="1847" r:id="rId32"/>
    <p:sldId id="732" r:id="rId33"/>
    <p:sldId id="1873" r:id="rId34"/>
    <p:sldId id="1874" r:id="rId35"/>
    <p:sldId id="472" r:id="rId36"/>
    <p:sldId id="1875" r:id="rId37"/>
    <p:sldId id="421" r:id="rId38"/>
    <p:sldId id="415" r:id="rId39"/>
    <p:sldId id="1784" r:id="rId40"/>
    <p:sldId id="1876" r:id="rId41"/>
    <p:sldId id="1887" r:id="rId42"/>
    <p:sldId id="259" r:id="rId43"/>
    <p:sldId id="260" r:id="rId44"/>
    <p:sldId id="261" r:id="rId45"/>
    <p:sldId id="262" r:id="rId46"/>
    <p:sldId id="263" r:id="rId47"/>
    <p:sldId id="264" r:id="rId48"/>
    <p:sldId id="265" r:id="rId49"/>
    <p:sldId id="266" r:id="rId50"/>
    <p:sldId id="267" r:id="rId51"/>
    <p:sldId id="268" r:id="rId52"/>
    <p:sldId id="269" r:id="rId53"/>
    <p:sldId id="270" r:id="rId54"/>
    <p:sldId id="271" r:id="rId55"/>
    <p:sldId id="272" r:id="rId56"/>
    <p:sldId id="273" r:id="rId57"/>
    <p:sldId id="274" r:id="rId58"/>
    <p:sldId id="275" r:id="rId59"/>
    <p:sldId id="276" r:id="rId60"/>
    <p:sldId id="277" r:id="rId61"/>
    <p:sldId id="278" r:id="rId62"/>
    <p:sldId id="279" r:id="rId63"/>
    <p:sldId id="280" r:id="rId64"/>
    <p:sldId id="281" r:id="rId65"/>
    <p:sldId id="282" r:id="rId66"/>
    <p:sldId id="283" r:id="rId67"/>
    <p:sldId id="284" r:id="rId68"/>
    <p:sldId id="285" r:id="rId69"/>
    <p:sldId id="286" r:id="rId70"/>
    <p:sldId id="287" r:id="rId71"/>
    <p:sldId id="288" r:id="rId72"/>
    <p:sldId id="289" r:id="rId73"/>
    <p:sldId id="290" r:id="rId74"/>
    <p:sldId id="291" r:id="rId75"/>
    <p:sldId id="292" r:id="rId7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FF0066"/>
    <a:srgbClr val="008000"/>
    <a:srgbClr val="D60093"/>
    <a:srgbClr val="33CC33"/>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F832EF-68B0-1E18-5A9D-A7F88ABCC6FE}" v="1" dt="2025-10-13T20:59:37.229"/>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13" autoAdjust="0"/>
    <p:restoredTop sz="79388" autoAdjust="0"/>
  </p:normalViewPr>
  <p:slideViewPr>
    <p:cSldViewPr>
      <p:cViewPr varScale="1">
        <p:scale>
          <a:sx n="96" d="100"/>
          <a:sy n="96" d="100"/>
        </p:scale>
        <p:origin x="1304" y="160"/>
      </p:cViewPr>
      <p:guideLst>
        <p:guide orient="horz" pos="2160"/>
        <p:guide pos="3840"/>
      </p:guideLst>
    </p:cSldViewPr>
  </p:slideViewPr>
  <p:notesTextViewPr>
    <p:cViewPr>
      <p:scale>
        <a:sx n="114" d="100"/>
        <a:sy n="114"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11/9/2025</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11/9/2025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Let's now introduce the important word2vec embeddings.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9910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previous lectures we saw how to represent a word as a sparse, long vector with dimensions corresponding to words in the vocabulary or documents in a collection. We now introduce a more powerful word representation: </a:t>
            </a:r>
            <a:r>
              <a:rPr lang="en-US" sz="1200" b="0" kern="1200" dirty="0">
                <a:solidFill>
                  <a:schemeClr val="tx1"/>
                </a:solidFill>
                <a:effectLst/>
                <a:latin typeface="+mn-lt"/>
                <a:ea typeface="+mn-ea"/>
                <a:cs typeface="+mn-cs"/>
              </a:rPr>
              <a:t>embeddings</a:t>
            </a:r>
            <a:r>
              <a:rPr lang="en-US" sz="1200" kern="1200" dirty="0">
                <a:solidFill>
                  <a:schemeClr val="tx1"/>
                </a:solidFill>
                <a:effectLst/>
                <a:latin typeface="+mn-lt"/>
                <a:ea typeface="+mn-ea"/>
                <a:cs typeface="+mn-cs"/>
              </a:rPr>
              <a:t>, short dense vectors. Unlike the vectors we’ve seen so far, embeddings are </a:t>
            </a:r>
            <a:r>
              <a:rPr lang="en-US" sz="1200" b="0" kern="1200" dirty="0">
                <a:solidFill>
                  <a:schemeClr val="tx1"/>
                </a:solidFill>
                <a:effectLst/>
                <a:latin typeface="+mn-lt"/>
                <a:ea typeface="+mn-ea"/>
                <a:cs typeface="+mn-cs"/>
              </a:rPr>
              <a:t>short</a:t>
            </a:r>
            <a:r>
              <a:rPr lang="en-US" sz="1200" kern="1200" dirty="0">
                <a:solidFill>
                  <a:schemeClr val="tx1"/>
                </a:solidFill>
                <a:effectLst/>
                <a:latin typeface="+mn-lt"/>
                <a:ea typeface="+mn-ea"/>
                <a:cs typeface="+mn-cs"/>
              </a:rPr>
              <a:t>, with number of dimensions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ranging from 50-1000, rather than the much larger vocabulary size |</a:t>
            </a:r>
            <a:r>
              <a:rPr lang="en-US" sz="1200" i="1" kern="1200" dirty="0">
                <a:solidFill>
                  <a:schemeClr val="tx1"/>
                </a:solidFill>
                <a:effectLst/>
                <a:latin typeface="+mn-lt"/>
                <a:ea typeface="+mn-ea"/>
                <a:cs typeface="+mn-cs"/>
              </a:rPr>
              <a:t>V </a:t>
            </a:r>
            <a:r>
              <a:rPr lang="en-US" sz="1200" kern="1200" dirty="0">
                <a:solidFill>
                  <a:schemeClr val="tx1"/>
                </a:solidFill>
                <a:effectLst/>
                <a:latin typeface="+mn-lt"/>
                <a:ea typeface="+mn-ea"/>
                <a:cs typeface="+mn-cs"/>
              </a:rPr>
              <a:t>| or number of documents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we’ve seen. These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dimensions don’t have a clear interpretation. And the vectors are </a:t>
            </a:r>
            <a:r>
              <a:rPr lang="en-US" sz="1200" b="0" kern="1200" dirty="0">
                <a:solidFill>
                  <a:schemeClr val="tx1"/>
                </a:solidFill>
                <a:effectLst/>
                <a:latin typeface="+mn-lt"/>
                <a:ea typeface="+mn-ea"/>
                <a:cs typeface="+mn-cs"/>
              </a:rPr>
              <a:t>dense</a:t>
            </a:r>
            <a:r>
              <a:rPr lang="en-US" sz="1200" kern="1200" dirty="0">
                <a:solidFill>
                  <a:schemeClr val="tx1"/>
                </a:solidFill>
                <a:effectLst/>
                <a:latin typeface="+mn-lt"/>
                <a:ea typeface="+mn-ea"/>
                <a:cs typeface="+mn-cs"/>
              </a:rPr>
              <a:t>: instead of vector entries being sparse, mostly-zero counts or functions of counts, the values will be real-valued numbers that can be negative.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1240400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 turns out that dense vectors work better in every NLP task than sparse vectors. While we don’t completely understand all the reasons for this, we have some </a:t>
            </a:r>
            <a:r>
              <a:rPr lang="en-US" sz="1200" kern="1200" dirty="0" err="1">
                <a:solidFill>
                  <a:schemeClr val="tx1"/>
                </a:solidFill>
                <a:effectLst/>
                <a:latin typeface="+mn-lt"/>
                <a:ea typeface="+mn-ea"/>
                <a:cs typeface="+mn-cs"/>
              </a:rPr>
              <a:t>intu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itions</a:t>
            </a:r>
            <a:r>
              <a:rPr lang="en-US" sz="1200" kern="1200" dirty="0">
                <a:solidFill>
                  <a:schemeClr val="tx1"/>
                </a:solidFill>
                <a:effectLst/>
                <a:latin typeface="+mn-lt"/>
                <a:ea typeface="+mn-ea"/>
                <a:cs typeface="+mn-cs"/>
              </a:rPr>
              <a:t>. Representing words as 700-dimensional dense vectors requires our classifiers to learn far fewer weights than if we represented words as 50,000-dimensional </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 tors, and the smaller parameter space possibly helps with generalization and avoid-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overfitting. Dense vectors may also do a better job of capturing synonymy. For example, in a sparse vector representation, dimensions for synonyms like </a:t>
            </a:r>
            <a:r>
              <a:rPr lang="en-US" sz="1200" i="1" kern="1200" dirty="0">
                <a:solidFill>
                  <a:schemeClr val="tx1"/>
                </a:solidFill>
                <a:effectLst/>
                <a:latin typeface="+mn-lt"/>
                <a:ea typeface="+mn-ea"/>
                <a:cs typeface="+mn-cs"/>
              </a:rPr>
              <a:t>car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automobile </a:t>
            </a:r>
            <a:r>
              <a:rPr lang="en-US" sz="1200" kern="1200" dirty="0">
                <a:solidFill>
                  <a:schemeClr val="tx1"/>
                </a:solidFill>
                <a:effectLst/>
                <a:latin typeface="+mn-lt"/>
                <a:ea typeface="+mn-ea"/>
                <a:cs typeface="+mn-cs"/>
              </a:rPr>
              <a:t>dimension are distinct and unrelated; sparse vectors may thus fail to capture the similarity between a word with </a:t>
            </a:r>
            <a:r>
              <a:rPr lang="en-US" sz="1200" i="1" kern="1200" dirty="0">
                <a:solidFill>
                  <a:schemeClr val="tx1"/>
                </a:solidFill>
                <a:effectLst/>
                <a:latin typeface="+mn-lt"/>
                <a:ea typeface="+mn-ea"/>
                <a:cs typeface="+mn-cs"/>
              </a:rPr>
              <a:t>car </a:t>
            </a:r>
            <a:r>
              <a:rPr lang="en-US" sz="1200" kern="1200" dirty="0">
                <a:solidFill>
                  <a:schemeClr val="tx1"/>
                </a:solidFill>
                <a:effectLst/>
                <a:latin typeface="+mn-lt"/>
                <a:ea typeface="+mn-ea"/>
                <a:cs typeface="+mn-cs"/>
              </a:rPr>
              <a:t>as a neighbor and a word with </a:t>
            </a:r>
            <a:r>
              <a:rPr lang="en-US" sz="1200" i="1" kern="1200" dirty="0">
                <a:solidFill>
                  <a:schemeClr val="tx1"/>
                </a:solidFill>
                <a:effectLst/>
                <a:latin typeface="+mn-lt"/>
                <a:ea typeface="+mn-ea"/>
                <a:cs typeface="+mn-cs"/>
              </a:rPr>
              <a:t>automobile </a:t>
            </a:r>
            <a:r>
              <a:rPr lang="en-US" sz="1200" kern="1200" dirty="0">
                <a:solidFill>
                  <a:schemeClr val="tx1"/>
                </a:solidFill>
                <a:effectLst/>
                <a:latin typeface="+mn-lt"/>
                <a:ea typeface="+mn-ea"/>
                <a:cs typeface="+mn-cs"/>
              </a:rPr>
              <a:t>as a </a:t>
            </a:r>
            <a:r>
              <a:rPr lang="en-US" sz="1200" kern="1200" dirty="0" err="1">
                <a:solidFill>
                  <a:schemeClr val="tx1"/>
                </a:solidFill>
                <a:effectLst/>
                <a:latin typeface="+mn-lt"/>
                <a:ea typeface="+mn-ea"/>
                <a:cs typeface="+mn-cs"/>
              </a:rPr>
              <a:t>neighbo</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382656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section we introduce one method for computing embeddings: </a:t>
            </a:r>
            <a:r>
              <a:rPr lang="en-US" sz="1200" b="0" kern="1200" dirty="0">
                <a:solidFill>
                  <a:schemeClr val="tx1"/>
                </a:solidFill>
                <a:effectLst/>
                <a:latin typeface="+mn-lt"/>
                <a:ea typeface="+mn-ea"/>
                <a:cs typeface="+mn-cs"/>
              </a:rPr>
              <a:t>skip-gram with negative sampling</a:t>
            </a:r>
            <a:r>
              <a:rPr lang="en-US" sz="1200" kern="1200" dirty="0">
                <a:solidFill>
                  <a:schemeClr val="tx1"/>
                </a:solidFill>
                <a:effectLst/>
                <a:latin typeface="+mn-lt"/>
                <a:ea typeface="+mn-ea"/>
                <a:cs typeface="+mn-cs"/>
              </a:rPr>
              <a:t>, sometimes called </a:t>
            </a:r>
            <a:r>
              <a:rPr lang="en-US" sz="1200" b="0" kern="1200" dirty="0">
                <a:solidFill>
                  <a:schemeClr val="tx1"/>
                </a:solidFill>
                <a:effectLst/>
                <a:latin typeface="+mn-lt"/>
                <a:ea typeface="+mn-ea"/>
                <a:cs typeface="+mn-cs"/>
              </a:rPr>
              <a:t>SGNS</a:t>
            </a:r>
            <a:r>
              <a:rPr lang="en-US" sz="1200" kern="1200" dirty="0">
                <a:solidFill>
                  <a:schemeClr val="tx1"/>
                </a:solidFill>
                <a:effectLst/>
                <a:latin typeface="+mn-lt"/>
                <a:ea typeface="+mn-ea"/>
                <a:cs typeface="+mn-cs"/>
              </a:rPr>
              <a:t>. The skip-gram algorithm is one of two algorithms in a software package called </a:t>
            </a:r>
            <a:r>
              <a:rPr lang="en-US" sz="1200" b="0" kern="1200" dirty="0">
                <a:solidFill>
                  <a:schemeClr val="tx1"/>
                </a:solidFill>
                <a:effectLst/>
                <a:latin typeface="+mn-lt"/>
                <a:ea typeface="+mn-ea"/>
                <a:cs typeface="+mn-cs"/>
              </a:rPr>
              <a:t>word2vec</a:t>
            </a:r>
            <a:r>
              <a:rPr lang="en-US" sz="1200" kern="1200" dirty="0">
                <a:solidFill>
                  <a:schemeClr val="tx1"/>
                </a:solidFill>
                <a:effectLst/>
                <a:latin typeface="+mn-lt"/>
                <a:ea typeface="+mn-ea"/>
                <a:cs typeface="+mn-cs"/>
              </a:rPr>
              <a:t>, and so sometimes the al- </a:t>
            </a:r>
            <a:r>
              <a:rPr lang="en-US" sz="1200" kern="1200" dirty="0" err="1">
                <a:solidFill>
                  <a:schemeClr val="tx1"/>
                </a:solidFill>
                <a:effectLst/>
                <a:latin typeface="+mn-lt"/>
                <a:ea typeface="+mn-ea"/>
                <a:cs typeface="+mn-cs"/>
              </a:rPr>
              <a:t>gorithm</a:t>
            </a:r>
            <a:r>
              <a:rPr lang="en-US" sz="1200" kern="1200" dirty="0">
                <a:solidFill>
                  <a:schemeClr val="tx1"/>
                </a:solidFill>
                <a:effectLst/>
                <a:latin typeface="+mn-lt"/>
                <a:ea typeface="+mn-ea"/>
                <a:cs typeface="+mn-cs"/>
              </a:rPr>
              <a:t> is loosely referred to as word2vec. The word2vec methods are fast, efficient to train, and easily available online with code and pretrained embeddings. Word2vec embeddings are </a:t>
            </a:r>
            <a:r>
              <a:rPr lang="en-US" sz="1200" b="0" kern="1200" dirty="0">
                <a:solidFill>
                  <a:schemeClr val="tx1"/>
                </a:solidFill>
                <a:effectLst/>
                <a:latin typeface="+mn-lt"/>
                <a:ea typeface="+mn-ea"/>
                <a:cs typeface="+mn-cs"/>
              </a:rPr>
              <a:t>static embeddings</a:t>
            </a:r>
            <a:r>
              <a:rPr lang="en-US" sz="1200" kern="1200" dirty="0">
                <a:solidFill>
                  <a:schemeClr val="tx1"/>
                </a:solidFill>
                <a:effectLst/>
                <a:latin typeface="+mn-lt"/>
                <a:ea typeface="+mn-ea"/>
                <a:cs typeface="+mn-cs"/>
              </a:rPr>
              <a:t>, meaning that the method learns one fixed embedding for each word in the vocabulary.  An </a:t>
            </a:r>
            <a:r>
              <a:rPr lang="en-US" sz="1200" kern="1200" dirty="0" err="1">
                <a:solidFill>
                  <a:schemeClr val="tx1"/>
                </a:solidFill>
                <a:effectLst/>
                <a:latin typeface="+mn-lt"/>
                <a:ea typeface="+mn-ea"/>
                <a:cs typeface="+mn-cs"/>
              </a:rPr>
              <a:t>lternative</a:t>
            </a:r>
            <a:r>
              <a:rPr lang="en-US" sz="1200" kern="1200" dirty="0">
                <a:solidFill>
                  <a:schemeClr val="tx1"/>
                </a:solidFill>
                <a:effectLst/>
                <a:latin typeface="+mn-lt"/>
                <a:ea typeface="+mn-ea"/>
                <a:cs typeface="+mn-cs"/>
              </a:rPr>
              <a:t> to these static embeddings  are more recent methods for learning dynamic </a:t>
            </a:r>
            <a:r>
              <a:rPr lang="en-US" sz="1200" b="0" kern="1200" dirty="0">
                <a:solidFill>
                  <a:schemeClr val="tx1"/>
                </a:solidFill>
                <a:effectLst/>
                <a:latin typeface="+mn-lt"/>
                <a:ea typeface="+mn-ea"/>
                <a:cs typeface="+mn-cs"/>
              </a:rPr>
              <a:t>contextual </a:t>
            </a:r>
            <a:r>
              <a:rPr lang="en-US" sz="1200" b="0" kern="1200" dirty="0" err="1">
                <a:solidFill>
                  <a:schemeClr val="tx1"/>
                </a:solidFill>
                <a:effectLst/>
                <a:latin typeface="+mn-lt"/>
                <a:ea typeface="+mn-ea"/>
                <a:cs typeface="+mn-cs"/>
              </a:rPr>
              <a:t>em</a:t>
            </a:r>
            <a:r>
              <a:rPr lang="en-US" sz="1200" b="0" kern="1200" dirty="0">
                <a:solidFill>
                  <a:schemeClr val="tx1"/>
                </a:solidFill>
                <a:effectLst/>
                <a:latin typeface="+mn-lt"/>
                <a:ea typeface="+mn-ea"/>
                <a:cs typeface="+mn-cs"/>
              </a:rPr>
              <a:t>-beddings </a:t>
            </a:r>
            <a:r>
              <a:rPr lang="en-US" sz="1200" kern="1200" dirty="0">
                <a:solidFill>
                  <a:schemeClr val="tx1"/>
                </a:solidFill>
                <a:effectLst/>
                <a:latin typeface="+mn-lt"/>
                <a:ea typeface="+mn-ea"/>
                <a:cs typeface="+mn-cs"/>
              </a:rPr>
              <a:t>like the popular </a:t>
            </a:r>
            <a:r>
              <a:rPr lang="en-US" sz="1200" b="0" kern="1200" dirty="0">
                <a:solidFill>
                  <a:schemeClr val="tx1"/>
                </a:solidFill>
                <a:effectLst/>
                <a:latin typeface="+mn-lt"/>
                <a:ea typeface="+mn-ea"/>
                <a:cs typeface="+mn-cs"/>
              </a:rPr>
              <a:t>BERT </a:t>
            </a:r>
            <a:r>
              <a:rPr lang="en-US" sz="1200" kern="1200" dirty="0">
                <a:solidFill>
                  <a:schemeClr val="tx1"/>
                </a:solidFill>
                <a:effectLst/>
                <a:latin typeface="+mn-lt"/>
                <a:ea typeface="+mn-ea"/>
                <a:cs typeface="+mn-cs"/>
              </a:rPr>
              <a:t>representations, in which the vector for each word is different in different contexts.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219736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intuition of word2vec is that instead of counting how often each word </a:t>
            </a:r>
            <a:r>
              <a:rPr lang="en-US" sz="1200" i="1" kern="1200" dirty="0">
                <a:solidFill>
                  <a:schemeClr val="tx1"/>
                </a:solidFill>
                <a:effectLst/>
                <a:latin typeface="+mn-lt"/>
                <a:ea typeface="+mn-ea"/>
                <a:cs typeface="+mn-cs"/>
              </a:rPr>
              <a:t>w </a:t>
            </a:r>
            <a:r>
              <a:rPr lang="en-US" sz="1200" kern="1200" dirty="0" err="1">
                <a:solidFill>
                  <a:schemeClr val="tx1"/>
                </a:solidFill>
                <a:effectLst/>
                <a:latin typeface="+mn-lt"/>
                <a:ea typeface="+mn-ea"/>
                <a:cs typeface="+mn-cs"/>
              </a:rPr>
              <a:t>oc</a:t>
            </a:r>
            <a:r>
              <a:rPr lang="en-US" sz="1200" kern="1200" dirty="0">
                <a:solidFill>
                  <a:schemeClr val="tx1"/>
                </a:solidFill>
                <a:effectLst/>
                <a:latin typeface="+mn-lt"/>
                <a:ea typeface="+mn-ea"/>
                <a:cs typeface="+mn-cs"/>
              </a:rPr>
              <a:t>- curs near, say,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we’ll instead train a classifier on a binary prediction task: “Is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likely to show up near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We don’t actually care about this prediction task; instead we’ll take the learned classifier </a:t>
            </a:r>
            <a:r>
              <a:rPr lang="en-US" sz="1200" i="1" kern="1200" dirty="0">
                <a:solidFill>
                  <a:schemeClr val="tx1"/>
                </a:solidFill>
                <a:effectLst/>
                <a:latin typeface="+mn-lt"/>
                <a:ea typeface="+mn-ea"/>
                <a:cs typeface="+mn-cs"/>
              </a:rPr>
              <a:t>weights </a:t>
            </a:r>
            <a:r>
              <a:rPr lang="en-US" sz="1200" kern="1200" dirty="0">
                <a:solidFill>
                  <a:schemeClr val="tx1"/>
                </a:solidFill>
                <a:effectLst/>
                <a:latin typeface="+mn-lt"/>
                <a:ea typeface="+mn-ea"/>
                <a:cs typeface="+mn-cs"/>
              </a:rPr>
              <a:t>as the word embeddings. The revolutionary intuition here is that we can just use running text as implicitly supervised training data for such a classifier; a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that occurs near the target word </a:t>
            </a:r>
            <a:r>
              <a:rPr lang="en-US" sz="1200" i="1" kern="1200" dirty="0">
                <a:solidFill>
                  <a:schemeClr val="tx1"/>
                </a:solidFill>
                <a:effectLst/>
                <a:latin typeface="+mn-lt"/>
                <a:ea typeface="+mn-ea"/>
                <a:cs typeface="+mn-cs"/>
              </a:rPr>
              <a:t>apricot </a:t>
            </a:r>
            <a:r>
              <a:rPr lang="en-US" sz="1200" kern="1200" dirty="0">
                <a:solidFill>
                  <a:schemeClr val="tx1"/>
                </a:solidFill>
                <a:effectLst/>
                <a:latin typeface="+mn-lt"/>
                <a:ea typeface="+mn-ea"/>
                <a:cs typeface="+mn-cs"/>
              </a:rPr>
              <a:t>acts as gold ‘correct answer’ to the question “Is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likely to show up near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This method, often called </a:t>
            </a:r>
            <a:r>
              <a:rPr lang="en-US" sz="1200" b="0" kern="1200" dirty="0">
                <a:solidFill>
                  <a:schemeClr val="tx1"/>
                </a:solidFill>
                <a:effectLst/>
                <a:latin typeface="+mn-lt"/>
                <a:ea typeface="+mn-ea"/>
                <a:cs typeface="+mn-cs"/>
              </a:rPr>
              <a:t>self-supervision</a:t>
            </a:r>
            <a:r>
              <a:rPr lang="en-US" sz="1200" kern="1200" dirty="0">
                <a:solidFill>
                  <a:schemeClr val="tx1"/>
                </a:solidFill>
                <a:effectLst/>
                <a:latin typeface="+mn-lt"/>
                <a:ea typeface="+mn-ea"/>
                <a:cs typeface="+mn-cs"/>
              </a:rPr>
              <a:t>, avoids the need for any sort of hand-labeled supervision signal. This idea was first proposed in the task of neural language modeling, when </a:t>
            </a:r>
            <a:r>
              <a:rPr lang="en-US" sz="1200" kern="1200" dirty="0" err="1">
                <a:solidFill>
                  <a:schemeClr val="tx1"/>
                </a:solidFill>
                <a:effectLst/>
                <a:latin typeface="+mn-lt"/>
                <a:ea typeface="+mn-ea"/>
                <a:cs typeface="+mn-cs"/>
              </a:rPr>
              <a:t>Bengio</a:t>
            </a:r>
            <a:r>
              <a:rPr lang="en-US" sz="1200" kern="1200" dirty="0">
                <a:solidFill>
                  <a:schemeClr val="tx1"/>
                </a:solidFill>
                <a:effectLst/>
                <a:latin typeface="+mn-lt"/>
                <a:ea typeface="+mn-ea"/>
                <a:cs typeface="+mn-cs"/>
              </a:rPr>
              <a:t> et al. (2003) and </a:t>
            </a:r>
            <a:r>
              <a:rPr lang="en-US" sz="1200" kern="1200" dirty="0" err="1">
                <a:solidFill>
                  <a:schemeClr val="tx1"/>
                </a:solidFill>
                <a:effectLst/>
                <a:latin typeface="+mn-lt"/>
                <a:ea typeface="+mn-ea"/>
                <a:cs typeface="+mn-cs"/>
              </a:rPr>
              <a:t>Collobert</a:t>
            </a:r>
            <a:r>
              <a:rPr lang="en-US" sz="1200" kern="1200" dirty="0">
                <a:solidFill>
                  <a:schemeClr val="tx1"/>
                </a:solidFill>
                <a:effectLst/>
                <a:latin typeface="+mn-lt"/>
                <a:ea typeface="+mn-ea"/>
                <a:cs typeface="+mn-cs"/>
              </a:rPr>
              <a:t> et al. (2011) showed that a neural language model (a neural network that learned to predict the next word from prior words) could just use the next word in running text as its supervision signal, and could be used to learn an embedding representation for each word as part of doing this prediction task. word2vec is a much simpler model than the neural network language model, in two ways. First, word2vec simplifies the task (making it binary classification instead of word pre- diction). Second, word2vec simplifies the architecture (training a logistic regression classifier instead of a multi-layer neural network with hidden layers that demand more sophisticated training algorithms)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3585504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intuition of skip-gram is: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898265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start by thinking about the classification task, and then turn to how to train. Imagine a sentence like the following, with a target word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and assume we’re using a window of ±2 context words: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3716570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goal is to train a classifier such that, given a tuple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a:t>
            </a:r>
            <a:r>
              <a:rPr lang="en-US" sz="1200" kern="1200" dirty="0">
                <a:solidFill>
                  <a:schemeClr val="tx1"/>
                </a:solidFill>
                <a:effectLst/>
                <a:latin typeface="+mn-lt"/>
                <a:ea typeface="+mn-ea"/>
                <a:cs typeface="+mn-cs"/>
              </a:rPr>
              <a:t>) of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paired with a candidate context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(for example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or perhaps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aardvark</a:t>
            </a:r>
            <a:r>
              <a:rPr lang="en-US" sz="1200" kern="1200" dirty="0">
                <a:solidFill>
                  <a:schemeClr val="tx1"/>
                </a:solidFill>
                <a:effectLst/>
                <a:latin typeface="+mn-lt"/>
                <a:ea typeface="+mn-ea"/>
                <a:cs typeface="+mn-cs"/>
              </a:rPr>
              <a:t>)) it will return the probability that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real context word (true for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false for </a:t>
            </a:r>
            <a:r>
              <a:rPr lang="en-US" sz="1200" i="1" kern="1200" dirty="0">
                <a:solidFill>
                  <a:schemeClr val="tx1"/>
                </a:solidFill>
                <a:effectLst/>
                <a:latin typeface="+mn-lt"/>
                <a:ea typeface="+mn-ea"/>
                <a:cs typeface="+mn-cs"/>
              </a:rPr>
              <a:t>aardvark</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not a real context word for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is just 1 minus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1781203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 intuition of the skip- gram model is to base this probability on embedding similarity: a word is likely to occur near the target if its embedding is similar to the target embedding. To compute similarity between these dense embeddings, we rely on the intuition that two vectors are similar if they have a high </a:t>
            </a:r>
            <a:r>
              <a:rPr lang="en-US" sz="1200" b="0" kern="1200" dirty="0">
                <a:solidFill>
                  <a:schemeClr val="tx1"/>
                </a:solidFill>
                <a:effectLst/>
                <a:latin typeface="+mn-lt"/>
                <a:ea typeface="+mn-ea"/>
                <a:cs typeface="+mn-cs"/>
              </a:rPr>
              <a:t>dot product </a:t>
            </a:r>
            <a:r>
              <a:rPr lang="en-US" sz="1200" kern="1200" dirty="0">
                <a:solidFill>
                  <a:schemeClr val="tx1"/>
                </a:solidFill>
                <a:effectLst/>
                <a:latin typeface="+mn-lt"/>
                <a:ea typeface="+mn-ea"/>
                <a:cs typeface="+mn-cs"/>
              </a:rPr>
              <a:t>(after all, cosine is just a normalized dot product). In other words: </a:t>
            </a:r>
            <a:r>
              <a:rPr lang="en-US" sz="1200" dirty="0"/>
              <a:t>Similarity(</a:t>
            </a:r>
            <a:r>
              <a:rPr lang="en-US" sz="1200" dirty="0" err="1"/>
              <a:t>w,c</a:t>
            </a:r>
            <a:r>
              <a:rPr lang="en-US" sz="1200" dirty="0"/>
              <a:t>)  ∝ w</a:t>
            </a:r>
            <a:r>
              <a:rPr lang="en-US" sz="1200" baseline="-25000" dirty="0"/>
              <a:t> </a:t>
            </a:r>
            <a:r>
              <a:rPr lang="en-US" sz="1200" dirty="0"/>
              <a:t>∙ c</a:t>
            </a:r>
            <a:endParaRPr lang="en-US" sz="1200" baseline="-25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1613674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dot product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is not a probability, it’s just a number ranging from −∞ to ∞ (since the elements in word2vec embeddings can be negative, the dot product can be negative). To turn the dot product into a probability, we’ll use the </a:t>
            </a:r>
            <a:r>
              <a:rPr lang="en-US" sz="1200" b="0" kern="1200" dirty="0">
                <a:solidFill>
                  <a:schemeClr val="tx1"/>
                </a:solidFill>
                <a:effectLst/>
                <a:latin typeface="+mn-lt"/>
                <a:ea typeface="+mn-ea"/>
                <a:cs typeface="+mn-cs"/>
              </a:rPr>
              <a:t>logistic </a:t>
            </a:r>
            <a:r>
              <a:rPr lang="en-US" sz="1200" kern="1200" dirty="0">
                <a:solidFill>
                  <a:schemeClr val="tx1"/>
                </a:solidFill>
                <a:effectLst/>
                <a:latin typeface="+mn-lt"/>
                <a:ea typeface="+mn-ea"/>
                <a:cs typeface="+mn-cs"/>
              </a:rPr>
              <a:t>or </a:t>
            </a:r>
            <a:r>
              <a:rPr lang="en-US" sz="1200" b="0" kern="1200" dirty="0">
                <a:solidFill>
                  <a:schemeClr val="tx1"/>
                </a:solidFill>
                <a:effectLst/>
                <a:latin typeface="+mn-lt"/>
                <a:ea typeface="+mn-ea"/>
                <a:cs typeface="+mn-cs"/>
              </a:rPr>
              <a:t>sigmoid </a:t>
            </a:r>
            <a:r>
              <a:rPr lang="en-US" sz="1200" kern="1200" dirty="0">
                <a:solidFill>
                  <a:schemeClr val="tx1"/>
                </a:solidFill>
                <a:effectLst/>
                <a:latin typeface="+mn-lt"/>
                <a:ea typeface="+mn-ea"/>
                <a:cs typeface="+mn-cs"/>
              </a:rPr>
              <a:t>function </a:t>
            </a:r>
            <a:r>
              <a:rPr lang="el-GR" sz="1200" kern="1200" dirty="0">
                <a:solidFill>
                  <a:schemeClr val="tx1"/>
                </a:solidFill>
                <a:effectLst/>
                <a:latin typeface="+mn-lt"/>
                <a:ea typeface="+mn-ea"/>
                <a:cs typeface="+mn-cs"/>
              </a:rPr>
              <a:t>σ (</a:t>
            </a:r>
            <a:r>
              <a:rPr lang="en-US" sz="1200" i="1" kern="1200" dirty="0">
                <a:solidFill>
                  <a:schemeClr val="tx1"/>
                </a:solidFill>
                <a:effectLst/>
                <a:latin typeface="+mn-lt"/>
                <a:ea typeface="+mn-ea"/>
                <a:cs typeface="+mn-cs"/>
              </a:rPr>
              <a:t>x) from </a:t>
            </a:r>
            <a:r>
              <a:rPr lang="en-US" sz="1200" kern="1200" dirty="0">
                <a:solidFill>
                  <a:schemeClr val="tx1"/>
                </a:solidFill>
                <a:effectLst/>
                <a:latin typeface="+mn-lt"/>
                <a:ea typeface="+mn-ea"/>
                <a:cs typeface="+mn-cs"/>
              </a:rPr>
              <a:t>logistic regression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model 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real context word for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make it a probability we’ll also need the total probability of the two possible events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context word, 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isn’t a context word) to sum to 1. We thus estimate 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not a real context word for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3829428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equation gives us the probability for one word, but there are many context words in the window. Skip-gram makes the simplifying assumption that all context words are independent, allowing us to just multiply their probabilities: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13</a:t>
            </a:fld>
            <a:endParaRPr lang="en-US"/>
          </a:p>
        </p:txBody>
      </p:sp>
    </p:spTree>
    <p:extLst>
      <p:ext uri="{BB962C8B-B14F-4D97-AF65-F5344CB8AC3E}">
        <p14:creationId xmlns:p14="http://schemas.microsoft.com/office/powerpoint/2010/main" val="3200729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summary, skip-gram trains a probabilistic classifier that, given a test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its context window of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words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L</a:t>
            </a:r>
            <a:r>
              <a:rPr lang="en-US" sz="1200" kern="1200" dirty="0">
                <a:solidFill>
                  <a:schemeClr val="tx1"/>
                </a:solidFill>
                <a:effectLst/>
                <a:latin typeface="+mn-lt"/>
                <a:ea typeface="+mn-ea"/>
                <a:cs typeface="+mn-cs"/>
              </a:rPr>
              <a:t>, assigns a probability based on how similar this context window is to the target word. The probability is based on applying the logistic (sigmoid) function to the dot product of the embeddings of the target word with each context word. To compute this probability, we just need embeddings for each target word and context word in the vocabulary.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575487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the intuition of parameters we’ll need. Skip-gram actually stores two embeddings for each word, one for the word as a target, and one for the word considered as context. Thus the parameters we need to learn are two matrices </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 each containing an embedding for every one of the |</a:t>
            </a:r>
            <a:r>
              <a:rPr lang="en-US" sz="1200" i="1" kern="1200" dirty="0">
                <a:solidFill>
                  <a:schemeClr val="tx1"/>
                </a:solidFill>
                <a:effectLst/>
                <a:latin typeface="+mn-lt"/>
                <a:ea typeface="+mn-ea"/>
                <a:cs typeface="+mn-cs"/>
              </a:rPr>
              <a:t>V </a:t>
            </a:r>
            <a:r>
              <a:rPr lang="en-US" sz="1200" kern="1200" dirty="0">
                <a:solidFill>
                  <a:schemeClr val="tx1"/>
                </a:solidFill>
                <a:effectLst/>
                <a:latin typeface="+mn-lt"/>
                <a:ea typeface="+mn-ea"/>
                <a:cs typeface="+mn-cs"/>
              </a:rPr>
              <a:t>| words in the </a:t>
            </a:r>
            <a:r>
              <a:rPr lang="en-US" sz="1200" kern="1200" dirty="0" err="1">
                <a:solidFill>
                  <a:schemeClr val="tx1"/>
                </a:solidFill>
                <a:effectLst/>
                <a:latin typeface="+mn-lt"/>
                <a:ea typeface="+mn-ea"/>
                <a:cs typeface="+mn-cs"/>
              </a:rPr>
              <a:t>vocbulary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2318423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We've seen how the </a:t>
            </a:r>
            <a:r>
              <a:rPr lang="en-US" baseline="0" dirty="0" err="1"/>
              <a:t>skipgram</a:t>
            </a:r>
            <a:r>
              <a:rPr lang="en-US" baseline="0" dirty="0"/>
              <a:t> classifier functions.  In the next section we'll turn to learning its weights, which is the goal of building the classifier</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5091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Let's see how word2vec uses </a:t>
            </a:r>
            <a:r>
              <a:rPr lang="en-US" baseline="0" dirty="0" err="1"/>
              <a:t>sigmoids</a:t>
            </a:r>
            <a:r>
              <a:rPr lang="en-US" baseline="0" dirty="0"/>
              <a:t> and gradient descent to learn embeddings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0221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Skip-gram learns embeddings by starting with random embedding vectors and then iteratively shifting the embedding of each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to be more like the embeddings of words that occur nearby in texts, and less like the embeddings of words that don’t occur nearby. Let’s start by considering a single piece of training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example has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(apricot), and 4 context words in the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 ±2 window, resulting in 4 positive training instances (on the left below):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2959513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training a binary classifier we also need negative examples. In fact skip- gram with negative sampling (SGNS) uses more negative examples than positive examples (with the ratio between them set by a parameter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So for each of these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training instances we’ll create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negative samples, each consisting of the target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plus a ‘noise word’ </a:t>
            </a:r>
            <a:r>
              <a:rPr lang="en-US" sz="1200" i="1" kern="1200" dirty="0" err="1">
                <a:solidFill>
                  <a:schemeClr val="tx1"/>
                </a:solidFill>
                <a:effectLst/>
                <a:latin typeface="+mn-lt"/>
                <a:ea typeface="+mn-ea"/>
                <a:cs typeface="+mn-cs"/>
              </a:rPr>
              <a:t>cneg</a:t>
            </a:r>
            <a:r>
              <a:rPr lang="en-US" sz="1200" kern="1200" dirty="0">
                <a:solidFill>
                  <a:schemeClr val="tx1"/>
                </a:solidFill>
                <a:effectLst/>
                <a:latin typeface="+mn-lt"/>
                <a:ea typeface="+mn-ea"/>
                <a:cs typeface="+mn-cs"/>
              </a:rPr>
              <a:t>. A noise word is a random word from the lexicon, constrained not to be the target word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3521280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the setting where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 2, so we’ll have 2 negative examples in the negative training set − for each positive example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The noise words are chosen according to their weighted unigram frequency.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2183818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the set of positive and negative training instances, and an initial set of embeddings, the goal of the learning algorithm is to adjust those embeddings to </a:t>
            </a:r>
            <a:endParaRPr lang="en-US" dirty="0"/>
          </a:p>
          <a:p>
            <a:r>
              <a:rPr lang="en-US" sz="1200" kern="1200" dirty="0">
                <a:solidFill>
                  <a:schemeClr val="tx1"/>
                </a:solidFill>
                <a:effectLst/>
                <a:latin typeface="+mn-lt"/>
                <a:ea typeface="+mn-ea"/>
                <a:cs typeface="+mn-cs"/>
              </a:rPr>
              <a:t>• Maximize the similarity of the target word, context word pairs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drawn from the positive examples </a:t>
            </a:r>
            <a:endParaRPr lang="en-US" dirty="0"/>
          </a:p>
          <a:p>
            <a:r>
              <a:rPr lang="en-US" sz="1200" kern="1200" dirty="0">
                <a:solidFill>
                  <a:schemeClr val="tx1"/>
                </a:solidFill>
                <a:effectLst/>
                <a:latin typeface="+mn-lt"/>
                <a:ea typeface="+mn-ea"/>
                <a:cs typeface="+mn-cs"/>
              </a:rPr>
              <a:t>• Minimize the similarity of the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cneg</a:t>
            </a:r>
            <a:r>
              <a:rPr lang="en-US" sz="1200" kern="1200" dirty="0">
                <a:solidFill>
                  <a:schemeClr val="tx1"/>
                </a:solidFill>
                <a:effectLst/>
                <a:latin typeface="+mn-lt"/>
                <a:ea typeface="+mn-ea"/>
                <a:cs typeface="+mn-cs"/>
              </a:rPr>
              <a:t>) pairs from the negative examples.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1913743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we consider one word/context pair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cpos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with its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noise words </a:t>
            </a:r>
            <a:r>
              <a:rPr lang="en-US" sz="1200" i="1" kern="1200" dirty="0">
                <a:solidFill>
                  <a:schemeClr val="tx1"/>
                </a:solidFill>
                <a:effectLst/>
                <a:latin typeface="+mn-lt"/>
                <a:ea typeface="+mn-ea"/>
                <a:cs typeface="+mn-cs"/>
              </a:rPr>
              <a:t>cneg</a:t>
            </a:r>
            <a:r>
              <a:rPr lang="en-US" sz="1200" kern="1200" dirty="0">
                <a:solidFill>
                  <a:schemeClr val="tx1"/>
                </a:solidFill>
                <a:effectLst/>
                <a:latin typeface="+mn-lt"/>
                <a:ea typeface="+mn-ea"/>
                <a:cs typeface="+mn-cs"/>
              </a:rPr>
              <a:t>1 ...</a:t>
            </a:r>
            <a:r>
              <a:rPr lang="en-US" sz="1200" i="1" kern="1200" dirty="0" err="1">
                <a:solidFill>
                  <a:schemeClr val="tx1"/>
                </a:solidFill>
                <a:effectLst/>
                <a:latin typeface="+mn-lt"/>
                <a:ea typeface="+mn-ea"/>
                <a:cs typeface="+mn-cs"/>
              </a:rPr>
              <a:t>cnegk</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our goal is to maximize the similarity of the target with the actual context words, </a:t>
            </a:r>
            <a:r>
              <a:rPr lang="en-US" sz="1200" kern="1200" dirty="0" err="1">
                <a:solidFill>
                  <a:schemeClr val="tx1"/>
                </a:solidFill>
                <a:effectLst/>
                <a:latin typeface="+mn-lt"/>
                <a:ea typeface="+mn-ea"/>
                <a:cs typeface="+mn-cs"/>
              </a:rPr>
              <a:t>andn</a:t>
            </a:r>
            <a:r>
              <a:rPr lang="en-US" sz="1200" kern="1200" dirty="0">
                <a:solidFill>
                  <a:schemeClr val="tx1"/>
                </a:solidFill>
                <a:effectLst/>
                <a:latin typeface="+mn-lt"/>
                <a:ea typeface="+mn-ea"/>
                <a:cs typeface="+mn-cs"/>
              </a:rPr>
              <a:t> minimize the similarity of the target with the k negative sampled non-neighbor words. We can express these two goals as the following loss function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to be minimized  (hence the −); here the first term expresses that we want the classifier to assign the real context word </a:t>
            </a:r>
            <a:r>
              <a:rPr lang="en-US" sz="1200" i="1" kern="1200" dirty="0" err="1">
                <a:solidFill>
                  <a:schemeClr val="tx1"/>
                </a:solidFill>
                <a:effectLst/>
                <a:latin typeface="+mn-lt"/>
                <a:ea typeface="+mn-ea"/>
                <a:cs typeface="+mn-cs"/>
              </a:rPr>
              <a:t>cpos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high probability of being a neighbor, and the second term expresses that we want to assign each of the noise words </a:t>
            </a:r>
            <a:r>
              <a:rPr lang="en-US" sz="1200" i="1" kern="1200" dirty="0" err="1">
                <a:solidFill>
                  <a:schemeClr val="tx1"/>
                </a:solidFill>
                <a:effectLst/>
                <a:latin typeface="+mn-lt"/>
                <a:ea typeface="+mn-ea"/>
                <a:cs typeface="+mn-cs"/>
              </a:rPr>
              <a:t>cnegi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high probability of  being a non-neighbor, all multiplied because we assume independence: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we substitute in our sigmoid of the dot product estimate for P, we want to maximize the dot product of the word with the actual context words, and minimize the dot products of the word with the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negative sampled non- neighbor words. </a:t>
            </a:r>
            <a:endParaRPr lang="en-US" dirty="0"/>
          </a:p>
          <a:p>
            <a:endParaRPr lang="en-US" dirty="0"/>
          </a:p>
          <a:p>
            <a:r>
              <a:rPr lang="en-US"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3411986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minimize this loss function using stochastic gradient descent.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17676117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look at the intuition of one step of gradient descent. The skip-gram model tries to shift embeddings so the target embeddings (here for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are closer to (have a higher dot product with) context embeddings for nearby words (here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and further from (lower dot product with) context embeddings for noise words that don’t occur nearby (here </a:t>
            </a:r>
            <a:r>
              <a:rPr lang="en-US" sz="1200" i="1" kern="1200" dirty="0">
                <a:solidFill>
                  <a:schemeClr val="tx1"/>
                </a:solidFill>
                <a:effectLst/>
                <a:latin typeface="+mn-lt"/>
                <a:ea typeface="+mn-ea"/>
                <a:cs typeface="+mn-cs"/>
              </a:rPr>
              <a:t>Tolstoy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matrix</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3373912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get the gradient, we need to take the derivative of this equation with respect to the different embeddings. We'll need a derivate for the C embeddings and for the W embeddings.  And we'll want a different derivative for the weights for the positive context examples and the </a:t>
            </a:r>
            <a:r>
              <a:rPr lang="en-US" sz="1200" kern="1200" dirty="0" err="1">
                <a:solidFill>
                  <a:schemeClr val="tx1"/>
                </a:solidFill>
                <a:effectLst/>
                <a:latin typeface="+mn-lt"/>
                <a:ea typeface="+mn-ea"/>
                <a:cs typeface="+mn-cs"/>
              </a:rPr>
              <a:t>nevative</a:t>
            </a:r>
            <a:r>
              <a:rPr lang="en-US" sz="1200" kern="1200" dirty="0">
                <a:solidFill>
                  <a:schemeClr val="tx1"/>
                </a:solidFill>
                <a:effectLst/>
                <a:latin typeface="+mn-lt"/>
                <a:ea typeface="+mn-ea"/>
                <a:cs typeface="+mn-cs"/>
              </a:rPr>
              <a:t> context examples, since we want to move them in opposite directions.   It turns out the derivatives are the following elegant functions.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3149723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update equations going from time step </a:t>
            </a:r>
            <a:r>
              <a:rPr lang="en-US" sz="1200" i="1" kern="1200" dirty="0">
                <a:solidFill>
                  <a:schemeClr val="tx1"/>
                </a:solidFill>
                <a:effectLst/>
                <a:latin typeface="+mn-lt"/>
                <a:ea typeface="+mn-ea"/>
                <a:cs typeface="+mn-cs"/>
              </a:rPr>
              <a:t>t </a:t>
            </a:r>
            <a:r>
              <a:rPr lang="en-US" sz="1200" kern="1200" dirty="0">
                <a:solidFill>
                  <a:schemeClr val="tx1"/>
                </a:solidFill>
                <a:effectLst/>
                <a:latin typeface="+mn-lt"/>
                <a:ea typeface="+mn-ea"/>
                <a:cs typeface="+mn-cs"/>
              </a:rPr>
              <a:t>to </a:t>
            </a:r>
            <a:r>
              <a:rPr lang="en-US" sz="1200" i="1" kern="1200" dirty="0">
                <a:solidFill>
                  <a:schemeClr val="tx1"/>
                </a:solidFill>
                <a:effectLst/>
                <a:latin typeface="+mn-lt"/>
                <a:ea typeface="+mn-ea"/>
                <a:cs typeface="+mn-cs"/>
              </a:rPr>
              <a:t>t </a:t>
            </a:r>
            <a:r>
              <a:rPr lang="en-US" sz="1200" kern="1200" dirty="0">
                <a:solidFill>
                  <a:schemeClr val="tx1"/>
                </a:solidFill>
                <a:effectLst/>
                <a:latin typeface="+mn-lt"/>
                <a:ea typeface="+mn-ea"/>
                <a:cs typeface="+mn-cs"/>
              </a:rPr>
              <a:t>+ 1 in stochastic gradient descent are thus: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Just as in logistic regression, then, the learning algorithm starts with randomly initialized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matrices, and then walks through the training corpus using gradient descent to move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so as to maximize the objective we saw earlier by making the updates here.</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1783063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we've just seen, the skip-gram model learns </a:t>
            </a:r>
            <a:r>
              <a:rPr lang="en-US" sz="1200" b="0" kern="1200" dirty="0">
                <a:solidFill>
                  <a:schemeClr val="tx1"/>
                </a:solidFill>
                <a:effectLst/>
                <a:latin typeface="+mn-lt"/>
                <a:ea typeface="+mn-ea"/>
                <a:cs typeface="+mn-cs"/>
              </a:rPr>
              <a:t>two </a:t>
            </a:r>
            <a:r>
              <a:rPr lang="en-US" sz="1200" kern="1200" dirty="0">
                <a:solidFill>
                  <a:schemeClr val="tx1"/>
                </a:solidFill>
                <a:effectLst/>
                <a:latin typeface="+mn-lt"/>
                <a:ea typeface="+mn-ea"/>
                <a:cs typeface="+mn-cs"/>
              </a:rPr>
              <a:t>separate embeddings for each word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the </a:t>
            </a:r>
            <a:r>
              <a:rPr lang="en-US" sz="1200" b="0" kern="1200" dirty="0">
                <a:solidFill>
                  <a:schemeClr val="tx1"/>
                </a:solidFill>
                <a:effectLst/>
                <a:latin typeface="+mn-lt"/>
                <a:ea typeface="+mn-ea"/>
                <a:cs typeface="+mn-cs"/>
              </a:rPr>
              <a:t>target embedding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the </a:t>
            </a:r>
            <a:r>
              <a:rPr lang="en-US" sz="1200" b="0" kern="1200" dirty="0">
                <a:solidFill>
                  <a:schemeClr val="tx1"/>
                </a:solidFill>
                <a:effectLst/>
                <a:latin typeface="+mn-lt"/>
                <a:ea typeface="+mn-ea"/>
                <a:cs typeface="+mn-cs"/>
              </a:rPr>
              <a:t>context embedding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 stored in two matrices, the</a:t>
            </a:r>
            <a:r>
              <a:rPr lang="en-US" sz="1200" b="0" kern="1200" dirty="0">
                <a:solidFill>
                  <a:schemeClr val="tx1"/>
                </a:solidFill>
                <a:effectLst/>
                <a:latin typeface="+mn-lt"/>
                <a:ea typeface="+mn-ea"/>
                <a:cs typeface="+mn-cs"/>
              </a:rPr>
              <a:t> target matrix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the </a:t>
            </a:r>
            <a:r>
              <a:rPr lang="en-US" sz="1200" b="0" kern="1200" dirty="0">
                <a:solidFill>
                  <a:schemeClr val="tx1"/>
                </a:solidFill>
                <a:effectLst/>
                <a:latin typeface="+mn-lt"/>
                <a:ea typeface="+mn-ea"/>
                <a:cs typeface="+mn-cs"/>
              </a:rPr>
              <a:t>context matrix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Ibut</a:t>
            </a:r>
            <a:r>
              <a:rPr lang="en-US" sz="1200" kern="1200" dirty="0">
                <a:solidFill>
                  <a:schemeClr val="tx1"/>
                </a:solidFill>
                <a:effectLst/>
                <a:latin typeface="+mn-lt"/>
                <a:ea typeface="+mn-ea"/>
                <a:cs typeface="+mn-cs"/>
              </a:rPr>
              <a:t> if we just need one vector to represent a word, what should we use?  t’s common to just add them together,  representing word </a:t>
            </a:r>
            <a:r>
              <a:rPr lang="en-US" sz="1200" i="1" kern="1200" dirty="0" err="1">
                <a:solidFill>
                  <a:schemeClr val="tx1"/>
                </a:solidFill>
                <a:effectLst/>
                <a:latin typeface="+mn-lt"/>
                <a:ea typeface="+mn-ea"/>
                <a:cs typeface="+mn-cs"/>
              </a:rPr>
              <a:t>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with the vector </a:t>
            </a:r>
            <a:r>
              <a:rPr lang="en-US" sz="1200" i="1" kern="1200" dirty="0" err="1">
                <a:solidFill>
                  <a:schemeClr val="tx1"/>
                </a:solidFill>
                <a:effectLst/>
                <a:latin typeface="+mn-lt"/>
                <a:ea typeface="+mn-ea"/>
                <a:cs typeface="+mn-cs"/>
              </a:rPr>
              <a:t>wi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ci </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28</a:t>
            </a:fld>
            <a:endParaRPr lang="en-US"/>
          </a:p>
        </p:txBody>
      </p:sp>
    </p:spTree>
    <p:extLst>
      <p:ext uri="{BB962C8B-B14F-4D97-AF65-F5344CB8AC3E}">
        <p14:creationId xmlns:p14="http://schemas.microsoft.com/office/powerpoint/2010/main" val="279633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We've seen how to learn word2vec embeddings, one of the most popular static embedding method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99804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Let's talk about various properties and parameters of embeddings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21652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parameter of vector semantic models that is relevant to both sparse </a:t>
            </a:r>
            <a:r>
              <a:rPr lang="en-US" sz="1200" kern="1200" dirty="0" err="1">
                <a:solidFill>
                  <a:schemeClr val="tx1"/>
                </a:solidFill>
                <a:effectLst/>
                <a:latin typeface="+mn-lt"/>
                <a:ea typeface="+mn-ea"/>
                <a:cs typeface="+mn-cs"/>
              </a:rPr>
              <a:t>tf-idf</a:t>
            </a:r>
            <a:r>
              <a:rPr lang="en-US" sz="1200" kern="1200" dirty="0">
                <a:solidFill>
                  <a:schemeClr val="tx1"/>
                </a:solidFill>
                <a:effectLst/>
                <a:latin typeface="+mn-lt"/>
                <a:ea typeface="+mn-ea"/>
                <a:cs typeface="+mn-cs"/>
              </a:rPr>
              <a:t> vectors and dense word2vec vectors is the size of the context window used to collect counts. This is generally between 1 and 10 words on each side of the target word (for a total context of 2-20 words).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choice depends on the goals of the representation. Shorter context windows tend to lead to representations that are a bit more syntactic, since the information is coming from immediately nearby words. When the vectors are computed from short context windows, the most similar words to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tend to be semantically similar words with the same parts of speech. When vectors are computed from long context windows, the highest cosine words to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tend to be words that are topically related but not similar. For example Levy and Goldberg (2014a) showed that using skip-gram with a window of ±2, the most similar words to the word </a:t>
            </a:r>
            <a:r>
              <a:rPr lang="en-US" sz="1200" i="1" kern="1200" dirty="0">
                <a:solidFill>
                  <a:schemeClr val="tx1"/>
                </a:solidFill>
                <a:effectLst/>
                <a:latin typeface="+mn-lt"/>
                <a:ea typeface="+mn-ea"/>
                <a:cs typeface="+mn-cs"/>
              </a:rPr>
              <a:t>Hogwarts </a:t>
            </a:r>
            <a:r>
              <a:rPr lang="en-US" sz="1200" kern="1200" dirty="0">
                <a:solidFill>
                  <a:schemeClr val="tx1"/>
                </a:solidFill>
                <a:effectLst/>
                <a:latin typeface="+mn-lt"/>
                <a:ea typeface="+mn-ea"/>
                <a:cs typeface="+mn-cs"/>
              </a:rPr>
              <a:t>(from the </a:t>
            </a:r>
            <a:r>
              <a:rPr lang="en-US" sz="1200" i="1" kern="1200" dirty="0">
                <a:solidFill>
                  <a:schemeClr val="tx1"/>
                </a:solidFill>
                <a:effectLst/>
                <a:latin typeface="+mn-lt"/>
                <a:ea typeface="+mn-ea"/>
                <a:cs typeface="+mn-cs"/>
              </a:rPr>
              <a:t>Harry Potter </a:t>
            </a:r>
            <a:r>
              <a:rPr lang="en-US" sz="1200" kern="1200" dirty="0">
                <a:solidFill>
                  <a:schemeClr val="tx1"/>
                </a:solidFill>
                <a:effectLst/>
                <a:latin typeface="+mn-lt"/>
                <a:ea typeface="+mn-ea"/>
                <a:cs typeface="+mn-cs"/>
              </a:rPr>
              <a:t>series) were names of other fictional schools: </a:t>
            </a:r>
            <a:r>
              <a:rPr lang="en-US" sz="1200" i="1" kern="1200" dirty="0">
                <a:solidFill>
                  <a:schemeClr val="tx1"/>
                </a:solidFill>
                <a:effectLst/>
                <a:latin typeface="+mn-lt"/>
                <a:ea typeface="+mn-ea"/>
                <a:cs typeface="+mn-cs"/>
              </a:rPr>
              <a:t>Sunnydale </a:t>
            </a:r>
            <a:r>
              <a:rPr lang="en-US" sz="1200" kern="1200" dirty="0">
                <a:solidFill>
                  <a:schemeClr val="tx1"/>
                </a:solidFill>
                <a:effectLst/>
                <a:latin typeface="+mn-lt"/>
                <a:ea typeface="+mn-ea"/>
                <a:cs typeface="+mn-cs"/>
              </a:rPr>
              <a:t>(from </a:t>
            </a:r>
            <a:r>
              <a:rPr lang="en-US" sz="1200" i="1" kern="1200" dirty="0">
                <a:solidFill>
                  <a:schemeClr val="tx1"/>
                </a:solidFill>
                <a:effectLst/>
                <a:latin typeface="+mn-lt"/>
                <a:ea typeface="+mn-ea"/>
                <a:cs typeface="+mn-cs"/>
              </a:rPr>
              <a:t>Buffy the Vampire Slayer</a:t>
            </a:r>
            <a:r>
              <a:rPr lang="en-US" sz="1200" kern="1200" dirty="0">
                <a:solidFill>
                  <a:schemeClr val="tx1"/>
                </a:solidFill>
                <a:effectLst/>
                <a:latin typeface="+mn-lt"/>
                <a:ea typeface="+mn-ea"/>
                <a:cs typeface="+mn-cs"/>
              </a:rPr>
              <a:t>) or </a:t>
            </a:r>
            <a:r>
              <a:rPr lang="en-US" sz="1200" i="1" kern="1200" dirty="0" err="1">
                <a:solidFill>
                  <a:schemeClr val="tx1"/>
                </a:solidFill>
                <a:effectLst/>
                <a:latin typeface="+mn-lt"/>
                <a:ea typeface="+mn-ea"/>
                <a:cs typeface="+mn-cs"/>
              </a:rPr>
              <a:t>Evernight</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(from a vampire series). With a window of ±5, the most similar words to </a:t>
            </a:r>
            <a:r>
              <a:rPr lang="en-US" sz="1200" i="1" kern="1200" dirty="0">
                <a:solidFill>
                  <a:schemeClr val="tx1"/>
                </a:solidFill>
                <a:effectLst/>
                <a:latin typeface="+mn-lt"/>
                <a:ea typeface="+mn-ea"/>
                <a:cs typeface="+mn-cs"/>
              </a:rPr>
              <a:t>Hogwarts </a:t>
            </a:r>
            <a:r>
              <a:rPr lang="en-US" sz="1200" kern="1200" dirty="0">
                <a:solidFill>
                  <a:schemeClr val="tx1"/>
                </a:solidFill>
                <a:effectLst/>
                <a:latin typeface="+mn-lt"/>
                <a:ea typeface="+mn-ea"/>
                <a:cs typeface="+mn-cs"/>
              </a:rPr>
              <a:t>were other words topically related to the </a:t>
            </a:r>
            <a:r>
              <a:rPr lang="en-US" sz="1200" i="1" kern="1200" dirty="0">
                <a:solidFill>
                  <a:schemeClr val="tx1"/>
                </a:solidFill>
                <a:effectLst/>
                <a:latin typeface="+mn-lt"/>
                <a:ea typeface="+mn-ea"/>
                <a:cs typeface="+mn-cs"/>
              </a:rPr>
              <a:t>Harry Potter </a:t>
            </a:r>
            <a:r>
              <a:rPr lang="en-US" sz="1200" kern="1200" dirty="0">
                <a:solidFill>
                  <a:schemeClr val="tx1"/>
                </a:solidFill>
                <a:effectLst/>
                <a:latin typeface="+mn-lt"/>
                <a:ea typeface="+mn-ea"/>
                <a:cs typeface="+mn-cs"/>
              </a:rPr>
              <a:t>series: </a:t>
            </a:r>
            <a:r>
              <a:rPr lang="en-US" sz="1200" i="1" kern="1200" dirty="0">
                <a:solidFill>
                  <a:schemeClr val="tx1"/>
                </a:solidFill>
                <a:effectLst/>
                <a:latin typeface="+mn-lt"/>
                <a:ea typeface="+mn-ea"/>
                <a:cs typeface="+mn-cs"/>
              </a:rPr>
              <a:t>Dumbledore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Malfoy</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half-blood</a:t>
            </a:r>
            <a:r>
              <a:rPr lang="en-US" sz="1200" kern="1200" dirty="0">
                <a:solidFill>
                  <a:schemeClr val="tx1"/>
                </a:solidFill>
                <a:effectLst/>
                <a:latin typeface="+mn-lt"/>
                <a:ea typeface="+mn-ea"/>
                <a:cs typeface="+mn-cs"/>
              </a:rPr>
              <a:t>.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37713486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semantic property of embeddings is their ability to capture relational meanings. In an important early vector space model of cognition, </a:t>
            </a:r>
            <a:r>
              <a:rPr lang="en-US" sz="1200" kern="1200" dirty="0" err="1">
                <a:solidFill>
                  <a:schemeClr val="tx1"/>
                </a:solidFill>
                <a:effectLst/>
                <a:latin typeface="+mn-lt"/>
                <a:ea typeface="+mn-ea"/>
                <a:cs typeface="+mn-cs"/>
              </a:rPr>
              <a:t>Rumelhart</a:t>
            </a:r>
            <a:r>
              <a:rPr lang="en-US" sz="1200" kern="1200" dirty="0">
                <a:solidFill>
                  <a:schemeClr val="tx1"/>
                </a:solidFill>
                <a:effectLst/>
                <a:latin typeface="+mn-lt"/>
                <a:ea typeface="+mn-ea"/>
                <a:cs typeface="+mn-cs"/>
              </a:rPr>
              <a:t> and Abrahamson (1973) proposed the </a:t>
            </a:r>
            <a:r>
              <a:rPr lang="en-US" sz="1200" b="0" kern="1200" dirty="0">
                <a:solidFill>
                  <a:schemeClr val="tx1"/>
                </a:solidFill>
                <a:effectLst/>
                <a:latin typeface="+mn-lt"/>
                <a:ea typeface="+mn-ea"/>
                <a:cs typeface="+mn-cs"/>
              </a:rPr>
              <a:t>parallelogram model </a:t>
            </a:r>
            <a:r>
              <a:rPr lang="en-US" sz="1200" kern="1200" dirty="0">
                <a:solidFill>
                  <a:schemeClr val="tx1"/>
                </a:solidFill>
                <a:effectLst/>
                <a:latin typeface="+mn-lt"/>
                <a:ea typeface="+mn-ea"/>
                <a:cs typeface="+mn-cs"/>
              </a:rPr>
              <a:t>for solving simple analogy problems of the form </a:t>
            </a:r>
            <a:r>
              <a:rPr lang="en-US" sz="1200" i="1" kern="1200" dirty="0">
                <a:solidFill>
                  <a:schemeClr val="tx1"/>
                </a:solidFill>
                <a:effectLst/>
                <a:latin typeface="+mn-lt"/>
                <a:ea typeface="+mn-ea"/>
                <a:cs typeface="+mn-cs"/>
              </a:rPr>
              <a:t>a is to b as a* is to what?</a:t>
            </a:r>
            <a:r>
              <a:rPr lang="en-US" sz="1200" kern="1200" dirty="0">
                <a:solidFill>
                  <a:schemeClr val="tx1"/>
                </a:solidFill>
                <a:effectLst/>
                <a:latin typeface="+mn-lt"/>
                <a:ea typeface="+mn-ea"/>
                <a:cs typeface="+mn-cs"/>
              </a:rPr>
              <a:t>. In such problems, a system given a problem like </a:t>
            </a:r>
            <a:r>
              <a:rPr lang="en-US" sz="1200" i="1" kern="1200" dirty="0" err="1">
                <a:solidFill>
                  <a:schemeClr val="tx1"/>
                </a:solidFill>
                <a:effectLst/>
                <a:latin typeface="+mn-lt"/>
                <a:ea typeface="+mn-ea"/>
                <a:cs typeface="+mn-cs"/>
              </a:rPr>
              <a:t>apple:tree</a:t>
            </a:r>
            <a:r>
              <a:rPr lang="en-US" sz="1200" i="1" kern="1200" dirty="0">
                <a:solidFill>
                  <a:schemeClr val="tx1"/>
                </a:solidFill>
                <a:effectLst/>
                <a:latin typeface="+mn-lt"/>
                <a:ea typeface="+mn-ea"/>
                <a:cs typeface="+mn-cs"/>
              </a:rPr>
              <a:t>::grape:?</a:t>
            </a:r>
            <a:r>
              <a:rPr lang="en-US" sz="1200" kern="1200" dirty="0">
                <a:solidFill>
                  <a:schemeClr val="tx1"/>
                </a:solidFill>
                <a:effectLst/>
                <a:latin typeface="+mn-lt"/>
                <a:ea typeface="+mn-ea"/>
                <a:cs typeface="+mn-cs"/>
              </a:rPr>
              <a:t>, i.e., </a:t>
            </a:r>
            <a:r>
              <a:rPr lang="en-US" sz="1200" i="1" kern="1200" dirty="0">
                <a:solidFill>
                  <a:schemeClr val="tx1"/>
                </a:solidFill>
                <a:effectLst/>
                <a:latin typeface="+mn-lt"/>
                <a:ea typeface="+mn-ea"/>
                <a:cs typeface="+mn-cs"/>
              </a:rPr>
              <a:t>apple is to tree as </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grape is to </a:t>
            </a:r>
            <a:r>
              <a:rPr lang="en-US" sz="1200" kern="1200" dirty="0">
                <a:solidFill>
                  <a:schemeClr val="tx1"/>
                </a:solidFill>
                <a:effectLst/>
                <a:latin typeface="+mn-lt"/>
                <a:ea typeface="+mn-ea"/>
                <a:cs typeface="+mn-cs"/>
              </a:rPr>
              <a:t>, and must fill in the word </a:t>
            </a:r>
            <a:r>
              <a:rPr lang="en-US" sz="1200" i="1" kern="1200" dirty="0">
                <a:solidFill>
                  <a:schemeClr val="tx1"/>
                </a:solidFill>
                <a:effectLst/>
                <a:latin typeface="+mn-lt"/>
                <a:ea typeface="+mn-ea"/>
                <a:cs typeface="+mn-cs"/>
              </a:rPr>
              <a:t>vine.</a:t>
            </a:r>
          </a:p>
          <a:p>
            <a:endParaRPr lang="en-US" sz="1200" i="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parallelogram model, the vector from the word </a:t>
            </a:r>
            <a:r>
              <a:rPr lang="en-US" sz="1200" i="1" kern="1200" dirty="0">
                <a:solidFill>
                  <a:schemeClr val="tx1"/>
                </a:solidFill>
                <a:effectLst/>
                <a:latin typeface="+mn-lt"/>
                <a:ea typeface="+mn-ea"/>
                <a:cs typeface="+mn-cs"/>
              </a:rPr>
              <a:t>apple </a:t>
            </a:r>
            <a:r>
              <a:rPr lang="en-US" sz="1200" i="1" kern="1200" dirty="0" err="1">
                <a:solidFill>
                  <a:schemeClr val="tx1"/>
                </a:solidFill>
                <a:effectLst/>
                <a:latin typeface="+mn-lt"/>
                <a:ea typeface="+mn-ea"/>
                <a:cs typeface="+mn-cs"/>
              </a:rPr>
              <a:t>ito</a:t>
            </a:r>
            <a:r>
              <a:rPr lang="en-US" sz="1200" kern="1200" dirty="0">
                <a:solidFill>
                  <a:schemeClr val="tx1"/>
                </a:solidFill>
                <a:effectLst/>
                <a:latin typeface="+mn-lt"/>
                <a:ea typeface="+mn-ea"/>
                <a:cs typeface="+mn-cs"/>
              </a:rPr>
              <a:t> the word </a:t>
            </a:r>
            <a:r>
              <a:rPr lang="en-US" sz="1200" i="1" kern="1200" dirty="0">
                <a:solidFill>
                  <a:schemeClr val="tx1"/>
                </a:solidFill>
                <a:effectLst/>
                <a:latin typeface="+mn-lt"/>
                <a:ea typeface="+mn-ea"/>
                <a:cs typeface="+mn-cs"/>
              </a:rPr>
              <a:t>tree </a:t>
            </a:r>
            <a:r>
              <a:rPr lang="en-US" sz="1200" kern="1200" dirty="0">
                <a:solidFill>
                  <a:schemeClr val="tx1"/>
                </a:solidFill>
                <a:effectLst/>
                <a:latin typeface="+mn-lt"/>
                <a:ea typeface="+mn-ea"/>
                <a:cs typeface="+mn-cs"/>
              </a:rPr>
              <a:t>(= apple − tree)  </a:t>
            </a:r>
            <a:endParaRPr lang="en-US" dirty="0"/>
          </a:p>
          <a:p>
            <a:r>
              <a:rPr lang="en-US" sz="1200" kern="1200" dirty="0">
                <a:solidFill>
                  <a:schemeClr val="tx1"/>
                </a:solidFill>
                <a:effectLst/>
                <a:latin typeface="+mn-lt"/>
                <a:ea typeface="+mn-ea"/>
                <a:cs typeface="+mn-cs"/>
              </a:rPr>
              <a:t>is added to the vector for </a:t>
            </a:r>
            <a:r>
              <a:rPr lang="en-US" sz="1200" i="1" kern="1200" dirty="0">
                <a:solidFill>
                  <a:schemeClr val="tx1"/>
                </a:solidFill>
                <a:effectLst/>
                <a:latin typeface="+mn-lt"/>
                <a:ea typeface="+mn-ea"/>
                <a:cs typeface="+mn-cs"/>
              </a:rPr>
              <a:t>grape </a:t>
            </a:r>
            <a:r>
              <a:rPr lang="en-US" sz="1200" kern="1200" dirty="0">
                <a:solidFill>
                  <a:schemeClr val="tx1"/>
                </a:solidFill>
                <a:effectLst/>
                <a:latin typeface="+mn-lt"/>
                <a:ea typeface="+mn-ea"/>
                <a:cs typeface="+mn-cs"/>
              </a:rPr>
              <a:t>(grape); the nearest word to that point is returned </a:t>
            </a:r>
            <a:endParaRPr lang="en-US" dirty="0"/>
          </a:p>
          <a:p>
            <a:r>
              <a:rPr lang="en-US" sz="1200" i="1"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35910547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a </a:t>
            </a:r>
            <a:r>
              <a:rPr lang="en-US" sz="1200" i="1" kern="1200" dirty="0" err="1">
                <a:solidFill>
                  <a:schemeClr val="tx1"/>
                </a:solidFill>
                <a:effectLst/>
                <a:latin typeface="+mn-lt"/>
                <a:ea typeface="+mn-ea"/>
                <a:cs typeface="+mn-cs"/>
              </a:rPr>
              <a:t>a:b</a:t>
            </a:r>
            <a:r>
              <a:rPr lang="en-US" sz="1200" i="1" kern="1200" dirty="0">
                <a:solidFill>
                  <a:schemeClr val="tx1"/>
                </a:solidFill>
                <a:effectLst/>
                <a:latin typeface="+mn-lt"/>
                <a:ea typeface="+mn-ea"/>
                <a:cs typeface="+mn-cs"/>
              </a:rPr>
              <a:t>::a*:b* </a:t>
            </a:r>
            <a:r>
              <a:rPr lang="en-US" sz="1200" kern="1200" dirty="0">
                <a:solidFill>
                  <a:schemeClr val="tx1"/>
                </a:solidFill>
                <a:effectLst/>
                <a:latin typeface="+mn-lt"/>
                <a:ea typeface="+mn-ea"/>
                <a:cs typeface="+mn-cs"/>
              </a:rPr>
              <a:t>problem, meaning the algorithm is given </a:t>
            </a:r>
            <a:r>
              <a:rPr lang="en-US" sz="1200" i="1" kern="1200" dirty="0">
                <a:solidFill>
                  <a:schemeClr val="tx1"/>
                </a:solidFill>
                <a:effectLst/>
                <a:latin typeface="+mn-lt"/>
                <a:ea typeface="+mn-ea"/>
                <a:cs typeface="+mn-cs"/>
              </a:rPr>
              <a:t>a, b,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a* </a:t>
            </a:r>
            <a:r>
              <a:rPr lang="en-US" sz="1200" kern="1200" dirty="0">
                <a:solidFill>
                  <a:schemeClr val="tx1"/>
                </a:solidFill>
                <a:effectLst/>
                <a:latin typeface="+mn-lt"/>
                <a:ea typeface="+mn-ea"/>
                <a:cs typeface="+mn-cs"/>
              </a:rPr>
              <a:t>and must find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the parallelogram method is thus:   EQUATION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the distance function defined either as cosine or as Euclidean distance.</a:t>
            </a:r>
            <a:br>
              <a:rPr lang="en-US" sz="120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1984293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Embeddings can also be a useful tool for studying how meaning changes over time, by computing multiple embedding spaces, each from texts written in a particular time period. For example these figures shows a visualization of changes in meaning in English words over the last two centuries, computed by building separate embedding spaces for each decade from historical corpora like Google N-grams and the Corpus of Historical American English.</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37</a:t>
            </a:fld>
            <a:endParaRPr lang="en-US"/>
          </a:p>
        </p:txBody>
      </p:sp>
    </p:spTree>
    <p:extLst>
      <p:ext uri="{BB962C8B-B14F-4D97-AF65-F5344CB8AC3E}">
        <p14:creationId xmlns:p14="http://schemas.microsoft.com/office/powerpoint/2010/main" val="2094774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addition to their ability to learn word meaning from text, embeddings, alas, also reproduce the implicit biases and stereotypes that were latent in the text. As the prior section just showed, embeddings can roughly model relational similar- </a:t>
            </a:r>
            <a:r>
              <a:rPr lang="en-US" sz="1200" kern="1200" dirty="0" err="1">
                <a:solidFill>
                  <a:schemeClr val="tx1"/>
                </a:solidFill>
                <a:effectLst/>
                <a:latin typeface="+mn-lt"/>
                <a:ea typeface="+mn-ea"/>
                <a:cs typeface="+mn-cs"/>
              </a:rPr>
              <a:t>ity</a:t>
            </a:r>
            <a:r>
              <a:rPr lang="en-US" sz="1200" kern="1200" dirty="0">
                <a:solidFill>
                  <a:schemeClr val="tx1"/>
                </a:solidFill>
                <a:effectLst/>
                <a:latin typeface="+mn-lt"/>
                <a:ea typeface="+mn-ea"/>
                <a:cs typeface="+mn-cs"/>
              </a:rPr>
              <a:t>: ‘queen’ as the closest word to ‘king’ - ‘man’ + ‘woman’ implies the analogy </a:t>
            </a:r>
            <a:r>
              <a:rPr lang="en-US" sz="1200" i="1" kern="1200" dirty="0" err="1">
                <a:solidFill>
                  <a:schemeClr val="tx1"/>
                </a:solidFill>
                <a:effectLst/>
                <a:latin typeface="+mn-lt"/>
                <a:ea typeface="+mn-ea"/>
                <a:cs typeface="+mn-cs"/>
              </a:rPr>
              <a:t>man:woman</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king:queen</a:t>
            </a:r>
            <a:r>
              <a:rPr lang="en-US" sz="1200" kern="1200" dirty="0">
                <a:solidFill>
                  <a:schemeClr val="tx1"/>
                </a:solidFill>
                <a:effectLst/>
                <a:latin typeface="+mn-lt"/>
                <a:ea typeface="+mn-ea"/>
                <a:cs typeface="+mn-cs"/>
              </a:rPr>
              <a:t>. But these same embedding analogies also exhibit gender stereotypes. For example the embeddings suggest the analogy ‘father’ is to ‘doctor’ as ‘mother’ is to ‘nurse’, and the closest occupation to ‘man’ - ‘computer programmer’ + ‘woman’ in word2vec embeddings trained on news text is ‘homemaker'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could result in what Crawford calls an </a:t>
            </a:r>
            <a:r>
              <a:rPr lang="en-US" sz="1200" b="0" kern="1200" dirty="0">
                <a:solidFill>
                  <a:schemeClr val="tx1"/>
                </a:solidFill>
                <a:effectLst/>
                <a:latin typeface="+mn-lt"/>
                <a:ea typeface="+mn-ea"/>
                <a:cs typeface="+mn-cs"/>
              </a:rPr>
              <a:t>allocational harm</a:t>
            </a:r>
            <a:r>
              <a:rPr lang="en-US" sz="1200" kern="1200" dirty="0">
                <a:solidFill>
                  <a:schemeClr val="tx1"/>
                </a:solidFill>
                <a:effectLst/>
                <a:latin typeface="+mn-lt"/>
                <a:ea typeface="+mn-ea"/>
                <a:cs typeface="+mn-cs"/>
              </a:rPr>
              <a:t>, when a system </a:t>
            </a:r>
            <a:r>
              <a:rPr lang="en-US" sz="1200" kern="1200" dirty="0" err="1">
                <a:solidFill>
                  <a:schemeClr val="tx1"/>
                </a:solidFill>
                <a:effectLst/>
                <a:latin typeface="+mn-lt"/>
                <a:ea typeface="+mn-ea"/>
                <a:cs typeface="+mn-cs"/>
              </a:rPr>
              <a:t>allo</a:t>
            </a:r>
            <a:r>
              <a:rPr lang="en-US" sz="1200" kern="1200" dirty="0">
                <a:solidFill>
                  <a:schemeClr val="tx1"/>
                </a:solidFill>
                <a:effectLst/>
                <a:latin typeface="+mn-lt"/>
                <a:ea typeface="+mn-ea"/>
                <a:cs typeface="+mn-cs"/>
              </a:rPr>
              <a:t>- cates resources (jobs or credit) unfairly to different groups. For example algorithms that use embeddings as part of a search for hiring potential programmers or doctors might thus incorrectly </a:t>
            </a:r>
            <a:r>
              <a:rPr lang="en-US" sz="1200" kern="1200" dirty="0" err="1">
                <a:solidFill>
                  <a:schemeClr val="tx1"/>
                </a:solidFill>
                <a:effectLst/>
                <a:latin typeface="+mn-lt"/>
                <a:ea typeface="+mn-ea"/>
                <a:cs typeface="+mn-cs"/>
              </a:rPr>
              <a:t>downweight</a:t>
            </a:r>
            <a:r>
              <a:rPr lang="en-US" sz="1200" kern="1200" dirty="0">
                <a:solidFill>
                  <a:schemeClr val="tx1"/>
                </a:solidFill>
                <a:effectLst/>
                <a:latin typeface="+mn-lt"/>
                <a:ea typeface="+mn-ea"/>
                <a:cs typeface="+mn-cs"/>
              </a:rPr>
              <a:t> documents with women’s names.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38</a:t>
            </a:fld>
            <a:endParaRPr lang="en-US"/>
          </a:p>
        </p:txBody>
      </p:sp>
    </p:spTree>
    <p:extLst>
      <p:ext uri="{BB962C8B-B14F-4D97-AF65-F5344CB8AC3E}">
        <p14:creationId xmlns:p14="http://schemas.microsoft.com/office/powerpoint/2010/main" val="3300667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Historical embeddings are also being used to measure biases in the past. Garg et al. (2018) used embeddings from historical texts to measure the association be- tween embeddings for adjectives and embeddings for names of various </a:t>
            </a:r>
            <a:r>
              <a:rPr lang="en-US" sz="1200" kern="1200" dirty="0" err="1">
                <a:solidFill>
                  <a:schemeClr val="tx1"/>
                </a:solidFill>
                <a:effectLst/>
                <a:latin typeface="+mn-lt"/>
                <a:ea typeface="+mn-ea"/>
                <a:cs typeface="+mn-cs"/>
              </a:rPr>
              <a:t>ethnici</a:t>
            </a:r>
            <a:r>
              <a:rPr lang="en-US" sz="1200" kern="1200" dirty="0">
                <a:solidFill>
                  <a:schemeClr val="tx1"/>
                </a:solidFill>
                <a:effectLst/>
                <a:latin typeface="+mn-lt"/>
                <a:ea typeface="+mn-ea"/>
                <a:cs typeface="+mn-cs"/>
              </a:rPr>
              <a:t>- ties or genders. embeddings for adjectives related to competence (‘smart’, ‘wise’, ‘thoughtful’, ‘resourceful’) had a higher cosine with male than </a:t>
            </a:r>
            <a:r>
              <a:rPr lang="en-US" sz="1200" kern="1200" dirty="0" err="1">
                <a:solidFill>
                  <a:schemeClr val="tx1"/>
                </a:solidFill>
                <a:effectLst/>
                <a:latin typeface="+mn-lt"/>
                <a:ea typeface="+mn-ea"/>
                <a:cs typeface="+mn-cs"/>
              </a:rPr>
              <a:t>fe</a:t>
            </a:r>
            <a:r>
              <a:rPr lang="en-US" sz="1200" kern="1200" dirty="0">
                <a:solidFill>
                  <a:schemeClr val="tx1"/>
                </a:solidFill>
                <a:effectLst/>
                <a:latin typeface="+mn-lt"/>
                <a:ea typeface="+mn-ea"/>
                <a:cs typeface="+mn-cs"/>
              </a:rPr>
              <a:t>- male words, and showed that this bias has been slowly decreasing since 1960, and that   Historical embeddings also </a:t>
            </a:r>
            <a:r>
              <a:rPr lang="en-US" sz="1200" kern="1200" dirty="0" err="1">
                <a:solidFill>
                  <a:schemeClr val="tx1"/>
                </a:solidFill>
                <a:effectLst/>
                <a:latin typeface="+mn-lt"/>
                <a:ea typeface="+mn-ea"/>
                <a:cs typeface="+mn-cs"/>
              </a:rPr>
              <a:t>repli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cated</a:t>
            </a:r>
            <a:r>
              <a:rPr lang="en-US" sz="1200" kern="1200" dirty="0">
                <a:solidFill>
                  <a:schemeClr val="tx1"/>
                </a:solidFill>
                <a:effectLst/>
                <a:latin typeface="+mn-lt"/>
                <a:ea typeface="+mn-ea"/>
                <a:cs typeface="+mn-cs"/>
              </a:rPr>
              <a:t> old surveys of ethnic stereotypes; Embeddings for Chinese names were biased </a:t>
            </a:r>
            <a:r>
              <a:rPr lang="en-US" sz="1200" kern="1200" dirty="0" err="1">
                <a:solidFill>
                  <a:schemeClr val="tx1"/>
                </a:solidFill>
                <a:effectLst/>
                <a:latin typeface="+mn-lt"/>
                <a:ea typeface="+mn-ea"/>
                <a:cs typeface="+mn-cs"/>
              </a:rPr>
              <a:t>twoare</a:t>
            </a:r>
            <a:r>
              <a:rPr lang="en-US" sz="1200" kern="1200" dirty="0">
                <a:solidFill>
                  <a:schemeClr val="tx1"/>
                </a:solidFill>
                <a:effectLst/>
                <a:latin typeface="+mn-lt"/>
                <a:ea typeface="+mn-ea"/>
                <a:cs typeface="+mn-cs"/>
              </a:rPr>
              <a:t> dehumanizing adjectives like ‘barbaric’ in the 1930s, matching the results of old surveys done in the 1930s, but this bias decreased in both text and surveys over the 20</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century.</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39</a:t>
            </a:fld>
            <a:endParaRPr lang="en-US"/>
          </a:p>
        </p:txBody>
      </p:sp>
    </p:spTree>
    <p:extLst>
      <p:ext uri="{BB962C8B-B14F-4D97-AF65-F5344CB8AC3E}">
        <p14:creationId xmlns:p14="http://schemas.microsoft.com/office/powerpoint/2010/main" val="4203071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We've seen various properties of embeddings, include how they reflect cultural biases in the text they are trained 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14438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p>
        </p:txBody>
      </p:sp>
      <p:sp>
        <p:nvSpPr>
          <p:cNvPr id="3" name="Content Placeholder 2"/>
          <p:cNvSpPr>
            <a:spLocks noGrp="1"/>
          </p:cNvSpPr>
          <p:nvPr>
            <p:ph idx="1"/>
          </p:nvPr>
        </p:nvSpPr>
        <p:spPr>
          <a:xfrm>
            <a:off x="1097281" y="1600200"/>
            <a:ext cx="10058401" cy="4572000"/>
          </a:xfrm>
        </p:spPr>
        <p:txBody>
          <a:bodyPr/>
          <a:lstStyle>
            <a:lvl1pPr marL="10584" indent="-10584">
              <a:buNone/>
              <a:tabLst/>
              <a:defRPr sz="3733" baseline="0"/>
            </a:lvl1pPr>
            <a:lvl2pPr marL="539737" indent="-338658">
              <a:tabLst/>
              <a:defRPr sz="3200" baseline="0"/>
            </a:lvl2pPr>
            <a:lvl3pPr marL="687900" indent="-304792">
              <a:tabLst/>
              <a:defRPr sz="2667" baseline="0"/>
            </a:lvl3pPr>
            <a:lvl4pPr marL="920728" indent="-353475">
              <a:tabLst/>
              <a:defRPr sz="2133" baseline="0"/>
            </a:lvl4pPr>
            <a:lvl5pPr marL="1068891" indent="-319609">
              <a:tabLst/>
              <a:defRPr sz="1867"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11/9/2025</a:t>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4012026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p>
        </p:txBody>
      </p:sp>
      <p:sp>
        <p:nvSpPr>
          <p:cNvPr id="3" name="Content Placeholder 2"/>
          <p:cNvSpPr>
            <a:spLocks noGrp="1"/>
          </p:cNvSpPr>
          <p:nvPr>
            <p:ph idx="1"/>
          </p:nvPr>
        </p:nvSpPr>
        <p:spPr>
          <a:xfrm>
            <a:off x="1097281" y="1600200"/>
            <a:ext cx="10058401" cy="4572000"/>
          </a:xfrm>
        </p:spPr>
        <p:txBody>
          <a:bodyPr/>
          <a:lstStyle>
            <a:lvl1pPr marL="10584" indent="-10584">
              <a:buNone/>
              <a:tabLst/>
              <a:defRPr sz="3733" baseline="0"/>
            </a:lvl1pPr>
            <a:lvl2pPr marL="539737" indent="-338658">
              <a:tabLst/>
              <a:defRPr sz="3200" baseline="0"/>
            </a:lvl2pPr>
            <a:lvl3pPr marL="687900" indent="-304792">
              <a:tabLst/>
              <a:defRPr sz="2667" baseline="0"/>
            </a:lvl3pPr>
            <a:lvl4pPr marL="920728" indent="-353475">
              <a:tabLst/>
              <a:defRPr sz="2133" baseline="0"/>
            </a:lvl4pPr>
            <a:lvl5pPr marL="1068891" indent="-319609">
              <a:tabLst/>
              <a:defRPr sz="1867"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11/9/2025</a:t>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69784316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8"/>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731411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425253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400" y="1671637"/>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406400" y="2311400"/>
            <a:ext cx="5386917" cy="3962400"/>
          </a:xfrm>
        </p:spPr>
        <p:txBody>
          <a:bodyPr/>
          <a:lstStyle>
            <a:lvl1pPr>
              <a:defRPr sz="3200"/>
            </a:lvl1pPr>
            <a:lvl2pPr>
              <a:defRPr sz="2667"/>
            </a:lvl2pPr>
            <a:lvl3pPr>
              <a:defRPr sz="2667"/>
            </a:lvl3pPr>
            <a:lvl4pPr>
              <a:defRPr sz="2400"/>
            </a:lvl4pPr>
            <a:lvl5pPr>
              <a:defRPr sz="24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169" y="1671637"/>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5990169" y="2311400"/>
            <a:ext cx="5389033" cy="3962400"/>
          </a:xfrm>
        </p:spPr>
        <p:txBody>
          <a:bodyPr/>
          <a:lstStyle>
            <a:lvl1pPr>
              <a:defRPr sz="3200"/>
            </a:lvl1pPr>
            <a:lvl2pPr>
              <a:defRPr sz="2667"/>
            </a:lvl2pPr>
            <a:lvl3pPr>
              <a:defRPr sz="2667"/>
            </a:lvl3pPr>
            <a:lvl4pPr>
              <a:defRPr sz="2400"/>
            </a:lvl4pPr>
            <a:lvl5pPr>
              <a:defRPr sz="24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8331200" y="6273800"/>
            <a:ext cx="2641600" cy="4572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3759200" y="6273800"/>
            <a:ext cx="3860800" cy="4572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3398523" y="3398522"/>
            <a:ext cx="6858001" cy="6095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sz="2400">
              <a:solidFill>
                <a:srgbClr val="A50021"/>
              </a:solidFill>
              <a:ea typeface="+mn-ea"/>
              <a:cs typeface="+mn-cs"/>
            </a:endParaRPr>
          </a:p>
        </p:txBody>
      </p:sp>
      <p:sp>
        <p:nvSpPr>
          <p:cNvPr id="11" name="Title 1"/>
          <p:cNvSpPr>
            <a:spLocks noGrp="1"/>
          </p:cNvSpPr>
          <p:nvPr>
            <p:ph type="title"/>
          </p:nvPr>
        </p:nvSpPr>
        <p:spPr>
          <a:xfrm>
            <a:off x="1828800" y="508000"/>
            <a:ext cx="9956800"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683402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1" y="731520"/>
            <a:ext cx="6679191" cy="5257800"/>
          </a:xfrm>
        </p:spPr>
        <p:txBody>
          <a:bodyPr/>
          <a:lstStyle>
            <a:lvl1pPr>
              <a:defRPr sz="4267" baseline="0">
                <a:solidFill>
                  <a:schemeClr val="accent2"/>
                </a:solidFill>
              </a:defRPr>
            </a:lvl1pPr>
            <a:lvl2pPr>
              <a:defRPr sz="3733" baseline="0">
                <a:solidFill>
                  <a:schemeClr val="accent2"/>
                </a:solidFill>
              </a:defRPr>
            </a:lvl2pPr>
            <a:lvl3pPr>
              <a:defRPr sz="3200" baseline="0">
                <a:solidFill>
                  <a:schemeClr val="accent2"/>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4" y="6459787"/>
            <a:ext cx="2618511" cy="365125"/>
          </a:xfrm>
        </p:spPr>
        <p:txBody>
          <a:bodyPr/>
          <a:lstStyle>
            <a:lvl1pPr algn="l">
              <a:defRPr/>
            </a:lvl1pPr>
          </a:lstStyle>
          <a:p>
            <a:fld id="{240CDC23-E565-C848-9AF6-12BD09C53D91}" type="datetimeFigureOut">
              <a:rPr lang="en-US" smtClean="0"/>
              <a:t>11/9/2025</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456598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97"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2060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667001" y="616149"/>
            <a:ext cx="6855023" cy="596503"/>
          </a:xfrm>
          <a:prstGeom prst="rect">
            <a:avLst/>
          </a:prstGeom>
        </p:spPr>
        <p:txBody>
          <a:bodyPr wrap="square" lIns="0" tIns="0" rIns="0" bIns="0">
            <a:spAutoFit/>
          </a:bodyPr>
          <a:lstStyle>
            <a:lvl1pPr>
              <a:defRPr sz="3797" b="0"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69" b="0" i="0">
                <a:solidFill>
                  <a:schemeClr val="tx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38328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3358142" y="3298181"/>
            <a:ext cx="6858003" cy="261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3256806" y="3413510"/>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4"/>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5"/>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3"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240CDC23-E565-C848-9AF6-12BD09C53D91}" type="datetimeFigureOut">
              <a:rPr lang="en-US" smtClean="0"/>
              <a:t>11/9/2025</a:t>
            </a:fld>
            <a:endParaRPr lang="en-US"/>
          </a:p>
        </p:txBody>
      </p:sp>
      <p:sp>
        <p:nvSpPr>
          <p:cNvPr id="5" name="Footer Placeholder 4"/>
          <p:cNvSpPr>
            <a:spLocks noGrp="1"/>
          </p:cNvSpPr>
          <p:nvPr>
            <p:ph type="ftr" sz="quarter" idx="3"/>
          </p:nvPr>
        </p:nvSpPr>
        <p:spPr>
          <a:xfrm>
            <a:off x="3686187"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1" y="6459787"/>
            <a:ext cx="1312025" cy="365125"/>
          </a:xfrm>
          <a:prstGeom prst="rect">
            <a:avLst/>
          </a:prstGeom>
        </p:spPr>
        <p:txBody>
          <a:bodyPr vert="horz" lIns="91440" tIns="45720" rIns="91440" bIns="45720" rtlCol="0" anchor="ctr"/>
          <a:lstStyle>
            <a:lvl1pPr algn="r">
              <a:defRPr sz="1051">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2891552665"/>
      </p:ext>
    </p:extLst>
  </p:cSld>
  <p:clrMap bg1="lt1" tx1="dk1" bg2="lt2" tx2="dk2" accent1="accent1" accent2="accent2" accent3="accent3" accent4="accent4" accent5="accent5" accent6="accent6" hlink="hlink" folHlink="folHlink"/>
  <p:sldLayoutIdLst>
    <p:sldLayoutId id="2147483736" r:id="rId1"/>
    <p:sldLayoutId id="2147483743" r:id="rId2"/>
    <p:sldLayoutId id="2147483738" r:id="rId3"/>
    <p:sldLayoutId id="2147483739" r:id="rId4"/>
    <p:sldLayoutId id="2147483740" r:id="rId5"/>
    <p:sldLayoutId id="2147483737" r:id="rId6"/>
    <p:sldLayoutId id="2147483744" r:id="rId7"/>
    <p:sldLayoutId id="2147483745" r:id="rId8"/>
  </p:sldLayoutIdLst>
  <p:txStyles>
    <p:titleStyle>
      <a:lvl1pPr algn="l" defTabSz="914377"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nlp.stanford.edu/projects/glove/" TargetMode="External"/><Relationship Id="rId2" Type="http://schemas.openxmlformats.org/officeDocument/2006/relationships/hyperlink" Target="https://code.google.com/archive/p/word2vec/"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Word2vec</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3643804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5501" y="381000"/>
            <a:ext cx="7467600" cy="965200"/>
          </a:xfrm>
        </p:spPr>
        <p:txBody>
          <a:bodyPr/>
          <a:lstStyle/>
          <a:p>
            <a:r>
              <a:rPr lang="en-US" b="0" dirty="0"/>
              <a:t>Sparse versus dense vectors</a:t>
            </a:r>
          </a:p>
        </p:txBody>
      </p:sp>
      <p:sp>
        <p:nvSpPr>
          <p:cNvPr id="3" name="Content Placeholder 2"/>
          <p:cNvSpPr>
            <a:spLocks noGrp="1"/>
          </p:cNvSpPr>
          <p:nvPr>
            <p:ph idx="1"/>
          </p:nvPr>
        </p:nvSpPr>
        <p:spPr>
          <a:xfrm>
            <a:off x="1845501" y="1905000"/>
            <a:ext cx="8534400" cy="4368800"/>
          </a:xfrm>
        </p:spPr>
        <p:txBody>
          <a:bodyPr/>
          <a:lstStyle/>
          <a:p>
            <a:pPr>
              <a:lnSpc>
                <a:spcPct val="100000"/>
              </a:lnSpc>
            </a:pPr>
            <a:r>
              <a:rPr lang="en-US" sz="3600" dirty="0" err="1"/>
              <a:t>tf-idf</a:t>
            </a:r>
            <a:r>
              <a:rPr lang="en-US" sz="3600" dirty="0"/>
              <a:t> (or PMI) vectors are</a:t>
            </a:r>
          </a:p>
          <a:p>
            <a:pPr lvl="1">
              <a:lnSpc>
                <a:spcPct val="100000"/>
              </a:lnSpc>
            </a:pPr>
            <a:r>
              <a:rPr lang="en-US" sz="3200" b="1" dirty="0"/>
              <a:t>long</a:t>
            </a:r>
            <a:r>
              <a:rPr lang="en-US" sz="3200" dirty="0"/>
              <a:t> (length |V|= 20,000 to 50,000)</a:t>
            </a:r>
          </a:p>
          <a:p>
            <a:pPr lvl="1">
              <a:lnSpc>
                <a:spcPct val="100000"/>
              </a:lnSpc>
            </a:pPr>
            <a:r>
              <a:rPr lang="en-US" sz="3200" b="1" dirty="0"/>
              <a:t>sparse </a:t>
            </a:r>
            <a:r>
              <a:rPr lang="en-US" sz="3200" dirty="0"/>
              <a:t>(most elements are zero)</a:t>
            </a:r>
          </a:p>
          <a:p>
            <a:pPr>
              <a:lnSpc>
                <a:spcPct val="100000"/>
              </a:lnSpc>
            </a:pPr>
            <a:r>
              <a:rPr lang="en-US" sz="3600" dirty="0"/>
              <a:t>Alternative: learn vectors which are</a:t>
            </a:r>
          </a:p>
          <a:p>
            <a:pPr lvl="1">
              <a:lnSpc>
                <a:spcPct val="100000"/>
              </a:lnSpc>
            </a:pPr>
            <a:r>
              <a:rPr lang="en-US" sz="3200" b="1" dirty="0"/>
              <a:t>short</a:t>
            </a:r>
            <a:r>
              <a:rPr lang="en-US" sz="3200" dirty="0"/>
              <a:t> (length 50-1000)</a:t>
            </a:r>
          </a:p>
          <a:p>
            <a:pPr lvl="1">
              <a:lnSpc>
                <a:spcPct val="100000"/>
              </a:lnSpc>
            </a:pPr>
            <a:r>
              <a:rPr lang="en-US" sz="3200" b="1" dirty="0"/>
              <a:t>dense</a:t>
            </a:r>
            <a:r>
              <a:rPr lang="en-US" sz="3200" dirty="0"/>
              <a:t> (most elements are non-zero)</a:t>
            </a:r>
          </a:p>
        </p:txBody>
      </p:sp>
    </p:spTree>
    <p:extLst>
      <p:ext uri="{BB962C8B-B14F-4D97-AF65-F5344CB8AC3E}">
        <p14:creationId xmlns:p14="http://schemas.microsoft.com/office/powerpoint/2010/main" val="3883883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7467600" cy="742950"/>
          </a:xfrm>
        </p:spPr>
        <p:txBody>
          <a:bodyPr/>
          <a:lstStyle/>
          <a:p>
            <a:r>
              <a:rPr lang="en-US"/>
              <a:t>Sparse versus dense </a:t>
            </a:r>
            <a:r>
              <a:rPr lang="en-US" dirty="0"/>
              <a:t>vectors</a:t>
            </a:r>
          </a:p>
        </p:txBody>
      </p:sp>
      <p:sp>
        <p:nvSpPr>
          <p:cNvPr id="3" name="Content Placeholder 2"/>
          <p:cNvSpPr>
            <a:spLocks noGrp="1"/>
          </p:cNvSpPr>
          <p:nvPr>
            <p:ph idx="1"/>
          </p:nvPr>
        </p:nvSpPr>
        <p:spPr>
          <a:xfrm>
            <a:off x="982683" y="1600200"/>
            <a:ext cx="10363200" cy="5029200"/>
          </a:xfrm>
        </p:spPr>
        <p:txBody>
          <a:bodyPr>
            <a:normAutofit/>
          </a:bodyPr>
          <a:lstStyle/>
          <a:p>
            <a:r>
              <a:rPr lang="en-US" sz="3600" dirty="0"/>
              <a:t>Why dense vectors?</a:t>
            </a:r>
          </a:p>
          <a:p>
            <a:pPr lvl="1"/>
            <a:r>
              <a:rPr lang="en-US" dirty="0"/>
              <a:t>Short vectors may be easier to use as </a:t>
            </a:r>
            <a:r>
              <a:rPr lang="en-US" b="1" dirty="0"/>
              <a:t>features</a:t>
            </a:r>
            <a:r>
              <a:rPr lang="en-US" dirty="0"/>
              <a:t> in machine learning (fewer weights to tune)</a:t>
            </a:r>
          </a:p>
          <a:p>
            <a:pPr lvl="1"/>
            <a:r>
              <a:rPr lang="en-US" dirty="0"/>
              <a:t>Dense vectors may </a:t>
            </a:r>
            <a:r>
              <a:rPr lang="en-US" b="1" dirty="0"/>
              <a:t>generalize</a:t>
            </a:r>
            <a:r>
              <a:rPr lang="en-US" dirty="0"/>
              <a:t> better than explicit counts</a:t>
            </a:r>
          </a:p>
          <a:p>
            <a:pPr lvl="1"/>
            <a:r>
              <a:rPr lang="en-US" dirty="0"/>
              <a:t>Dense vectors may do better at capturing synonymy:</a:t>
            </a:r>
          </a:p>
          <a:p>
            <a:pPr lvl="2"/>
            <a:r>
              <a:rPr lang="en-US" sz="2800" i="1" dirty="0"/>
              <a:t>car</a:t>
            </a:r>
            <a:r>
              <a:rPr lang="en-US" sz="2800" dirty="0"/>
              <a:t> and </a:t>
            </a:r>
            <a:r>
              <a:rPr lang="en-US" sz="2800" i="1" dirty="0"/>
              <a:t>automobile</a:t>
            </a:r>
            <a:r>
              <a:rPr lang="en-US" sz="2800" dirty="0"/>
              <a:t> are synonyms; but are distinct dimensions</a:t>
            </a:r>
          </a:p>
          <a:p>
            <a:pPr lvl="3"/>
            <a:r>
              <a:rPr lang="en-US" sz="2800" dirty="0"/>
              <a:t>a word with </a:t>
            </a:r>
            <a:r>
              <a:rPr lang="en-US" sz="2800" i="1" dirty="0"/>
              <a:t>car</a:t>
            </a:r>
            <a:r>
              <a:rPr lang="en-US" sz="2800" dirty="0"/>
              <a:t> as a neighbor and a word with </a:t>
            </a:r>
            <a:r>
              <a:rPr lang="en-US" sz="2800" i="1" dirty="0"/>
              <a:t>automobile</a:t>
            </a:r>
            <a:r>
              <a:rPr lang="en-US" sz="2800" dirty="0"/>
              <a:t> as a neighbor should be similar, but aren't</a:t>
            </a:r>
          </a:p>
          <a:p>
            <a:pPr lvl="1"/>
            <a:r>
              <a:rPr lang="en-US" b="1" dirty="0"/>
              <a:t>In practice, they work better</a:t>
            </a:r>
          </a:p>
        </p:txBody>
      </p:sp>
      <p:sp>
        <p:nvSpPr>
          <p:cNvPr id="4" name="Slide Number Placeholder 3"/>
          <p:cNvSpPr>
            <a:spLocks noGrp="1"/>
          </p:cNvSpPr>
          <p:nvPr>
            <p:ph type="sldNum" sz="quarter" idx="12"/>
          </p:nvPr>
        </p:nvSpPr>
        <p:spPr>
          <a:xfrm>
            <a:off x="1524000" y="5562600"/>
            <a:ext cx="1981200" cy="342900"/>
          </a:xfrm>
          <a:prstGeom prst="rect">
            <a:avLst/>
          </a:prstGeom>
        </p:spPr>
        <p:txBody>
          <a:bodyPr/>
          <a:lstStyle/>
          <a:p>
            <a:fld id="{10F35DC5-7E65-8247-99AB-4E984F8A921E}" type="slidenum">
              <a:rPr lang="en-US" smtClean="0"/>
              <a:pPr/>
              <a:t>3</a:t>
            </a:fld>
            <a:endParaRPr lang="en-US" dirty="0"/>
          </a:p>
        </p:txBody>
      </p:sp>
    </p:spTree>
    <p:extLst>
      <p:ext uri="{BB962C8B-B14F-4D97-AF65-F5344CB8AC3E}">
        <p14:creationId xmlns:p14="http://schemas.microsoft.com/office/powerpoint/2010/main" val="3914140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88606"/>
            <a:ext cx="10972800" cy="907196"/>
          </a:xfrm>
        </p:spPr>
        <p:txBody>
          <a:bodyPr>
            <a:noAutofit/>
          </a:bodyPr>
          <a:lstStyle/>
          <a:p>
            <a:r>
              <a:rPr lang="en-US" sz="4000" dirty="0"/>
              <a:t>Common methods for getting short dense vectors</a:t>
            </a:r>
          </a:p>
        </p:txBody>
      </p:sp>
      <p:sp>
        <p:nvSpPr>
          <p:cNvPr id="3" name="Content Placeholder 2"/>
          <p:cNvSpPr>
            <a:spLocks noGrp="1"/>
          </p:cNvSpPr>
          <p:nvPr>
            <p:ph idx="1"/>
          </p:nvPr>
        </p:nvSpPr>
        <p:spPr>
          <a:xfrm>
            <a:off x="1097281" y="1600200"/>
            <a:ext cx="10058401" cy="4876800"/>
          </a:xfrm>
        </p:spPr>
        <p:txBody>
          <a:bodyPr>
            <a:normAutofit fontScale="92500"/>
          </a:bodyPr>
          <a:lstStyle/>
          <a:p>
            <a:r>
              <a:rPr lang="en-US" dirty="0"/>
              <a:t>“Neural Language Model”-inspired models</a:t>
            </a:r>
          </a:p>
          <a:p>
            <a:pPr lvl="1"/>
            <a:r>
              <a:rPr lang="en-US" dirty="0"/>
              <a:t>Word2vec (</a:t>
            </a:r>
            <a:r>
              <a:rPr lang="en-US" dirty="0" err="1"/>
              <a:t>skipgram</a:t>
            </a:r>
            <a:r>
              <a:rPr lang="en-US" dirty="0"/>
              <a:t>, CBOW), </a:t>
            </a:r>
            <a:r>
              <a:rPr lang="en-US" dirty="0" err="1"/>
              <a:t>GloVe</a:t>
            </a:r>
            <a:endParaRPr lang="en-US" dirty="0"/>
          </a:p>
          <a:p>
            <a:r>
              <a:rPr lang="en-US" dirty="0">
                <a:solidFill>
                  <a:schemeClr val="bg1">
                    <a:lumMod val="50000"/>
                  </a:schemeClr>
                </a:solidFill>
              </a:rPr>
              <a:t>Singular Value Decomposition (SVD)</a:t>
            </a:r>
          </a:p>
          <a:p>
            <a:pPr lvl="1"/>
            <a:r>
              <a:rPr lang="en-US" dirty="0">
                <a:solidFill>
                  <a:schemeClr val="bg1">
                    <a:lumMod val="50000"/>
                  </a:schemeClr>
                </a:solidFill>
              </a:rPr>
              <a:t>A special case of this is called LSA – Latent Semantic Analysis</a:t>
            </a:r>
          </a:p>
          <a:p>
            <a:r>
              <a:rPr lang="en-US" dirty="0">
                <a:solidFill>
                  <a:schemeClr val="bg1">
                    <a:lumMod val="50000"/>
                  </a:schemeClr>
                </a:solidFill>
              </a:rPr>
              <a:t>Alternative to these "static embeddings":</a:t>
            </a:r>
          </a:p>
          <a:p>
            <a:pPr marL="1100653" lvl="1" indent="-571500">
              <a:buFont typeface="Arial" panose="020B0604020202020204" pitchFamily="34" charset="0"/>
              <a:buChar char="•"/>
            </a:pPr>
            <a:r>
              <a:rPr lang="en-US" dirty="0">
                <a:solidFill>
                  <a:schemeClr val="bg1">
                    <a:lumMod val="50000"/>
                  </a:schemeClr>
                </a:solidFill>
              </a:rPr>
              <a:t>Contextual Embeddings (</a:t>
            </a:r>
            <a:r>
              <a:rPr lang="en-US" dirty="0" err="1">
                <a:solidFill>
                  <a:schemeClr val="bg1">
                    <a:lumMod val="50000"/>
                  </a:schemeClr>
                </a:solidFill>
              </a:rPr>
              <a:t>ELMo</a:t>
            </a:r>
            <a:r>
              <a:rPr lang="en-US" dirty="0">
                <a:solidFill>
                  <a:schemeClr val="bg1">
                    <a:lumMod val="50000"/>
                  </a:schemeClr>
                </a:solidFill>
              </a:rPr>
              <a:t>, BERT)</a:t>
            </a:r>
          </a:p>
          <a:p>
            <a:pPr marL="1100653" lvl="1" indent="-571500">
              <a:buFont typeface="Arial" panose="020B0604020202020204" pitchFamily="34" charset="0"/>
              <a:buChar char="•"/>
            </a:pPr>
            <a:r>
              <a:rPr lang="en-US" dirty="0">
                <a:solidFill>
                  <a:schemeClr val="bg1">
                    <a:lumMod val="50000"/>
                  </a:schemeClr>
                </a:solidFill>
              </a:rPr>
              <a:t>Compute distinct embeddings for a word in its context</a:t>
            </a:r>
          </a:p>
          <a:p>
            <a:pPr marL="1100653" lvl="1" indent="-571500">
              <a:buFont typeface="Arial" panose="020B0604020202020204" pitchFamily="34" charset="0"/>
              <a:buChar char="•"/>
            </a:pPr>
            <a:r>
              <a:rPr lang="en-US" dirty="0">
                <a:solidFill>
                  <a:schemeClr val="bg1">
                    <a:lumMod val="50000"/>
                  </a:schemeClr>
                </a:solidFill>
              </a:rPr>
              <a:t>Separate embeddings for each token of a word</a:t>
            </a:r>
          </a:p>
        </p:txBody>
      </p:sp>
    </p:spTree>
    <p:extLst>
      <p:ext uri="{BB962C8B-B14F-4D97-AF65-F5344CB8AC3E}">
        <p14:creationId xmlns:p14="http://schemas.microsoft.com/office/powerpoint/2010/main" val="1473047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10363200" cy="990600"/>
          </a:xfrm>
        </p:spPr>
        <p:txBody>
          <a:bodyPr>
            <a:normAutofit fontScale="90000"/>
          </a:bodyPr>
          <a:lstStyle/>
          <a:p>
            <a:r>
              <a:rPr lang="en-US" dirty="0"/>
              <a:t>Simple static embeddings you can download!</a:t>
            </a:r>
          </a:p>
        </p:txBody>
      </p:sp>
      <p:sp>
        <p:nvSpPr>
          <p:cNvPr id="3" name="Content Placeholder 2"/>
          <p:cNvSpPr>
            <a:spLocks noGrp="1"/>
          </p:cNvSpPr>
          <p:nvPr>
            <p:ph idx="1"/>
          </p:nvPr>
        </p:nvSpPr>
        <p:spPr>
          <a:xfrm>
            <a:off x="1371600" y="2038814"/>
            <a:ext cx="9220200" cy="3811694"/>
          </a:xfrm>
        </p:spPr>
        <p:txBody>
          <a:bodyPr/>
          <a:lstStyle/>
          <a:p>
            <a:r>
              <a:rPr lang="en-US" sz="3200" dirty="0"/>
              <a:t>Word2vec (</a:t>
            </a:r>
            <a:r>
              <a:rPr lang="en-US" sz="3200" dirty="0" err="1"/>
              <a:t>Mikolov</a:t>
            </a:r>
            <a:r>
              <a:rPr lang="en-US" sz="3200" dirty="0"/>
              <a:t> et al)</a:t>
            </a:r>
          </a:p>
          <a:p>
            <a:r>
              <a:rPr lang="en-US" sz="3200" dirty="0">
                <a:hlinkClick r:id="rId2"/>
              </a:rPr>
              <a:t>https://code.google.com/archive/p/word2vec/</a:t>
            </a:r>
            <a:endParaRPr lang="en-US" sz="3200" dirty="0"/>
          </a:p>
          <a:p>
            <a:endParaRPr lang="en-US" sz="3200" dirty="0"/>
          </a:p>
          <a:p>
            <a:r>
              <a:rPr lang="en-US" sz="3200" dirty="0" err="1"/>
              <a:t>GloVe</a:t>
            </a:r>
            <a:r>
              <a:rPr lang="en-US" sz="3200" dirty="0"/>
              <a:t> (Pennington, </a:t>
            </a:r>
            <a:r>
              <a:rPr lang="en-US" sz="3200" dirty="0" err="1"/>
              <a:t>Socher</a:t>
            </a:r>
            <a:r>
              <a:rPr lang="en-US" sz="3200" dirty="0"/>
              <a:t>, Manning)</a:t>
            </a:r>
          </a:p>
          <a:p>
            <a:r>
              <a:rPr lang="en-US" sz="3200" dirty="0">
                <a:hlinkClick r:id="rId3"/>
              </a:rPr>
              <a:t>http://nlp.stanford.edu/projects/glove/</a:t>
            </a:r>
            <a:endParaRPr lang="en-US" sz="3200" dirty="0"/>
          </a:p>
          <a:p>
            <a:endParaRPr lang="en-US" dirty="0"/>
          </a:p>
        </p:txBody>
      </p:sp>
    </p:spTree>
    <p:extLst>
      <p:ext uri="{BB962C8B-B14F-4D97-AF65-F5344CB8AC3E}">
        <p14:creationId xmlns:p14="http://schemas.microsoft.com/office/powerpoint/2010/main" val="96672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86605"/>
            <a:ext cx="8900160" cy="1084996"/>
          </a:xfrm>
        </p:spPr>
        <p:txBody>
          <a:bodyPr/>
          <a:lstStyle/>
          <a:p>
            <a:r>
              <a:rPr lang="en-US" b="0" dirty="0"/>
              <a:t>Word2vec</a:t>
            </a:r>
          </a:p>
        </p:txBody>
      </p:sp>
      <p:sp>
        <p:nvSpPr>
          <p:cNvPr id="3" name="Content Placeholder 2"/>
          <p:cNvSpPr>
            <a:spLocks noGrp="1"/>
          </p:cNvSpPr>
          <p:nvPr>
            <p:ph idx="1"/>
          </p:nvPr>
        </p:nvSpPr>
        <p:spPr>
          <a:xfrm>
            <a:off x="1019298" y="1524000"/>
            <a:ext cx="10867901" cy="4555066"/>
          </a:xfrm>
        </p:spPr>
        <p:txBody>
          <a:bodyPr>
            <a:normAutofit/>
          </a:bodyPr>
          <a:lstStyle/>
          <a:p>
            <a:r>
              <a:rPr lang="en-US" sz="4400" dirty="0"/>
              <a:t>Popular embedding method</a:t>
            </a:r>
          </a:p>
          <a:p>
            <a:r>
              <a:rPr lang="en-US" sz="4400" dirty="0"/>
              <a:t>Very fast to train</a:t>
            </a:r>
          </a:p>
          <a:p>
            <a:r>
              <a:rPr lang="en-US" sz="4400" dirty="0"/>
              <a:t>Code available on the web</a:t>
            </a:r>
          </a:p>
          <a:p>
            <a:r>
              <a:rPr lang="en-US" sz="4400" dirty="0"/>
              <a:t>Idea: </a:t>
            </a:r>
            <a:r>
              <a:rPr lang="en-US" sz="4400" b="1" dirty="0"/>
              <a:t>predict</a:t>
            </a:r>
            <a:r>
              <a:rPr lang="en-US" sz="4400" dirty="0"/>
              <a:t> rather than </a:t>
            </a:r>
            <a:r>
              <a:rPr lang="en-US" sz="4400" b="1" dirty="0"/>
              <a:t>count</a:t>
            </a:r>
          </a:p>
          <a:p>
            <a:r>
              <a:rPr lang="en-US" sz="4400" dirty="0"/>
              <a:t>Word2vec provides various options. We'll do:</a:t>
            </a:r>
          </a:p>
          <a:p>
            <a:r>
              <a:rPr lang="en-US" sz="4000" dirty="0"/>
              <a:t>	 </a:t>
            </a:r>
            <a:r>
              <a:rPr lang="en-US" sz="4000" b="1" dirty="0">
                <a:solidFill>
                  <a:srgbClr val="0000FF"/>
                </a:solidFill>
              </a:rPr>
              <a:t>skip-gram with negative sampling (SGNS)</a:t>
            </a:r>
          </a:p>
          <a:p>
            <a:br>
              <a:rPr lang="en-US" sz="4400" dirty="0"/>
            </a:br>
            <a:endParaRPr lang="en-US" sz="4400" dirty="0"/>
          </a:p>
          <a:p>
            <a:r>
              <a:rPr lang="en-US" sz="4400" b="1" dirty="0"/>
              <a:t> </a:t>
            </a:r>
          </a:p>
        </p:txBody>
      </p:sp>
    </p:spTree>
    <p:extLst>
      <p:ext uri="{BB962C8B-B14F-4D97-AF65-F5344CB8AC3E}">
        <p14:creationId xmlns:p14="http://schemas.microsoft.com/office/powerpoint/2010/main" val="177125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6605"/>
            <a:ext cx="8823960" cy="1237396"/>
          </a:xfrm>
        </p:spPr>
        <p:txBody>
          <a:bodyPr/>
          <a:lstStyle/>
          <a:p>
            <a:r>
              <a:rPr lang="en-US" dirty="0"/>
              <a:t>Word2vec</a:t>
            </a:r>
          </a:p>
        </p:txBody>
      </p:sp>
      <p:sp>
        <p:nvSpPr>
          <p:cNvPr id="3" name="Content Placeholder 2"/>
          <p:cNvSpPr>
            <a:spLocks noGrp="1"/>
          </p:cNvSpPr>
          <p:nvPr>
            <p:ph idx="1"/>
          </p:nvPr>
        </p:nvSpPr>
        <p:spPr>
          <a:xfrm>
            <a:off x="762000" y="1676400"/>
            <a:ext cx="11277600" cy="5181600"/>
          </a:xfrm>
        </p:spPr>
        <p:txBody>
          <a:bodyPr vert="horz" lIns="0" tIns="45720" rIns="0" bIns="45720" rtlCol="0" anchor="t">
            <a:normAutofit/>
          </a:bodyPr>
          <a:lstStyle/>
          <a:p>
            <a:r>
              <a:rPr lang="en-US" sz="3300" dirty="0"/>
              <a:t>Instead of </a:t>
            </a:r>
            <a:r>
              <a:rPr lang="en-US" sz="3300" b="1" dirty="0"/>
              <a:t>counting</a:t>
            </a:r>
            <a:r>
              <a:rPr lang="en-US" sz="3300" dirty="0"/>
              <a:t> how often each word </a:t>
            </a:r>
            <a:r>
              <a:rPr lang="en-US" sz="3300" i="1" dirty="0"/>
              <a:t>w</a:t>
            </a:r>
            <a:r>
              <a:rPr lang="en-US" sz="3300" dirty="0"/>
              <a:t> occurs near "</a:t>
            </a:r>
            <a:r>
              <a:rPr lang="en-US" sz="3300" i="1" dirty="0"/>
              <a:t>apricot"</a:t>
            </a:r>
          </a:p>
          <a:p>
            <a:pPr lvl="1"/>
            <a:r>
              <a:rPr lang="en-US" dirty="0"/>
              <a:t>Train a classifier on a binary </a:t>
            </a:r>
            <a:r>
              <a:rPr lang="en-US" b="1" dirty="0"/>
              <a:t>prediction</a:t>
            </a:r>
            <a:r>
              <a:rPr lang="en-US" dirty="0"/>
              <a:t> task:</a:t>
            </a:r>
          </a:p>
          <a:p>
            <a:pPr lvl="2"/>
            <a:r>
              <a:rPr lang="en-US" sz="2800" dirty="0"/>
              <a:t>Is </a:t>
            </a:r>
            <a:r>
              <a:rPr lang="en-US" sz="2800" i="1" dirty="0"/>
              <a:t>w </a:t>
            </a:r>
            <a:r>
              <a:rPr lang="en-US" sz="2800" dirty="0"/>
              <a:t>likely to show up near "</a:t>
            </a:r>
            <a:r>
              <a:rPr lang="en-US" sz="2800" i="1" dirty="0"/>
              <a:t>apricot"</a:t>
            </a:r>
            <a:r>
              <a:rPr lang="en-US" sz="2800" dirty="0"/>
              <a:t>?</a:t>
            </a:r>
            <a:endParaRPr lang="en-US" dirty="0"/>
          </a:p>
          <a:p>
            <a:r>
              <a:rPr lang="en-US" sz="3300" dirty="0"/>
              <a:t>We don’t actually care about this task</a:t>
            </a:r>
          </a:p>
          <a:p>
            <a:pPr lvl="2"/>
            <a:r>
              <a:rPr lang="en-US" sz="2800" dirty="0"/>
              <a:t>But we'll take the learned classifier weights as the word embeddings</a:t>
            </a:r>
          </a:p>
          <a:p>
            <a:r>
              <a:rPr lang="en-US" sz="3300" dirty="0"/>
              <a:t>Big idea:  </a:t>
            </a:r>
            <a:r>
              <a:rPr lang="en-US" sz="3300" b="1" dirty="0">
                <a:solidFill>
                  <a:srgbClr val="0000FF"/>
                </a:solidFill>
              </a:rPr>
              <a:t>self-supervision</a:t>
            </a:r>
            <a:r>
              <a:rPr lang="en-US" sz="3300" dirty="0"/>
              <a:t>: </a:t>
            </a:r>
          </a:p>
          <a:p>
            <a:pPr marL="687705" lvl="2" indent="-304165"/>
            <a:r>
              <a:rPr lang="en-US" sz="2800"/>
              <a:t>A word c that occurs near apricot in the corpus counts as the gold "correct </a:t>
            </a:r>
            <a:r>
              <a:rPr lang="en-US" sz="2800" dirty="0"/>
              <a:t>answer" for supervised learning</a:t>
            </a:r>
            <a:endParaRPr lang="en-US" sz="2800" dirty="0">
              <a:ea typeface="Calibri"/>
              <a:cs typeface="Calibri"/>
            </a:endParaRPr>
          </a:p>
          <a:p>
            <a:pPr lvl="2"/>
            <a:r>
              <a:rPr lang="en-US" sz="2800" dirty="0"/>
              <a:t>No need for human labels</a:t>
            </a:r>
          </a:p>
          <a:p>
            <a:pPr lvl="2"/>
            <a:r>
              <a:rPr lang="en-US" dirty="0" err="1"/>
              <a:t>Bengio</a:t>
            </a:r>
            <a:r>
              <a:rPr lang="en-US" dirty="0"/>
              <a:t> et al. (2003); </a:t>
            </a:r>
            <a:r>
              <a:rPr lang="en-US" dirty="0" err="1"/>
              <a:t>Collobert</a:t>
            </a:r>
            <a:r>
              <a:rPr lang="en-US" dirty="0"/>
              <a:t> et al. (2011) </a:t>
            </a:r>
          </a:p>
          <a:p>
            <a:pPr lvl="2"/>
            <a:endParaRPr lang="en-US" sz="2800" dirty="0"/>
          </a:p>
          <a:p>
            <a:endParaRPr lang="en-US" dirty="0"/>
          </a:p>
          <a:p>
            <a:endParaRPr lang="en-US" dirty="0"/>
          </a:p>
        </p:txBody>
      </p:sp>
    </p:spTree>
    <p:extLst>
      <p:ext uri="{BB962C8B-B14F-4D97-AF65-F5344CB8AC3E}">
        <p14:creationId xmlns:p14="http://schemas.microsoft.com/office/powerpoint/2010/main" val="2634988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90500"/>
            <a:ext cx="11247119" cy="990600"/>
          </a:xfrm>
        </p:spPr>
        <p:txBody>
          <a:bodyPr>
            <a:normAutofit/>
          </a:bodyPr>
          <a:lstStyle/>
          <a:p>
            <a:r>
              <a:rPr lang="en-US" sz="4200" b="0" dirty="0"/>
              <a:t>Approach: predict if candidate word </a:t>
            </a:r>
            <a:r>
              <a:rPr lang="en-US" sz="4200" b="0" i="1" dirty="0"/>
              <a:t>c</a:t>
            </a:r>
            <a:r>
              <a:rPr lang="en-US" sz="4200" b="0" dirty="0"/>
              <a:t> is a "neighbor"</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3200" dirty="0"/>
              <a:t>Treat the target word </a:t>
            </a:r>
            <a:r>
              <a:rPr lang="en-US" sz="3200" i="1" dirty="0"/>
              <a:t>t</a:t>
            </a:r>
            <a:r>
              <a:rPr lang="en-US" sz="3200" dirty="0"/>
              <a:t> and a neighboring context word </a:t>
            </a:r>
            <a:r>
              <a:rPr lang="en-US" sz="3200" i="1" dirty="0"/>
              <a:t>c</a:t>
            </a:r>
            <a:r>
              <a:rPr lang="en-US" sz="3200" dirty="0"/>
              <a:t> as </a:t>
            </a:r>
            <a:r>
              <a:rPr lang="en-US" sz="3200" b="1" dirty="0"/>
              <a:t>positive examples</a:t>
            </a:r>
            <a:r>
              <a:rPr lang="en-US" sz="3200" dirty="0"/>
              <a:t>.</a:t>
            </a:r>
          </a:p>
          <a:p>
            <a:pPr marL="514350" indent="-514350">
              <a:buFont typeface="+mj-lt"/>
              <a:buAutoNum type="arabicPeriod"/>
            </a:pPr>
            <a:r>
              <a:rPr lang="en-US" sz="3200" dirty="0"/>
              <a:t>Randomly sample other words in the lexicon to get negative examples</a:t>
            </a:r>
          </a:p>
          <a:p>
            <a:pPr marL="514350" indent="-514350">
              <a:buFont typeface="+mj-lt"/>
              <a:buAutoNum type="arabicPeriod"/>
            </a:pPr>
            <a:r>
              <a:rPr lang="en-US" sz="3200" dirty="0"/>
              <a:t>Use logistic regression to train a classifier to distinguish those two cases</a:t>
            </a:r>
          </a:p>
          <a:p>
            <a:pPr marL="514350" indent="-514350">
              <a:buFont typeface="+mj-lt"/>
              <a:buAutoNum type="arabicPeriod"/>
            </a:pPr>
            <a:r>
              <a:rPr lang="en-US" sz="3200" dirty="0"/>
              <a:t>Use the learned weights as the embeddings</a:t>
            </a:r>
          </a:p>
          <a:p>
            <a:endParaRPr lang="en-US" dirty="0"/>
          </a:p>
          <a:p>
            <a:endParaRPr lang="en-US" dirty="0"/>
          </a:p>
        </p:txBody>
      </p:sp>
    </p:spTree>
    <p:extLst>
      <p:ext uri="{BB962C8B-B14F-4D97-AF65-F5344CB8AC3E}">
        <p14:creationId xmlns:p14="http://schemas.microsoft.com/office/powerpoint/2010/main" val="3900406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p>
        </p:txBody>
      </p:sp>
      <p:sp>
        <p:nvSpPr>
          <p:cNvPr id="3" name="Content Placeholder 2"/>
          <p:cNvSpPr>
            <a:spLocks noGrp="1"/>
          </p:cNvSpPr>
          <p:nvPr>
            <p:ph idx="1"/>
          </p:nvPr>
        </p:nvSpPr>
        <p:spPr>
          <a:xfrm>
            <a:off x="1752602" y="1845734"/>
            <a:ext cx="8915399" cy="4707466"/>
          </a:xfrm>
        </p:spPr>
        <p:txBody>
          <a:bodyPr>
            <a:normAutofit/>
          </a:bodyPr>
          <a:lstStyle/>
          <a:p>
            <a:r>
              <a:rPr lang="en-US" sz="3200" dirty="0"/>
              <a:t>Assume a +/- 2 word window, given training sentence:</a:t>
            </a:r>
          </a:p>
          <a:p>
            <a:endParaRPr lang="en-US" sz="3200" dirty="0"/>
          </a:p>
          <a:p>
            <a:pPr marL="201168" lvl="1" indent="0">
              <a:spcAft>
                <a:spcPts val="0"/>
              </a:spcAft>
              <a:buNone/>
            </a:pPr>
            <a:r>
              <a:rPr lang="en-US" sz="3200" dirty="0"/>
              <a:t>…lemon, a [tablespoon of  apricot  jam,   a]  pinch…</a:t>
            </a:r>
          </a:p>
          <a:p>
            <a:pPr marL="0" indent="0">
              <a:spcBef>
                <a:spcPts val="0"/>
              </a:spcBef>
            </a:pPr>
            <a:r>
              <a:rPr lang="en-US" sz="2800" dirty="0">
                <a:latin typeface="Times New Roman" panose="02020603050405020304" pitchFamily="18" charset="0"/>
                <a:cs typeface="Times New Roman" panose="02020603050405020304" pitchFamily="18" charset="0"/>
              </a:rPr>
              <a:t>                        c1                   c2 </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c3      c4</a:t>
            </a:r>
          </a:p>
          <a:p>
            <a:endParaRPr lang="en-US" sz="3200" dirty="0"/>
          </a:p>
        </p:txBody>
      </p:sp>
      <p:sp>
        <p:nvSpPr>
          <p:cNvPr id="6" name="Rounded Rectangle 5">
            <a:extLst>
              <a:ext uri="{FF2B5EF4-FFF2-40B4-BE49-F238E27FC236}">
                <a16:creationId xmlns:a16="http://schemas.microsoft.com/office/drawing/2014/main" id="{2DC57D5D-02C0-314D-BE90-FF44065BE762}"/>
              </a:ext>
            </a:extLst>
          </p:cNvPr>
          <p:cNvSpPr/>
          <p:nvPr/>
        </p:nvSpPr>
        <p:spPr bwMode="auto">
          <a:xfrm>
            <a:off x="3808771" y="304800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dirty="0">
              <a:solidFill>
                <a:srgbClr val="009900"/>
              </a:solidFill>
              <a:latin typeface="Tahoma" charset="0"/>
            </a:endParaRPr>
          </a:p>
        </p:txBody>
      </p:sp>
      <p:sp>
        <p:nvSpPr>
          <p:cNvPr id="7" name="Rounded Rectangle 6">
            <a:extLst>
              <a:ext uri="{FF2B5EF4-FFF2-40B4-BE49-F238E27FC236}">
                <a16:creationId xmlns:a16="http://schemas.microsoft.com/office/drawing/2014/main" id="{C98D6C3B-275A-4E46-806B-FE9D39094B33}"/>
              </a:ext>
            </a:extLst>
          </p:cNvPr>
          <p:cNvSpPr/>
          <p:nvPr/>
        </p:nvSpPr>
        <p:spPr bwMode="auto">
          <a:xfrm>
            <a:off x="6400800" y="3048000"/>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4" name="Rectangle 3">
            <a:extLst>
              <a:ext uri="{FF2B5EF4-FFF2-40B4-BE49-F238E27FC236}">
                <a16:creationId xmlns:a16="http://schemas.microsoft.com/office/drawing/2014/main" id="{9C2EB398-8330-8648-A675-D62025B78526}"/>
              </a:ext>
            </a:extLst>
          </p:cNvPr>
          <p:cNvSpPr/>
          <p:nvPr/>
        </p:nvSpPr>
        <p:spPr>
          <a:xfrm>
            <a:off x="1666191" y="3352800"/>
            <a:ext cx="5953809" cy="523220"/>
          </a:xfrm>
          <a:prstGeom prst="rect">
            <a:avLst/>
          </a:prstGeom>
        </p:spPr>
        <p:txBody>
          <a:bodyPr wrap="none">
            <a:spAutoFit/>
          </a:bodyPr>
          <a:lstStyle/>
          <a:p>
            <a:r>
              <a:rPr lang="en-US" sz="2800" dirty="0">
                <a:latin typeface="Times New Roman" panose="02020603050405020304" pitchFamily="18" charset="0"/>
                <a:cs typeface="Times New Roman" panose="02020603050405020304" pitchFamily="18" charset="0"/>
              </a:rPr>
              <a:t>		                                </a:t>
            </a:r>
            <a:r>
              <a:rPr lang="en-US" sz="2800" dirty="0">
                <a:solidFill>
                  <a:srgbClr val="FF0000"/>
                </a:solidFill>
                <a:latin typeface="Times New Roman" panose="02020603050405020304" pitchFamily="18" charset="0"/>
                <a:cs typeface="Times New Roman" panose="02020603050405020304" pitchFamily="18" charset="0"/>
              </a:rPr>
              <a:t>[target]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404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Classifier</a:t>
            </a:r>
          </a:p>
        </p:txBody>
      </p:sp>
      <p:sp>
        <p:nvSpPr>
          <p:cNvPr id="3" name="Content Placeholder 2"/>
          <p:cNvSpPr>
            <a:spLocks noGrp="1"/>
          </p:cNvSpPr>
          <p:nvPr>
            <p:ph idx="1"/>
          </p:nvPr>
        </p:nvSpPr>
        <p:spPr>
          <a:xfrm>
            <a:off x="1219200" y="1371599"/>
            <a:ext cx="10972800" cy="5326797"/>
          </a:xfrm>
        </p:spPr>
        <p:txBody>
          <a:bodyPr>
            <a:normAutofit/>
          </a:bodyPr>
          <a:lstStyle/>
          <a:p>
            <a:r>
              <a:rPr lang="en-US" sz="3200" dirty="0"/>
              <a:t>(assuming a +/- 2 word window)</a:t>
            </a:r>
          </a:p>
          <a:p>
            <a:endParaRPr lang="en-US" sz="3200" dirty="0"/>
          </a:p>
          <a:p>
            <a:pPr marL="201168" lvl="1" indent="0">
              <a:spcAft>
                <a:spcPts val="0"/>
              </a:spcAft>
              <a:buNone/>
            </a:pPr>
            <a:r>
              <a:rPr lang="en-US" sz="3200" dirty="0"/>
              <a:t>…lemon, a [tablespoon of  apricot  jam,   a]  pinch…</a:t>
            </a:r>
          </a:p>
          <a:p>
            <a:pPr marL="0" indent="0">
              <a:spcBef>
                <a:spcPts val="0"/>
              </a:spcBef>
            </a:pPr>
            <a:r>
              <a:rPr lang="en-US" sz="2800" dirty="0">
                <a:latin typeface="Times New Roman" panose="02020603050405020304" pitchFamily="18" charset="0"/>
                <a:cs typeface="Times New Roman" panose="02020603050405020304" pitchFamily="18" charset="0"/>
              </a:rPr>
              <a:t>                        c1                   c2 </a:t>
            </a:r>
            <a:r>
              <a:rPr lang="en-US" sz="2800" dirty="0">
                <a:solidFill>
                  <a:srgbClr val="FF0000"/>
                </a:solidFill>
                <a:latin typeface="Times New Roman" panose="02020603050405020304" pitchFamily="18" charset="0"/>
                <a:cs typeface="Times New Roman" panose="02020603050405020304" pitchFamily="18" charset="0"/>
              </a:rPr>
              <a:t>[target]</a:t>
            </a:r>
            <a:r>
              <a:rPr lang="en-US" sz="2800" dirty="0">
                <a:latin typeface="Times New Roman" panose="02020603050405020304" pitchFamily="18" charset="0"/>
                <a:cs typeface="Times New Roman" panose="02020603050405020304" pitchFamily="18" charset="0"/>
              </a:rPr>
              <a:t>    c3      c4</a:t>
            </a:r>
          </a:p>
          <a:p>
            <a:pPr marL="0" indent="0">
              <a:spcBef>
                <a:spcPts val="0"/>
              </a:spcBef>
            </a:pPr>
            <a:endParaRPr lang="en-US" sz="2800" dirty="0">
              <a:latin typeface="Times New Roman" panose="02020603050405020304" pitchFamily="18" charset="0"/>
              <a:cs typeface="Times New Roman" panose="02020603050405020304" pitchFamily="18" charset="0"/>
            </a:endParaRPr>
          </a:p>
          <a:p>
            <a:pPr marL="0" indent="0">
              <a:spcBef>
                <a:spcPts val="0"/>
              </a:spcBef>
            </a:pPr>
            <a:r>
              <a:rPr lang="en-US" sz="2800" dirty="0">
                <a:latin typeface="Calibri" panose="020F0502020204030204" pitchFamily="34" charset="0"/>
                <a:cs typeface="Calibri" panose="020F0502020204030204" pitchFamily="34" charset="0"/>
              </a:rPr>
              <a:t>Goal: train a classifier that is given a candidate (</a:t>
            </a:r>
            <a:r>
              <a:rPr lang="en-US" sz="2800" b="1" dirty="0">
                <a:latin typeface="Calibri" panose="020F0502020204030204" pitchFamily="34" charset="0"/>
                <a:cs typeface="Calibri" panose="020F0502020204030204" pitchFamily="34" charset="0"/>
              </a:rPr>
              <a:t>w</a:t>
            </a:r>
            <a:r>
              <a:rPr lang="en-US" sz="2800" dirty="0">
                <a:latin typeface="Calibri" panose="020F0502020204030204" pitchFamily="34" charset="0"/>
                <a:cs typeface="Calibri" panose="020F0502020204030204" pitchFamily="34" charset="0"/>
              </a:rPr>
              <a:t>ord, </a:t>
            </a:r>
            <a:r>
              <a:rPr lang="en-US" sz="2800" b="1" dirty="0">
                <a:latin typeface="Calibri" panose="020F0502020204030204" pitchFamily="34" charset="0"/>
                <a:cs typeface="Calibri" panose="020F0502020204030204" pitchFamily="34" charset="0"/>
              </a:rPr>
              <a:t>c</a:t>
            </a:r>
            <a:r>
              <a:rPr lang="en-US" sz="2800" dirty="0">
                <a:latin typeface="Calibri" panose="020F0502020204030204" pitchFamily="34" charset="0"/>
                <a:cs typeface="Calibri" panose="020F0502020204030204" pitchFamily="34" charset="0"/>
              </a:rPr>
              <a:t>ontext) pair</a:t>
            </a:r>
          </a:p>
          <a:p>
            <a:pPr marL="0" indent="0">
              <a:spcBef>
                <a:spcPts val="0"/>
              </a:spcBef>
            </a:pPr>
            <a:r>
              <a:rPr lang="en-US" sz="2800" dirty="0">
                <a:latin typeface="Calibri" panose="020F0502020204030204" pitchFamily="34" charset="0"/>
                <a:cs typeface="Calibri" panose="020F0502020204030204" pitchFamily="34" charset="0"/>
              </a:rPr>
              <a:t>		 (apricot, jam)</a:t>
            </a:r>
          </a:p>
          <a:p>
            <a:pPr marL="0" indent="0">
              <a:spcBef>
                <a:spcPts val="0"/>
              </a:spcBef>
            </a:pPr>
            <a:r>
              <a:rPr lang="en-US" sz="2800" dirty="0">
                <a:latin typeface="Calibri" panose="020F0502020204030204" pitchFamily="34" charset="0"/>
                <a:cs typeface="Calibri" panose="020F0502020204030204" pitchFamily="34" charset="0"/>
              </a:rPr>
              <a:t> 		 (apricot, aardvark)</a:t>
            </a:r>
          </a:p>
          <a:p>
            <a:pPr marL="0" indent="0">
              <a:spcBef>
                <a:spcPts val="0"/>
              </a:spcBef>
            </a:pPr>
            <a:r>
              <a:rPr lang="en-US" sz="2800" dirty="0">
                <a:latin typeface="Calibri" panose="020F0502020204030204" pitchFamily="34" charset="0"/>
                <a:cs typeface="Calibri" panose="020F0502020204030204" pitchFamily="34" charset="0"/>
              </a:rPr>
              <a:t>		…</a:t>
            </a:r>
          </a:p>
          <a:p>
            <a:pPr marL="0" indent="0">
              <a:spcBef>
                <a:spcPts val="0"/>
              </a:spcBef>
            </a:pPr>
            <a:r>
              <a:rPr lang="en-US" sz="2800" dirty="0">
                <a:latin typeface="Calibri" panose="020F0502020204030204" pitchFamily="34" charset="0"/>
                <a:cs typeface="Calibri" panose="020F0502020204030204" pitchFamily="34" charset="0"/>
              </a:rPr>
              <a:t>And assigns each pair a probability:</a:t>
            </a:r>
          </a:p>
          <a:p>
            <a:pPr marL="0" indent="0">
              <a:spcBef>
                <a:spcPts val="0"/>
              </a:spcBef>
            </a:pPr>
            <a:r>
              <a:rPr lang="en-US" sz="2800" dirty="0">
                <a:latin typeface="Calibri" panose="020F0502020204030204" pitchFamily="34" charset="0"/>
                <a:cs typeface="Calibri" panose="020F0502020204030204" pitchFamily="34" charset="0"/>
              </a:rPr>
              <a:t>	</a:t>
            </a:r>
            <a:r>
              <a:rPr lang="en-US" sz="3000" i="1" dirty="0"/>
              <a:t>P</a:t>
            </a:r>
            <a:r>
              <a:rPr lang="en-US" sz="3000" dirty="0"/>
              <a:t>(+|</a:t>
            </a:r>
            <a:r>
              <a:rPr lang="en-US" sz="3000" i="1" dirty="0"/>
              <a:t>w</a:t>
            </a:r>
            <a:r>
              <a:rPr lang="en-US" sz="3000" dirty="0"/>
              <a:t>, </a:t>
            </a:r>
            <a:r>
              <a:rPr lang="en-US" sz="3000" i="1" dirty="0"/>
              <a:t>c</a:t>
            </a:r>
            <a:r>
              <a:rPr lang="en-US" sz="3000" dirty="0"/>
              <a:t>) </a:t>
            </a:r>
          </a:p>
          <a:p>
            <a:pPr marL="0" indent="0">
              <a:spcBef>
                <a:spcPts val="0"/>
              </a:spcBef>
            </a:pPr>
            <a:r>
              <a:rPr lang="en-US" sz="3000" i="1" dirty="0"/>
              <a:t>	P</a:t>
            </a:r>
            <a:r>
              <a:rPr lang="en-US" sz="3000" dirty="0"/>
              <a:t>(−|</a:t>
            </a:r>
            <a:r>
              <a:rPr lang="en-US" sz="3000" i="1" dirty="0"/>
              <a:t>w</a:t>
            </a:r>
            <a:r>
              <a:rPr lang="en-US" sz="3000" dirty="0"/>
              <a:t>, </a:t>
            </a:r>
            <a:r>
              <a:rPr lang="en-US" sz="3000" i="1" dirty="0"/>
              <a:t>c</a:t>
            </a:r>
            <a:r>
              <a:rPr lang="en-US" sz="3000" dirty="0"/>
              <a:t>) = 1 − </a:t>
            </a:r>
            <a:r>
              <a:rPr lang="en-US" sz="3000" i="1" dirty="0"/>
              <a:t>P</a:t>
            </a:r>
            <a:r>
              <a:rPr lang="en-US" sz="3000" dirty="0"/>
              <a:t>(+|</a:t>
            </a:r>
            <a:r>
              <a:rPr lang="en-US" sz="3000" i="1" dirty="0"/>
              <a:t>w</a:t>
            </a:r>
            <a:r>
              <a:rPr lang="en-US" sz="3000" dirty="0"/>
              <a:t>, </a:t>
            </a:r>
            <a:r>
              <a:rPr lang="en-US" sz="3000" i="1" dirty="0"/>
              <a:t>c</a:t>
            </a:r>
            <a:r>
              <a:rPr lang="en-US" sz="3000" dirty="0"/>
              <a:t>) </a:t>
            </a:r>
          </a:p>
          <a:p>
            <a:pPr marL="0" indent="0">
              <a:spcBef>
                <a:spcPts val="0"/>
              </a:spcBef>
            </a:pPr>
            <a:endParaRPr lang="en-US" sz="3000" dirty="0"/>
          </a:p>
          <a:p>
            <a:pPr marL="0" indent="0">
              <a:spcBef>
                <a:spcPts val="0"/>
              </a:spcBef>
            </a:pPr>
            <a:endParaRPr lang="en-US" sz="2800" dirty="0">
              <a:latin typeface="Calibri" panose="020F0502020204030204" pitchFamily="34" charset="0"/>
              <a:cs typeface="Calibri" panose="020F0502020204030204" pitchFamily="34" charset="0"/>
            </a:endParaRPr>
          </a:p>
          <a:p>
            <a:pPr marL="0" indent="0">
              <a:spcBef>
                <a:spcPts val="0"/>
              </a:spcBef>
            </a:pPr>
            <a:endParaRPr lang="en-US" sz="2800" dirty="0">
              <a:latin typeface="Calibri" panose="020F0502020204030204" pitchFamily="34" charset="0"/>
              <a:cs typeface="Calibri" panose="020F0502020204030204" pitchFamily="34" charset="0"/>
            </a:endParaRPr>
          </a:p>
          <a:p>
            <a:endParaRPr lang="en-US" sz="3200" dirty="0"/>
          </a:p>
        </p:txBody>
      </p:sp>
      <p:sp>
        <p:nvSpPr>
          <p:cNvPr id="6" name="Rounded Rectangle 5">
            <a:extLst>
              <a:ext uri="{FF2B5EF4-FFF2-40B4-BE49-F238E27FC236}">
                <a16:creationId xmlns:a16="http://schemas.microsoft.com/office/drawing/2014/main" id="{2DC57D5D-02C0-314D-BE90-FF44065BE762}"/>
              </a:ext>
            </a:extLst>
          </p:cNvPr>
          <p:cNvSpPr/>
          <p:nvPr/>
        </p:nvSpPr>
        <p:spPr bwMode="auto">
          <a:xfrm>
            <a:off x="3352800" y="259080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dirty="0">
              <a:solidFill>
                <a:srgbClr val="009900"/>
              </a:solidFill>
              <a:latin typeface="Tahoma" charset="0"/>
            </a:endParaRPr>
          </a:p>
        </p:txBody>
      </p:sp>
      <p:sp>
        <p:nvSpPr>
          <p:cNvPr id="7" name="Rounded Rectangle 6">
            <a:extLst>
              <a:ext uri="{FF2B5EF4-FFF2-40B4-BE49-F238E27FC236}">
                <a16:creationId xmlns:a16="http://schemas.microsoft.com/office/drawing/2014/main" id="{C98D6C3B-275A-4E46-806B-FE9D39094B33}"/>
              </a:ext>
            </a:extLst>
          </p:cNvPr>
          <p:cNvSpPr/>
          <p:nvPr/>
        </p:nvSpPr>
        <p:spPr bwMode="auto">
          <a:xfrm>
            <a:off x="5846525" y="2590800"/>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Tree>
    <p:extLst>
      <p:ext uri="{BB962C8B-B14F-4D97-AF65-F5344CB8AC3E}">
        <p14:creationId xmlns:p14="http://schemas.microsoft.com/office/powerpoint/2010/main" val="133825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Similarity is computed from dot product</a:t>
            </a:r>
          </a:p>
        </p:txBody>
      </p:sp>
      <p:sp>
        <p:nvSpPr>
          <p:cNvPr id="3" name="Content Placeholder 2"/>
          <p:cNvSpPr>
            <a:spLocks noGrp="1"/>
          </p:cNvSpPr>
          <p:nvPr>
            <p:ph idx="1"/>
          </p:nvPr>
        </p:nvSpPr>
        <p:spPr/>
        <p:txBody>
          <a:bodyPr>
            <a:noAutofit/>
          </a:bodyPr>
          <a:lstStyle/>
          <a:p>
            <a:r>
              <a:rPr lang="en-US" sz="3600" dirty="0"/>
              <a:t>Remember: two vectors are similar if they have a high dot product</a:t>
            </a:r>
          </a:p>
          <a:p>
            <a:pPr lvl="1"/>
            <a:r>
              <a:rPr lang="en-US" sz="3600" dirty="0"/>
              <a:t>Cosine is just a normalized dot product</a:t>
            </a:r>
          </a:p>
          <a:p>
            <a:r>
              <a:rPr lang="en-US" sz="3600" dirty="0"/>
              <a:t>So:</a:t>
            </a:r>
          </a:p>
          <a:p>
            <a:pPr lvl="1"/>
            <a:r>
              <a:rPr lang="en-US" sz="3600" dirty="0"/>
              <a:t>Similarity(</a:t>
            </a:r>
            <a:r>
              <a:rPr lang="en-US" sz="3600" dirty="0" err="1"/>
              <a:t>w,c</a:t>
            </a:r>
            <a:r>
              <a:rPr lang="en-US" sz="3600" dirty="0"/>
              <a:t>)  ∝ w</a:t>
            </a:r>
            <a:r>
              <a:rPr lang="en-US" sz="3600" baseline="-25000" dirty="0"/>
              <a:t> </a:t>
            </a:r>
            <a:r>
              <a:rPr lang="en-US" sz="3600" dirty="0"/>
              <a:t>∙ c</a:t>
            </a:r>
            <a:endParaRPr lang="en-US" sz="3600" baseline="-25000" dirty="0"/>
          </a:p>
          <a:p>
            <a:r>
              <a:rPr lang="en-US" sz="3600" dirty="0"/>
              <a:t>We’ll need to normalize to get a probability </a:t>
            </a:r>
          </a:p>
          <a:p>
            <a:pPr lvl="1"/>
            <a:r>
              <a:rPr lang="en-US" sz="3400" dirty="0"/>
              <a:t>(cosine isn't a probability either)</a:t>
            </a:r>
          </a:p>
        </p:txBody>
      </p:sp>
      <p:sp>
        <p:nvSpPr>
          <p:cNvPr id="4" name="Slide Number Placeholder 3"/>
          <p:cNvSpPr>
            <a:spLocks noGrp="1"/>
          </p:cNvSpPr>
          <p:nvPr>
            <p:ph type="sldNum" sz="quarter" idx="12"/>
          </p:nvPr>
        </p:nvSpPr>
        <p:spPr>
          <a:xfrm>
            <a:off x="1828800" y="5562600"/>
            <a:ext cx="1981200" cy="342900"/>
          </a:xfrm>
          <a:prstGeom prst="rect">
            <a:avLst/>
          </a:prstGeom>
        </p:spPr>
        <p:txBody>
          <a:bodyPr/>
          <a:lstStyle/>
          <a:p>
            <a:fld id="{10F35DC5-7E65-8247-99AB-4E984F8A921E}" type="slidenum">
              <a:rPr lang="en-US" smtClean="0"/>
              <a:pPr/>
              <a:t>11</a:t>
            </a:fld>
            <a:endParaRPr lang="en-US"/>
          </a:p>
        </p:txBody>
      </p:sp>
    </p:spTree>
    <p:extLst>
      <p:ext uri="{BB962C8B-B14F-4D97-AF65-F5344CB8AC3E}">
        <p14:creationId xmlns:p14="http://schemas.microsoft.com/office/powerpoint/2010/main" val="1498324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Turning dot products into probabilities</a:t>
            </a:r>
          </a:p>
        </p:txBody>
      </p:sp>
      <p:sp>
        <p:nvSpPr>
          <p:cNvPr id="3" name="Content Placeholder 2"/>
          <p:cNvSpPr>
            <a:spLocks noGrp="1"/>
          </p:cNvSpPr>
          <p:nvPr>
            <p:ph idx="1"/>
          </p:nvPr>
        </p:nvSpPr>
        <p:spPr>
          <a:xfrm>
            <a:off x="1219200" y="1524000"/>
            <a:ext cx="10287000" cy="4023360"/>
          </a:xfrm>
        </p:spPr>
        <p:txBody>
          <a:bodyPr/>
          <a:lstStyle/>
          <a:p>
            <a:r>
              <a:rPr lang="en-US" sz="4000" dirty="0">
                <a:latin typeface="Times New Roman" charset="0"/>
                <a:ea typeface="Times New Roman" charset="0"/>
                <a:cs typeface="Times New Roman" charset="0"/>
              </a:rPr>
              <a:t>Sim(</a:t>
            </a:r>
            <a:r>
              <a:rPr lang="en-US" sz="4000" dirty="0" err="1">
                <a:latin typeface="Times New Roman" charset="0"/>
                <a:ea typeface="Times New Roman" charset="0"/>
                <a:cs typeface="Times New Roman" charset="0"/>
              </a:rPr>
              <a:t>w,c</a:t>
            </a:r>
            <a:r>
              <a:rPr lang="en-US" sz="4000" dirty="0">
                <a:latin typeface="Times New Roman" charset="0"/>
                <a:ea typeface="Times New Roman" charset="0"/>
                <a:cs typeface="Times New Roman" charset="0"/>
              </a:rPr>
              <a:t>) </a:t>
            </a:r>
            <a:r>
              <a:rPr lang="en-US" sz="4000" dirty="0"/>
              <a:t>≈ </a:t>
            </a:r>
            <a:r>
              <a:rPr lang="en-US" sz="4000" dirty="0">
                <a:latin typeface="Times New Roman" panose="02020603050405020304" pitchFamily="18" charset="0"/>
                <a:cs typeface="Times New Roman" panose="02020603050405020304" pitchFamily="18" charset="0"/>
              </a:rPr>
              <a:t>w</a:t>
            </a:r>
            <a:r>
              <a:rPr lang="en-US" sz="4000" i="1" dirty="0">
                <a:latin typeface="Times New Roman" panose="02020603050405020304" pitchFamily="18" charset="0"/>
                <a:ea typeface="Times New Roman" charset="0"/>
                <a:cs typeface="Times New Roman" panose="02020603050405020304" pitchFamily="18" charset="0"/>
              </a:rPr>
              <a:t> ∙ c</a:t>
            </a:r>
          </a:p>
          <a:p>
            <a:r>
              <a:rPr lang="en-US" sz="4000" dirty="0">
                <a:latin typeface="Calibri" charset="0"/>
                <a:ea typeface="Calibri" charset="0"/>
                <a:cs typeface="Calibri" charset="0"/>
              </a:rPr>
              <a:t>To turn this into a probability </a:t>
            </a:r>
          </a:p>
          <a:p>
            <a:r>
              <a:rPr lang="en-US" sz="4000" dirty="0">
                <a:latin typeface="Calibri" charset="0"/>
                <a:ea typeface="Calibri" charset="0"/>
                <a:cs typeface="Calibri" charset="0"/>
              </a:rPr>
              <a:t>We'll use the sigmoid from logistic regression:</a:t>
            </a:r>
          </a:p>
          <a:p>
            <a:endParaRPr lang="en-US" dirty="0"/>
          </a:p>
        </p:txBody>
      </p:sp>
      <p:pic>
        <p:nvPicPr>
          <p:cNvPr id="5" name="Picture 4">
            <a:extLst>
              <a:ext uri="{FF2B5EF4-FFF2-40B4-BE49-F238E27FC236}">
                <a16:creationId xmlns:a16="http://schemas.microsoft.com/office/drawing/2014/main" id="{AF7EBE09-610D-7244-A376-CBEF72D96B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3086" y="3772568"/>
            <a:ext cx="7324725" cy="1028032"/>
          </a:xfrm>
          <a:prstGeom prst="rect">
            <a:avLst/>
          </a:prstGeom>
        </p:spPr>
      </p:pic>
      <p:pic>
        <p:nvPicPr>
          <p:cNvPr id="6" name="Picture 5">
            <a:extLst>
              <a:ext uri="{FF2B5EF4-FFF2-40B4-BE49-F238E27FC236}">
                <a16:creationId xmlns:a16="http://schemas.microsoft.com/office/drawing/2014/main" id="{20607A7E-9962-E34D-9536-E5E3A72BE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8816" y="5029200"/>
            <a:ext cx="7375421" cy="1832945"/>
          </a:xfrm>
          <a:prstGeom prst="rect">
            <a:avLst/>
          </a:prstGeom>
        </p:spPr>
      </p:pic>
    </p:spTree>
    <p:extLst>
      <p:ext uri="{BB962C8B-B14F-4D97-AF65-F5344CB8AC3E}">
        <p14:creationId xmlns:p14="http://schemas.microsoft.com/office/powerpoint/2010/main" val="32817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603"/>
            <a:ext cx="11231880" cy="907196"/>
          </a:xfrm>
        </p:spPr>
        <p:txBody>
          <a:bodyPr>
            <a:normAutofit/>
          </a:bodyPr>
          <a:lstStyle/>
          <a:p>
            <a:r>
              <a:rPr lang="en-US" b="0" dirty="0"/>
              <a:t>How Skip-Gram Classifier computes </a:t>
            </a:r>
            <a:r>
              <a:rPr lang="en-US" i="1" dirty="0"/>
              <a:t>P</a:t>
            </a:r>
            <a:r>
              <a:rPr lang="en-US" dirty="0"/>
              <a:t>(+|</a:t>
            </a:r>
            <a:r>
              <a:rPr lang="en-US" i="1" dirty="0"/>
              <a:t>w</a:t>
            </a:r>
            <a:r>
              <a:rPr lang="en-US" dirty="0"/>
              <a:t>, </a:t>
            </a:r>
            <a:r>
              <a:rPr lang="en-US" i="1" dirty="0"/>
              <a:t>c</a:t>
            </a:r>
            <a:r>
              <a:rPr lang="en-US" dirty="0"/>
              <a:t>) </a:t>
            </a:r>
            <a:endParaRPr lang="en-US" b="0" dirty="0"/>
          </a:p>
        </p:txBody>
      </p:sp>
      <p:sp>
        <p:nvSpPr>
          <p:cNvPr id="3" name="Content Placeholder 2"/>
          <p:cNvSpPr>
            <a:spLocks noGrp="1"/>
          </p:cNvSpPr>
          <p:nvPr>
            <p:ph idx="1"/>
          </p:nvPr>
        </p:nvSpPr>
        <p:spPr>
          <a:xfrm>
            <a:off x="1219200" y="2133600"/>
            <a:ext cx="10972800" cy="4191000"/>
          </a:xfrm>
        </p:spPr>
        <p:txBody>
          <a:bodyPr>
            <a:normAutofit/>
          </a:bodyPr>
          <a:lstStyle/>
          <a:p>
            <a:pPr marL="0" indent="0">
              <a:spcBef>
                <a:spcPts val="0"/>
              </a:spcBef>
            </a:pPr>
            <a:r>
              <a:rPr lang="en-US" sz="2800" dirty="0">
                <a:latin typeface="Calibri" panose="020F0502020204030204" pitchFamily="34" charset="0"/>
                <a:cs typeface="Calibri" panose="020F0502020204030204" pitchFamily="34" charset="0"/>
              </a:rPr>
              <a:t>This is for one context word, but we have lots of context words.</a:t>
            </a:r>
          </a:p>
          <a:p>
            <a:pPr marL="0" indent="0">
              <a:spcBef>
                <a:spcPts val="0"/>
              </a:spcBef>
            </a:pPr>
            <a:r>
              <a:rPr lang="en-US" sz="2800" dirty="0">
                <a:latin typeface="Calibri" panose="020F0502020204030204" pitchFamily="34" charset="0"/>
                <a:cs typeface="Calibri" panose="020F0502020204030204" pitchFamily="34" charset="0"/>
              </a:rPr>
              <a:t>We'll assume independence and just multiply them:</a:t>
            </a:r>
          </a:p>
          <a:p>
            <a:pPr marL="0" indent="0">
              <a:spcBef>
                <a:spcPts val="0"/>
              </a:spcBef>
            </a:pPr>
            <a:endParaRPr lang="en-US" sz="2800" dirty="0"/>
          </a:p>
          <a:p>
            <a:pPr marL="0" indent="0">
              <a:spcBef>
                <a:spcPts val="0"/>
              </a:spcBef>
            </a:pPr>
            <a:endParaRPr lang="en-US" sz="2800" dirty="0">
              <a:latin typeface="Calibri" panose="020F0502020204030204" pitchFamily="34" charset="0"/>
              <a:cs typeface="Calibri" panose="020F0502020204030204" pitchFamily="34" charset="0"/>
            </a:endParaRPr>
          </a:p>
          <a:p>
            <a:endParaRPr lang="en-US" sz="3200" dirty="0"/>
          </a:p>
        </p:txBody>
      </p:sp>
      <p:pic>
        <p:nvPicPr>
          <p:cNvPr id="9" name="Picture 8">
            <a:extLst>
              <a:ext uri="{FF2B5EF4-FFF2-40B4-BE49-F238E27FC236}">
                <a16:creationId xmlns:a16="http://schemas.microsoft.com/office/drawing/2014/main" id="{7AA63A49-99F1-994C-B490-F1ED7C6C9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371600"/>
            <a:ext cx="4886318" cy="685799"/>
          </a:xfrm>
          <a:prstGeom prst="rect">
            <a:avLst/>
          </a:prstGeom>
        </p:spPr>
      </p:pic>
      <p:pic>
        <p:nvPicPr>
          <p:cNvPr id="6" name="Picture 5">
            <a:extLst>
              <a:ext uri="{FF2B5EF4-FFF2-40B4-BE49-F238E27FC236}">
                <a16:creationId xmlns:a16="http://schemas.microsoft.com/office/drawing/2014/main" id="{E549A47C-4B5E-564D-AF5D-CF5F27C421C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63336" y="3657600"/>
            <a:ext cx="5571063" cy="2539192"/>
          </a:xfrm>
          <a:prstGeom prst="rect">
            <a:avLst/>
          </a:prstGeom>
        </p:spPr>
      </p:pic>
    </p:spTree>
    <p:extLst>
      <p:ext uri="{BB962C8B-B14F-4D97-AF65-F5344CB8AC3E}">
        <p14:creationId xmlns:p14="http://schemas.microsoft.com/office/powerpoint/2010/main" val="35481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F3F83-5178-9748-9912-E4A277048490}"/>
              </a:ext>
            </a:extLst>
          </p:cNvPr>
          <p:cNvSpPr>
            <a:spLocks noGrp="1"/>
          </p:cNvSpPr>
          <p:nvPr>
            <p:ph type="title"/>
          </p:nvPr>
        </p:nvSpPr>
        <p:spPr/>
        <p:txBody>
          <a:bodyPr/>
          <a:lstStyle/>
          <a:p>
            <a:r>
              <a:rPr lang="en-US" dirty="0"/>
              <a:t>Skip-gram classifier: summary</a:t>
            </a:r>
          </a:p>
        </p:txBody>
      </p:sp>
      <p:sp>
        <p:nvSpPr>
          <p:cNvPr id="3" name="Content Placeholder 2">
            <a:extLst>
              <a:ext uri="{FF2B5EF4-FFF2-40B4-BE49-F238E27FC236}">
                <a16:creationId xmlns:a16="http://schemas.microsoft.com/office/drawing/2014/main" id="{7750CA1F-2951-E24E-B20D-2F60E5E558B0}"/>
              </a:ext>
            </a:extLst>
          </p:cNvPr>
          <p:cNvSpPr>
            <a:spLocks noGrp="1"/>
          </p:cNvSpPr>
          <p:nvPr>
            <p:ph idx="1"/>
          </p:nvPr>
        </p:nvSpPr>
        <p:spPr>
          <a:xfrm>
            <a:off x="1097281" y="1600200"/>
            <a:ext cx="11094719" cy="4572000"/>
          </a:xfrm>
        </p:spPr>
        <p:txBody>
          <a:bodyPr/>
          <a:lstStyle/>
          <a:p>
            <a:r>
              <a:rPr lang="en-US" dirty="0"/>
              <a:t>A probabilistic classifier, given </a:t>
            </a:r>
          </a:p>
          <a:p>
            <a:pPr marL="1100653" lvl="1" indent="-571500">
              <a:buFont typeface="Arial" panose="020B0604020202020204" pitchFamily="34" charset="0"/>
              <a:buChar char="•"/>
            </a:pPr>
            <a:r>
              <a:rPr lang="en-US" sz="3600" dirty="0"/>
              <a:t>a test target word </a:t>
            </a:r>
            <a:r>
              <a:rPr lang="en-US" sz="3600" i="1" dirty="0"/>
              <a:t>w </a:t>
            </a:r>
          </a:p>
          <a:p>
            <a:pPr marL="1100653" lvl="1" indent="-571500">
              <a:buFont typeface="Arial" panose="020B0604020202020204" pitchFamily="34" charset="0"/>
              <a:buChar char="•"/>
            </a:pPr>
            <a:r>
              <a:rPr lang="en-US" sz="3600" dirty="0"/>
              <a:t>its context window of </a:t>
            </a:r>
            <a:r>
              <a:rPr lang="en-US" sz="3600" i="1" dirty="0"/>
              <a:t>L </a:t>
            </a:r>
            <a:r>
              <a:rPr lang="en-US" sz="3600" dirty="0"/>
              <a:t>words </a:t>
            </a:r>
            <a:r>
              <a:rPr lang="en-US" sz="3600" i="1" dirty="0"/>
              <a:t>c</a:t>
            </a:r>
            <a:r>
              <a:rPr lang="en-US" sz="3600" baseline="-25000" dirty="0"/>
              <a:t>1:</a:t>
            </a:r>
            <a:r>
              <a:rPr lang="en-US" sz="3600" i="1" baseline="-25000" dirty="0"/>
              <a:t>L</a:t>
            </a:r>
            <a:endParaRPr lang="en-US" sz="3600" dirty="0"/>
          </a:p>
          <a:p>
            <a:r>
              <a:rPr lang="en-US" dirty="0"/>
              <a:t>Estimates probability that w occurs in this window based on similarity of w (embeddings) to </a:t>
            </a:r>
            <a:r>
              <a:rPr lang="en-US" sz="4000" i="1" dirty="0"/>
              <a:t>c</a:t>
            </a:r>
            <a:r>
              <a:rPr lang="en-US" sz="4000" baseline="-25000" dirty="0"/>
              <a:t>1:</a:t>
            </a:r>
            <a:r>
              <a:rPr lang="en-US" sz="4000" i="1" baseline="-25000" dirty="0"/>
              <a:t>L</a:t>
            </a:r>
            <a:r>
              <a:rPr lang="en-US" sz="4000" dirty="0"/>
              <a:t> </a:t>
            </a:r>
            <a:r>
              <a:rPr lang="en-US" dirty="0"/>
              <a:t>(embeddings).</a:t>
            </a:r>
          </a:p>
          <a:p>
            <a:endParaRPr lang="en-US" dirty="0"/>
          </a:p>
          <a:p>
            <a:r>
              <a:rPr lang="en-US" dirty="0"/>
              <a:t>To compute this, we just need embeddings for all the words.</a:t>
            </a:r>
          </a:p>
        </p:txBody>
      </p:sp>
    </p:spTree>
    <p:extLst>
      <p:ext uri="{BB962C8B-B14F-4D97-AF65-F5344CB8AC3E}">
        <p14:creationId xmlns:p14="http://schemas.microsoft.com/office/powerpoint/2010/main" val="228999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2F2A8-0384-4B49-9319-CD30ECB335C1}"/>
              </a:ext>
            </a:extLst>
          </p:cNvPr>
          <p:cNvSpPr>
            <a:spLocks noGrp="1"/>
          </p:cNvSpPr>
          <p:nvPr>
            <p:ph type="title"/>
          </p:nvPr>
        </p:nvSpPr>
        <p:spPr>
          <a:xfrm>
            <a:off x="533400" y="159603"/>
            <a:ext cx="11430000" cy="907196"/>
          </a:xfrm>
        </p:spPr>
        <p:txBody>
          <a:bodyPr>
            <a:normAutofit fontScale="90000"/>
          </a:bodyPr>
          <a:lstStyle/>
          <a:p>
            <a:r>
              <a:rPr lang="en-US" dirty="0"/>
              <a:t>These embeddings we'll need: a set for w, a set for c</a:t>
            </a:r>
          </a:p>
        </p:txBody>
      </p:sp>
      <p:pic>
        <p:nvPicPr>
          <p:cNvPr id="5" name="Content Placeholder 4">
            <a:extLst>
              <a:ext uri="{FF2B5EF4-FFF2-40B4-BE49-F238E27FC236}">
                <a16:creationId xmlns:a16="http://schemas.microsoft.com/office/drawing/2014/main" id="{7382CE1D-DA01-A84B-9AA2-2A131B5FD4A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6688" y="1522291"/>
            <a:ext cx="7358623" cy="5105401"/>
          </a:xfrm>
        </p:spPr>
      </p:pic>
    </p:spTree>
    <p:extLst>
      <p:ext uri="{BB962C8B-B14F-4D97-AF65-F5344CB8AC3E}">
        <p14:creationId xmlns:p14="http://schemas.microsoft.com/office/powerpoint/2010/main" val="46007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Word2vec</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20874719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Word2vec: Learning the embeddings</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79240452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p>
        </p:txBody>
      </p:sp>
      <p:sp>
        <p:nvSpPr>
          <p:cNvPr id="3" name="Content Placeholder 2"/>
          <p:cNvSpPr>
            <a:spLocks noGrp="1"/>
          </p:cNvSpPr>
          <p:nvPr>
            <p:ph idx="1"/>
          </p:nvPr>
        </p:nvSpPr>
        <p:spPr>
          <a:xfrm>
            <a:off x="1828801" y="1845734"/>
            <a:ext cx="8839200" cy="2116666"/>
          </a:xfrm>
          <a:solidFill>
            <a:srgbClr val="FFFFFF"/>
          </a:solidFill>
        </p:spPr>
        <p:txBody>
          <a:bodyPr>
            <a:noAutofit/>
          </a:bodyPr>
          <a:lstStyle/>
          <a:p>
            <a:pPr marL="0" indent="0"/>
            <a:endParaRPr lang="en-US" sz="3200" dirty="0"/>
          </a:p>
          <a:p>
            <a:pPr marL="201168" lvl="1" indent="0">
              <a:spcAft>
                <a:spcPts val="0"/>
              </a:spcAft>
              <a:buNone/>
            </a:pPr>
            <a:r>
              <a:rPr lang="en-US" sz="3200" dirty="0"/>
              <a:t>…lemon, a [tablespoon of  apricot  jam,   a]  pinch…</a:t>
            </a:r>
          </a:p>
          <a:p>
            <a:pPr marL="0" indent="0">
              <a:spcBef>
                <a:spcPts val="0"/>
              </a:spcBef>
            </a:pPr>
            <a:r>
              <a:rPr lang="en-US" sz="2800" dirty="0">
                <a:latin typeface="Times New Roman" panose="02020603050405020304" pitchFamily="18" charset="0"/>
                <a:cs typeface="Times New Roman" panose="02020603050405020304" pitchFamily="18" charset="0"/>
              </a:rPr>
              <a:t>                        c1                   c2 </a:t>
            </a:r>
            <a:r>
              <a:rPr lang="en-US" sz="2800" dirty="0">
                <a:solidFill>
                  <a:srgbClr val="FF0000"/>
                </a:solidFill>
                <a:latin typeface="Times New Roman" panose="02020603050405020304" pitchFamily="18" charset="0"/>
                <a:cs typeface="Times New Roman" panose="02020603050405020304" pitchFamily="18" charset="0"/>
              </a:rPr>
              <a:t>[target]</a:t>
            </a:r>
            <a:r>
              <a:rPr lang="en-US" sz="2800" dirty="0">
                <a:latin typeface="Times New Roman" panose="02020603050405020304" pitchFamily="18" charset="0"/>
                <a:cs typeface="Times New Roman" panose="02020603050405020304" pitchFamily="18" charset="0"/>
              </a:rPr>
              <a:t>    c3      c4</a:t>
            </a:r>
          </a:p>
          <a:p>
            <a:pPr marL="342900" lvl="1" indent="-342900">
              <a:buClrTx/>
            </a:pPr>
            <a:endParaRPr lang="en-US" sz="3600" i="1" dirty="0"/>
          </a:p>
          <a:p>
            <a:pPr marL="342900" lvl="2" indent="0">
              <a:buNone/>
            </a:pPr>
            <a:endParaRPr lang="en-US" sz="2800" i="1"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panose="020F0502020204030204"/>
              </a:rPr>
              <a:pPr>
                <a:defRPr/>
              </a:pPr>
              <a:t>18</a:t>
            </a:fld>
            <a:endParaRPr lang="en-US" sz="1050">
              <a:latin typeface="Calibri" panose="020F0502020204030204"/>
            </a:endParaRPr>
          </a:p>
        </p:txBody>
      </p:sp>
      <p:sp>
        <p:nvSpPr>
          <p:cNvPr id="7" name="Down Arrow 6"/>
          <p:cNvSpPr/>
          <p:nvPr/>
        </p:nvSpPr>
        <p:spPr bwMode="auto">
          <a:xfrm rot="10800000">
            <a:off x="6809462" y="3213701"/>
            <a:ext cx="152400" cy="374571"/>
          </a:xfrm>
          <a:prstGeom prst="downArrow">
            <a:avLst/>
          </a:prstGeom>
          <a:solidFill>
            <a:schemeClr val="accent1">
              <a:alpha val="5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8" name="Rounded Rectangle 7"/>
          <p:cNvSpPr/>
          <p:nvPr/>
        </p:nvSpPr>
        <p:spPr bwMode="auto">
          <a:xfrm>
            <a:off x="3429000" y="2372117"/>
            <a:ext cx="2438400" cy="374571"/>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12" name="Rounded Rectangle 11">
            <a:extLst>
              <a:ext uri="{FF2B5EF4-FFF2-40B4-BE49-F238E27FC236}">
                <a16:creationId xmlns:a16="http://schemas.microsoft.com/office/drawing/2014/main" id="{D151C39F-6D26-5147-8BD3-FC179D88048D}"/>
              </a:ext>
            </a:extLst>
          </p:cNvPr>
          <p:cNvSpPr/>
          <p:nvPr/>
        </p:nvSpPr>
        <p:spPr bwMode="auto">
          <a:xfrm>
            <a:off x="3810000" y="235809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dirty="0">
              <a:solidFill>
                <a:srgbClr val="009900"/>
              </a:solidFill>
              <a:latin typeface="Tahoma" charset="0"/>
            </a:endParaRPr>
          </a:p>
        </p:txBody>
      </p:sp>
      <p:sp>
        <p:nvSpPr>
          <p:cNvPr id="13" name="Rounded Rectangle 12">
            <a:extLst>
              <a:ext uri="{FF2B5EF4-FFF2-40B4-BE49-F238E27FC236}">
                <a16:creationId xmlns:a16="http://schemas.microsoft.com/office/drawing/2014/main" id="{65DFDAD5-9856-1945-9A03-7513F9542A27}"/>
              </a:ext>
            </a:extLst>
          </p:cNvPr>
          <p:cNvSpPr/>
          <p:nvPr/>
        </p:nvSpPr>
        <p:spPr bwMode="auto">
          <a:xfrm>
            <a:off x="6379926" y="2378545"/>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pic>
        <p:nvPicPr>
          <p:cNvPr id="14" name="Picture 13">
            <a:extLst>
              <a:ext uri="{FF2B5EF4-FFF2-40B4-BE49-F238E27FC236}">
                <a16:creationId xmlns:a16="http://schemas.microsoft.com/office/drawing/2014/main" id="{22398593-8B96-4040-B3CE-02A54825C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4191000"/>
            <a:ext cx="3060526" cy="2538846"/>
          </a:xfrm>
          <a:prstGeom prst="rect">
            <a:avLst/>
          </a:prstGeom>
        </p:spPr>
      </p:pic>
    </p:spTree>
    <p:extLst>
      <p:ext uri="{BB962C8B-B14F-4D97-AF65-F5344CB8AC3E}">
        <p14:creationId xmlns:p14="http://schemas.microsoft.com/office/powerpoint/2010/main" val="4216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p>
        </p:txBody>
      </p:sp>
      <p:sp>
        <p:nvSpPr>
          <p:cNvPr id="3" name="Content Placeholder 2"/>
          <p:cNvSpPr>
            <a:spLocks noGrp="1"/>
          </p:cNvSpPr>
          <p:nvPr>
            <p:ph idx="1"/>
          </p:nvPr>
        </p:nvSpPr>
        <p:spPr>
          <a:xfrm>
            <a:off x="1828801" y="1845734"/>
            <a:ext cx="8839200" cy="2116666"/>
          </a:xfrm>
          <a:solidFill>
            <a:srgbClr val="FFFFFF"/>
          </a:solidFill>
        </p:spPr>
        <p:txBody>
          <a:bodyPr>
            <a:noAutofit/>
          </a:bodyPr>
          <a:lstStyle/>
          <a:p>
            <a:pPr marL="0" indent="0"/>
            <a:endParaRPr lang="en-US" sz="3200" dirty="0"/>
          </a:p>
          <a:p>
            <a:pPr marL="201168" lvl="1" indent="0">
              <a:spcAft>
                <a:spcPts val="0"/>
              </a:spcAft>
              <a:buNone/>
            </a:pPr>
            <a:r>
              <a:rPr lang="en-US" sz="3200" dirty="0"/>
              <a:t>…lemon, a [tablespoon of  apricot  jam,   a]  pinch…</a:t>
            </a:r>
          </a:p>
          <a:p>
            <a:pPr marL="0" indent="0">
              <a:spcBef>
                <a:spcPts val="0"/>
              </a:spcBef>
            </a:pPr>
            <a:r>
              <a:rPr lang="en-US" sz="2800" dirty="0">
                <a:latin typeface="Times New Roman" panose="02020603050405020304" pitchFamily="18" charset="0"/>
                <a:cs typeface="Times New Roman" panose="02020603050405020304" pitchFamily="18" charset="0"/>
              </a:rPr>
              <a:t>                        c1                   c2 </a:t>
            </a:r>
            <a:r>
              <a:rPr lang="en-US" sz="2800" dirty="0">
                <a:solidFill>
                  <a:srgbClr val="FF0000"/>
                </a:solidFill>
                <a:latin typeface="Times New Roman" panose="02020603050405020304" pitchFamily="18" charset="0"/>
                <a:cs typeface="Times New Roman" panose="02020603050405020304" pitchFamily="18" charset="0"/>
              </a:rPr>
              <a:t>[target]</a:t>
            </a:r>
            <a:r>
              <a:rPr lang="en-US" sz="2800" dirty="0">
                <a:latin typeface="Times New Roman" panose="02020603050405020304" pitchFamily="18" charset="0"/>
                <a:cs typeface="Times New Roman" panose="02020603050405020304" pitchFamily="18" charset="0"/>
              </a:rPr>
              <a:t>    c3      c4</a:t>
            </a:r>
          </a:p>
          <a:p>
            <a:pPr marL="342900" lvl="1" indent="-342900">
              <a:buClrTx/>
            </a:pPr>
            <a:endParaRPr lang="en-US" sz="3600" i="1" dirty="0"/>
          </a:p>
          <a:p>
            <a:pPr marL="342900" lvl="2" indent="0">
              <a:buNone/>
            </a:pPr>
            <a:endParaRPr lang="en-US" sz="2800" i="1"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panose="020F0502020204030204"/>
              </a:rPr>
              <a:pPr>
                <a:defRPr/>
              </a:pPr>
              <a:t>19</a:t>
            </a:fld>
            <a:endParaRPr lang="en-US" sz="1050">
              <a:latin typeface="Calibri" panose="020F0502020204030204"/>
            </a:endParaRPr>
          </a:p>
        </p:txBody>
      </p:sp>
      <p:sp>
        <p:nvSpPr>
          <p:cNvPr id="7" name="Down Arrow 6"/>
          <p:cNvSpPr/>
          <p:nvPr/>
        </p:nvSpPr>
        <p:spPr bwMode="auto">
          <a:xfrm rot="10800000">
            <a:off x="6809462" y="3213701"/>
            <a:ext cx="152400" cy="374571"/>
          </a:xfrm>
          <a:prstGeom prst="downArrow">
            <a:avLst/>
          </a:prstGeom>
          <a:solidFill>
            <a:schemeClr val="accent1">
              <a:alpha val="5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8" name="Rounded Rectangle 7"/>
          <p:cNvSpPr/>
          <p:nvPr/>
        </p:nvSpPr>
        <p:spPr bwMode="auto">
          <a:xfrm>
            <a:off x="3429000" y="2372117"/>
            <a:ext cx="2438400" cy="374571"/>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12" name="Rounded Rectangle 11">
            <a:extLst>
              <a:ext uri="{FF2B5EF4-FFF2-40B4-BE49-F238E27FC236}">
                <a16:creationId xmlns:a16="http://schemas.microsoft.com/office/drawing/2014/main" id="{D151C39F-6D26-5147-8BD3-FC179D88048D}"/>
              </a:ext>
            </a:extLst>
          </p:cNvPr>
          <p:cNvSpPr/>
          <p:nvPr/>
        </p:nvSpPr>
        <p:spPr bwMode="auto">
          <a:xfrm>
            <a:off x="3810000" y="235809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dirty="0">
              <a:solidFill>
                <a:srgbClr val="009900"/>
              </a:solidFill>
              <a:latin typeface="Tahoma" charset="0"/>
            </a:endParaRPr>
          </a:p>
        </p:txBody>
      </p:sp>
      <p:sp>
        <p:nvSpPr>
          <p:cNvPr id="13" name="Rounded Rectangle 12">
            <a:extLst>
              <a:ext uri="{FF2B5EF4-FFF2-40B4-BE49-F238E27FC236}">
                <a16:creationId xmlns:a16="http://schemas.microsoft.com/office/drawing/2014/main" id="{65DFDAD5-9856-1945-9A03-7513F9542A27}"/>
              </a:ext>
            </a:extLst>
          </p:cNvPr>
          <p:cNvSpPr/>
          <p:nvPr/>
        </p:nvSpPr>
        <p:spPr bwMode="auto">
          <a:xfrm>
            <a:off x="6379926" y="2378545"/>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4" name="TextBox 3">
            <a:extLst>
              <a:ext uri="{FF2B5EF4-FFF2-40B4-BE49-F238E27FC236}">
                <a16:creationId xmlns:a16="http://schemas.microsoft.com/office/drawing/2014/main" id="{C3E0C8E6-A824-4A42-8238-D3405C8F8741}"/>
              </a:ext>
            </a:extLst>
          </p:cNvPr>
          <p:cNvSpPr txBox="1"/>
          <p:nvPr/>
        </p:nvSpPr>
        <p:spPr>
          <a:xfrm>
            <a:off x="5874970" y="4300090"/>
            <a:ext cx="4184213" cy="2062103"/>
          </a:xfrm>
          <a:prstGeom prst="rect">
            <a:avLst/>
          </a:prstGeom>
          <a:noFill/>
        </p:spPr>
        <p:txBody>
          <a:bodyPr wrap="square" rtlCol="0">
            <a:spAutoFit/>
          </a:bodyPr>
          <a:lstStyle/>
          <a:p>
            <a:r>
              <a:rPr lang="en-US" sz="3200" dirty="0"/>
              <a:t>For each positive example we'll grab k negative examples, sampling by frequency</a:t>
            </a:r>
          </a:p>
        </p:txBody>
      </p:sp>
      <p:pic>
        <p:nvPicPr>
          <p:cNvPr id="14" name="Picture 13">
            <a:extLst>
              <a:ext uri="{FF2B5EF4-FFF2-40B4-BE49-F238E27FC236}">
                <a16:creationId xmlns:a16="http://schemas.microsoft.com/office/drawing/2014/main" id="{89DAEEC3-C1A3-D945-8852-C6A091A15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4191000"/>
            <a:ext cx="3060526" cy="2538846"/>
          </a:xfrm>
          <a:prstGeom prst="rect">
            <a:avLst/>
          </a:prstGeom>
        </p:spPr>
      </p:pic>
    </p:spTree>
    <p:extLst>
      <p:ext uri="{BB962C8B-B14F-4D97-AF65-F5344CB8AC3E}">
        <p14:creationId xmlns:p14="http://schemas.microsoft.com/office/powerpoint/2010/main" val="2325852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p>
        </p:txBody>
      </p:sp>
      <p:sp>
        <p:nvSpPr>
          <p:cNvPr id="3" name="Content Placeholder 2"/>
          <p:cNvSpPr>
            <a:spLocks noGrp="1"/>
          </p:cNvSpPr>
          <p:nvPr>
            <p:ph idx="1"/>
          </p:nvPr>
        </p:nvSpPr>
        <p:spPr>
          <a:xfrm>
            <a:off x="1828801" y="1845734"/>
            <a:ext cx="8839200" cy="2116666"/>
          </a:xfrm>
          <a:solidFill>
            <a:srgbClr val="FFFFFF"/>
          </a:solidFill>
        </p:spPr>
        <p:txBody>
          <a:bodyPr>
            <a:noAutofit/>
          </a:bodyPr>
          <a:lstStyle/>
          <a:p>
            <a:pPr marL="0" indent="0"/>
            <a:endParaRPr lang="en-US" sz="3200" dirty="0"/>
          </a:p>
          <a:p>
            <a:pPr marL="201168" lvl="1" indent="0">
              <a:spcAft>
                <a:spcPts val="0"/>
              </a:spcAft>
              <a:buNone/>
            </a:pPr>
            <a:r>
              <a:rPr lang="en-US" sz="3200" dirty="0"/>
              <a:t>…lemon, a [tablespoon of  apricot  jam,   a]  pinch…</a:t>
            </a:r>
          </a:p>
          <a:p>
            <a:pPr marL="0" indent="0">
              <a:spcBef>
                <a:spcPts val="0"/>
              </a:spcBef>
            </a:pPr>
            <a:r>
              <a:rPr lang="en-US" sz="2800" dirty="0">
                <a:latin typeface="Times New Roman" panose="02020603050405020304" pitchFamily="18" charset="0"/>
                <a:cs typeface="Times New Roman" panose="02020603050405020304" pitchFamily="18" charset="0"/>
              </a:rPr>
              <a:t>                        c1                   c2 </a:t>
            </a:r>
            <a:r>
              <a:rPr lang="en-US" sz="2800" dirty="0">
                <a:solidFill>
                  <a:srgbClr val="FF0000"/>
                </a:solidFill>
                <a:latin typeface="Times New Roman" panose="02020603050405020304" pitchFamily="18" charset="0"/>
                <a:cs typeface="Times New Roman" panose="02020603050405020304" pitchFamily="18" charset="0"/>
              </a:rPr>
              <a:t>[target]</a:t>
            </a:r>
            <a:r>
              <a:rPr lang="en-US" sz="2800" dirty="0">
                <a:latin typeface="Times New Roman" panose="02020603050405020304" pitchFamily="18" charset="0"/>
                <a:cs typeface="Times New Roman" panose="02020603050405020304" pitchFamily="18" charset="0"/>
              </a:rPr>
              <a:t>    c3      c4</a:t>
            </a:r>
          </a:p>
          <a:p>
            <a:pPr marL="342900" lvl="1" indent="-342900">
              <a:buClrTx/>
            </a:pPr>
            <a:endParaRPr lang="en-US" sz="3600" i="1" dirty="0"/>
          </a:p>
          <a:p>
            <a:pPr marL="342900" lvl="2" indent="0">
              <a:buNone/>
            </a:pPr>
            <a:endParaRPr lang="en-US" sz="2800" i="1"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panose="020F0502020204030204"/>
              </a:rPr>
              <a:pPr>
                <a:defRPr/>
              </a:pPr>
              <a:t>20</a:t>
            </a:fld>
            <a:endParaRPr lang="en-US" sz="1050">
              <a:latin typeface="Calibri" panose="020F0502020204030204"/>
            </a:endParaRPr>
          </a:p>
        </p:txBody>
      </p:sp>
      <p:sp>
        <p:nvSpPr>
          <p:cNvPr id="7" name="Down Arrow 6"/>
          <p:cNvSpPr/>
          <p:nvPr/>
        </p:nvSpPr>
        <p:spPr bwMode="auto">
          <a:xfrm rot="10800000">
            <a:off x="6809462" y="3213701"/>
            <a:ext cx="152400" cy="374571"/>
          </a:xfrm>
          <a:prstGeom prst="downArrow">
            <a:avLst/>
          </a:prstGeom>
          <a:solidFill>
            <a:schemeClr val="accent1">
              <a:alpha val="5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8" name="Rounded Rectangle 7"/>
          <p:cNvSpPr/>
          <p:nvPr/>
        </p:nvSpPr>
        <p:spPr bwMode="auto">
          <a:xfrm>
            <a:off x="3429000" y="2372117"/>
            <a:ext cx="2438400" cy="374571"/>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sp>
        <p:nvSpPr>
          <p:cNvPr id="12" name="Rounded Rectangle 11">
            <a:extLst>
              <a:ext uri="{FF2B5EF4-FFF2-40B4-BE49-F238E27FC236}">
                <a16:creationId xmlns:a16="http://schemas.microsoft.com/office/drawing/2014/main" id="{D151C39F-6D26-5147-8BD3-FC179D88048D}"/>
              </a:ext>
            </a:extLst>
          </p:cNvPr>
          <p:cNvSpPr/>
          <p:nvPr/>
        </p:nvSpPr>
        <p:spPr bwMode="auto">
          <a:xfrm>
            <a:off x="3810000" y="235809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dirty="0">
              <a:solidFill>
                <a:srgbClr val="009900"/>
              </a:solidFill>
              <a:latin typeface="Tahoma" charset="0"/>
            </a:endParaRPr>
          </a:p>
        </p:txBody>
      </p:sp>
      <p:sp>
        <p:nvSpPr>
          <p:cNvPr id="13" name="Rounded Rectangle 12">
            <a:extLst>
              <a:ext uri="{FF2B5EF4-FFF2-40B4-BE49-F238E27FC236}">
                <a16:creationId xmlns:a16="http://schemas.microsoft.com/office/drawing/2014/main" id="{65DFDAD5-9856-1945-9A03-7513F9542A27}"/>
              </a:ext>
            </a:extLst>
          </p:cNvPr>
          <p:cNvSpPr/>
          <p:nvPr/>
        </p:nvSpPr>
        <p:spPr bwMode="auto">
          <a:xfrm>
            <a:off x="6379926" y="2378545"/>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defRPr/>
            </a:pPr>
            <a:endParaRPr lang="en-US" sz="1600">
              <a:solidFill>
                <a:srgbClr val="009900"/>
              </a:solidFill>
              <a:latin typeface="Tahoma" charset="0"/>
            </a:endParaRPr>
          </a:p>
        </p:txBody>
      </p:sp>
      <p:pic>
        <p:nvPicPr>
          <p:cNvPr id="9" name="Picture 8">
            <a:extLst>
              <a:ext uri="{FF2B5EF4-FFF2-40B4-BE49-F238E27FC236}">
                <a16:creationId xmlns:a16="http://schemas.microsoft.com/office/drawing/2014/main" id="{9A4040E3-BE76-DD4C-B3B7-51FB0D3F3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4191000"/>
            <a:ext cx="3060526" cy="2538846"/>
          </a:xfrm>
          <a:prstGeom prst="rect">
            <a:avLst/>
          </a:prstGeom>
        </p:spPr>
      </p:pic>
      <p:pic>
        <p:nvPicPr>
          <p:cNvPr id="10" name="Picture 9">
            <a:extLst>
              <a:ext uri="{FF2B5EF4-FFF2-40B4-BE49-F238E27FC236}">
                <a16:creationId xmlns:a16="http://schemas.microsoft.com/office/drawing/2014/main" id="{E4D21135-8403-6C40-9C46-5EB9D9F870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0" y="4212466"/>
            <a:ext cx="5242922" cy="2621461"/>
          </a:xfrm>
          <a:prstGeom prst="rect">
            <a:avLst/>
          </a:prstGeom>
        </p:spPr>
      </p:pic>
    </p:spTree>
    <p:extLst>
      <p:ext uri="{BB962C8B-B14F-4D97-AF65-F5344CB8AC3E}">
        <p14:creationId xmlns:p14="http://schemas.microsoft.com/office/powerpoint/2010/main" val="2901372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6960" y="286605"/>
            <a:ext cx="7543800" cy="1084996"/>
          </a:xfrm>
        </p:spPr>
        <p:txBody>
          <a:bodyPr>
            <a:normAutofit fontScale="90000"/>
          </a:bodyPr>
          <a:lstStyle/>
          <a:p>
            <a:r>
              <a:rPr lang="en-US" b="0" dirty="0"/>
              <a:t>Word2vec: how to learn vectors</a:t>
            </a:r>
          </a:p>
        </p:txBody>
      </p:sp>
      <p:sp>
        <p:nvSpPr>
          <p:cNvPr id="3" name="Content Placeholder 2"/>
          <p:cNvSpPr>
            <a:spLocks noGrp="1"/>
          </p:cNvSpPr>
          <p:nvPr>
            <p:ph idx="1"/>
          </p:nvPr>
        </p:nvSpPr>
        <p:spPr>
          <a:xfrm>
            <a:off x="762000" y="1752600"/>
            <a:ext cx="10881361" cy="4614052"/>
          </a:xfrm>
        </p:spPr>
        <p:txBody>
          <a:bodyPr>
            <a:normAutofit/>
          </a:bodyPr>
          <a:lstStyle/>
          <a:p>
            <a:r>
              <a:rPr lang="en-US" sz="3600" dirty="0"/>
              <a:t>Given the set of positive and negative training instances, and an initial set of embedding vectors </a:t>
            </a:r>
          </a:p>
          <a:p>
            <a:r>
              <a:rPr lang="en-US" sz="3600" dirty="0"/>
              <a:t>The goal of learning is to adjust those word vectors such that we:</a:t>
            </a:r>
          </a:p>
          <a:p>
            <a:pPr lvl="1"/>
            <a:r>
              <a:rPr lang="en-US" b="1" dirty="0"/>
              <a:t>Maximize</a:t>
            </a:r>
            <a:r>
              <a:rPr lang="en-US" dirty="0"/>
              <a:t> the similarity of the </a:t>
            </a:r>
            <a:r>
              <a:rPr lang="en-US" dirty="0">
                <a:solidFill>
                  <a:srgbClr val="009900"/>
                </a:solidFill>
              </a:rPr>
              <a:t>target word</a:t>
            </a:r>
            <a:r>
              <a:rPr lang="en-US" dirty="0"/>
              <a:t>, </a:t>
            </a:r>
            <a:r>
              <a:rPr lang="en-US" dirty="0">
                <a:solidFill>
                  <a:srgbClr val="009900"/>
                </a:solidFill>
              </a:rPr>
              <a:t>context word</a:t>
            </a:r>
            <a:r>
              <a:rPr lang="en-US" dirty="0"/>
              <a:t> pairs (w , </a:t>
            </a:r>
            <a:r>
              <a:rPr lang="en-US" dirty="0" err="1"/>
              <a:t>c</a:t>
            </a:r>
            <a:r>
              <a:rPr lang="en-US" baseline="-25000" dirty="0" err="1"/>
              <a:t>pos</a:t>
            </a:r>
            <a:r>
              <a:rPr lang="en-US" dirty="0"/>
              <a:t>) drawn from the positive data</a:t>
            </a:r>
          </a:p>
          <a:p>
            <a:pPr lvl="1"/>
            <a:r>
              <a:rPr lang="en-US" b="1" dirty="0"/>
              <a:t>Minimize</a:t>
            </a:r>
            <a:r>
              <a:rPr lang="en-US" dirty="0"/>
              <a:t> the similarity of the (w , </a:t>
            </a:r>
            <a:r>
              <a:rPr lang="en-US" dirty="0" err="1"/>
              <a:t>c</a:t>
            </a:r>
            <a:r>
              <a:rPr lang="en-US" baseline="-25000" dirty="0" err="1"/>
              <a:t>neg</a:t>
            </a:r>
            <a:r>
              <a:rPr lang="en-US" dirty="0"/>
              <a:t>) pairs drawn from the negative data</a:t>
            </a:r>
            <a:r>
              <a:rPr lang="en-US" sz="3600" dirty="0"/>
              <a:t>. </a:t>
            </a:r>
          </a:p>
          <a:p>
            <a:pPr lvl="1"/>
            <a:endParaRPr lang="en-US" dirty="0"/>
          </a:p>
        </p:txBody>
      </p:sp>
      <p:sp>
        <p:nvSpPr>
          <p:cNvPr id="4" name="Date Placeholder 3"/>
          <p:cNvSpPr>
            <a:spLocks noGrp="1"/>
          </p:cNvSpPr>
          <p:nvPr>
            <p:ph type="dt" sz="half" idx="10"/>
          </p:nvPr>
        </p:nvSpPr>
        <p:spPr>
          <a:xfrm>
            <a:off x="1524000" y="6459539"/>
            <a:ext cx="1854200" cy="365125"/>
          </a:xfrm>
          <a:prstGeom prst="rect">
            <a:avLst/>
          </a:prstGeom>
        </p:spPr>
        <p:txBody>
          <a:bodyPr/>
          <a:lstStyle/>
          <a:p>
            <a:pPr>
              <a:defRPr/>
            </a:pPr>
            <a:fld id="{6E1A785C-C965-5D40-AAFE-C6AFD50D11D0}" type="datetime1">
              <a:rPr lang="en-US" smtClean="0"/>
              <a:pPr>
                <a:defRPr/>
              </a:pPr>
              <a:t>11/9/2025</a:t>
            </a:fld>
            <a:endParaRPr lang="en-US"/>
          </a:p>
        </p:txBody>
      </p:sp>
      <p:sp>
        <p:nvSpPr>
          <p:cNvPr id="6" name="Slide Number Placeholder 5"/>
          <p:cNvSpPr>
            <a:spLocks noGrp="1"/>
          </p:cNvSpPr>
          <p:nvPr>
            <p:ph type="sldNum" sz="quarter" idx="12"/>
          </p:nvPr>
        </p:nvSpPr>
        <p:spPr>
          <a:xfrm>
            <a:off x="9683750" y="6459539"/>
            <a:ext cx="984250" cy="365125"/>
          </a:xfrm>
          <a:prstGeom prst="rect">
            <a:avLst/>
          </a:prstGeom>
        </p:spPr>
        <p:txBody>
          <a:bodyPr/>
          <a:lstStyle/>
          <a:p>
            <a:pPr>
              <a:defRPr/>
            </a:pPr>
            <a:fld id="{713DD8BE-556E-3440-9013-11CC5588178D}" type="slidenum">
              <a:rPr lang="en-US" smtClean="0"/>
              <a:pPr>
                <a:defRPr/>
              </a:pPr>
              <a:t>21</a:t>
            </a:fld>
            <a:endParaRPr lang="en-US"/>
          </a:p>
        </p:txBody>
      </p:sp>
    </p:spTree>
    <p:extLst>
      <p:ext uri="{BB962C8B-B14F-4D97-AF65-F5344CB8AC3E}">
        <p14:creationId xmlns:p14="http://schemas.microsoft.com/office/powerpoint/2010/main" val="1301077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Loss function for one </a:t>
            </a:r>
            <a:r>
              <a:rPr lang="en-US" i="1" dirty="0"/>
              <a:t>w with </a:t>
            </a:r>
            <a:r>
              <a:rPr lang="en-US" i="1" dirty="0" err="1"/>
              <a:t>c</a:t>
            </a:r>
            <a:r>
              <a:rPr lang="en-US" i="1" baseline="-25000" dirty="0" err="1"/>
              <a:t>pos</a:t>
            </a:r>
            <a:r>
              <a:rPr lang="en-US" i="1" dirty="0"/>
              <a:t> , c</a:t>
            </a:r>
            <a:r>
              <a:rPr lang="en-US" i="1" baseline="-25000" dirty="0"/>
              <a:t>neg</a:t>
            </a:r>
            <a:r>
              <a:rPr lang="en-US" baseline="-25000" dirty="0"/>
              <a:t>1</a:t>
            </a:r>
            <a:r>
              <a:rPr lang="en-US" dirty="0"/>
              <a:t> ...</a:t>
            </a:r>
            <a:r>
              <a:rPr lang="en-US" i="1" dirty="0" err="1"/>
              <a:t>c</a:t>
            </a:r>
            <a:r>
              <a:rPr lang="en-US" i="1" baseline="-25000" dirty="0" err="1"/>
              <a:t>negk</a:t>
            </a:r>
            <a:r>
              <a:rPr lang="en-US" i="1" dirty="0"/>
              <a:t> </a:t>
            </a:r>
            <a:endParaRPr lang="en-US" dirty="0"/>
          </a:p>
        </p:txBody>
      </p:sp>
      <p:sp>
        <p:nvSpPr>
          <p:cNvPr id="3" name="Content Placeholder 2"/>
          <p:cNvSpPr>
            <a:spLocks noGrp="1"/>
          </p:cNvSpPr>
          <p:nvPr>
            <p:ph idx="1"/>
          </p:nvPr>
        </p:nvSpPr>
        <p:spPr>
          <a:xfrm>
            <a:off x="1066799" y="1219200"/>
            <a:ext cx="10088881" cy="4572000"/>
          </a:xfrm>
        </p:spPr>
        <p:txBody>
          <a:bodyPr>
            <a:normAutofit/>
          </a:bodyPr>
          <a:lstStyle/>
          <a:p>
            <a:r>
              <a:rPr lang="en-US" sz="2800" dirty="0"/>
              <a:t>Maximize the similarity of the target with the actual context words, and minimize the similarity of the target with the </a:t>
            </a:r>
            <a:r>
              <a:rPr lang="en-US" sz="2800" i="1" dirty="0"/>
              <a:t>k </a:t>
            </a:r>
            <a:r>
              <a:rPr lang="en-US" sz="2800" dirty="0"/>
              <a:t>negative sampled non-neighbor words. </a:t>
            </a:r>
            <a:endParaRPr lang="en-US" sz="2400" dirty="0"/>
          </a:p>
          <a:p>
            <a:endParaRPr lang="en-US" sz="3600" dirty="0"/>
          </a:p>
        </p:txBody>
      </p:sp>
      <p:pic>
        <p:nvPicPr>
          <p:cNvPr id="6" name="Picture 5">
            <a:extLst>
              <a:ext uri="{FF2B5EF4-FFF2-40B4-BE49-F238E27FC236}">
                <a16:creationId xmlns:a16="http://schemas.microsoft.com/office/drawing/2014/main" id="{7752612A-1B4A-614C-AAE0-F1340E78E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2628681"/>
            <a:ext cx="7129423" cy="4229319"/>
          </a:xfrm>
          <a:prstGeom prst="rect">
            <a:avLst/>
          </a:prstGeom>
        </p:spPr>
      </p:pic>
    </p:spTree>
    <p:extLst>
      <p:ext uri="{BB962C8B-B14F-4D97-AF65-F5344CB8AC3E}">
        <p14:creationId xmlns:p14="http://schemas.microsoft.com/office/powerpoint/2010/main" val="2286065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the classifier</a:t>
            </a:r>
          </a:p>
        </p:txBody>
      </p:sp>
      <p:sp>
        <p:nvSpPr>
          <p:cNvPr id="3" name="Content Placeholder 2"/>
          <p:cNvSpPr>
            <a:spLocks noGrp="1"/>
          </p:cNvSpPr>
          <p:nvPr>
            <p:ph idx="1"/>
          </p:nvPr>
        </p:nvSpPr>
        <p:spPr/>
        <p:txBody>
          <a:bodyPr>
            <a:normAutofit/>
          </a:bodyPr>
          <a:lstStyle/>
          <a:p>
            <a:r>
              <a:rPr lang="en-US" sz="3200" dirty="0"/>
              <a:t>How to learn?</a:t>
            </a:r>
          </a:p>
          <a:p>
            <a:pPr lvl="1"/>
            <a:r>
              <a:rPr lang="en-US" dirty="0"/>
              <a:t>Stochastic gradient descent!</a:t>
            </a:r>
          </a:p>
          <a:p>
            <a:endParaRPr lang="en-US" sz="3200" dirty="0"/>
          </a:p>
          <a:p>
            <a:r>
              <a:rPr lang="en-US" sz="3200" dirty="0"/>
              <a:t>We’ll adjust the word weights to</a:t>
            </a:r>
          </a:p>
          <a:p>
            <a:pPr lvl="1"/>
            <a:r>
              <a:rPr lang="en-US" sz="2800" dirty="0"/>
              <a:t>make the positive pairs more likely </a:t>
            </a:r>
          </a:p>
          <a:p>
            <a:pPr lvl="1"/>
            <a:r>
              <a:rPr lang="en-US" sz="2800" dirty="0"/>
              <a:t>and the negative pairs less likely, </a:t>
            </a:r>
          </a:p>
          <a:p>
            <a:pPr lvl="1"/>
            <a:r>
              <a:rPr lang="en-US" sz="2800" dirty="0"/>
              <a:t>over the entire training set.</a:t>
            </a:r>
          </a:p>
          <a:p>
            <a:endParaRPr lang="en-US" dirty="0"/>
          </a:p>
        </p:txBody>
      </p:sp>
    </p:spTree>
    <p:extLst>
      <p:ext uri="{BB962C8B-B14F-4D97-AF65-F5344CB8AC3E}">
        <p14:creationId xmlns:p14="http://schemas.microsoft.com/office/powerpoint/2010/main" val="602705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A6520-9CF2-F946-A1B8-AF268B6A42AA}"/>
              </a:ext>
            </a:extLst>
          </p:cNvPr>
          <p:cNvSpPr>
            <a:spLocks noGrp="1"/>
          </p:cNvSpPr>
          <p:nvPr>
            <p:ph type="title"/>
          </p:nvPr>
        </p:nvSpPr>
        <p:spPr/>
        <p:txBody>
          <a:bodyPr/>
          <a:lstStyle/>
          <a:p>
            <a:r>
              <a:rPr lang="en-US" dirty="0"/>
              <a:t>Intuition of one step of gradient descent</a:t>
            </a:r>
          </a:p>
        </p:txBody>
      </p:sp>
      <p:pic>
        <p:nvPicPr>
          <p:cNvPr id="5" name="Content Placeholder 4">
            <a:extLst>
              <a:ext uri="{FF2B5EF4-FFF2-40B4-BE49-F238E27FC236}">
                <a16:creationId xmlns:a16="http://schemas.microsoft.com/office/drawing/2014/main" id="{8B0FC5CD-59D8-6347-8715-8800B9886B4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9989" y="1447800"/>
            <a:ext cx="8812021" cy="5158510"/>
          </a:xfrm>
        </p:spPr>
      </p:pic>
    </p:spTree>
    <p:extLst>
      <p:ext uri="{BB962C8B-B14F-4D97-AF65-F5344CB8AC3E}">
        <p14:creationId xmlns:p14="http://schemas.microsoft.com/office/powerpoint/2010/main" val="326864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1E60E-0680-484E-9022-16D464A33A3A}"/>
              </a:ext>
            </a:extLst>
          </p:cNvPr>
          <p:cNvSpPr>
            <a:spLocks noGrp="1"/>
          </p:cNvSpPr>
          <p:nvPr>
            <p:ph type="title"/>
          </p:nvPr>
        </p:nvSpPr>
        <p:spPr/>
        <p:txBody>
          <a:bodyPr/>
          <a:lstStyle/>
          <a:p>
            <a:r>
              <a:rPr lang="en-US" dirty="0"/>
              <a:t>Reminder: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E274FA-5BD6-B742-8392-3BA4F639B657}"/>
                  </a:ext>
                </a:extLst>
              </p:cNvPr>
              <p:cNvSpPr>
                <a:spLocks noGrp="1"/>
              </p:cNvSpPr>
              <p:nvPr>
                <p:ph idx="1"/>
              </p:nvPr>
            </p:nvSpPr>
            <p:spPr/>
            <p:txBody>
              <a:bodyPr/>
              <a:lstStyle/>
              <a:p>
                <a:pPr marL="457200" indent="-457200">
                  <a:buFont typeface="Arial" panose="020B0604020202020204" pitchFamily="34" charset="0"/>
                  <a:buChar char="•"/>
                </a:pPr>
                <a:r>
                  <a:rPr lang="en-US" dirty="0"/>
                  <a:t>At each step</a:t>
                </a:r>
              </a:p>
              <a:p>
                <a:pPr marL="986353" lvl="1" indent="-457200">
                  <a:buFont typeface="Arial" panose="020B0604020202020204" pitchFamily="34" charset="0"/>
                  <a:buChar char="•"/>
                </a:pPr>
                <a:r>
                  <a:rPr lang="en-US" dirty="0"/>
                  <a:t>Direction: We move in the reverse direction from the gradient of the loss function</a:t>
                </a:r>
              </a:p>
              <a:p>
                <a:pPr marL="986353" lvl="1" indent="-457200">
                  <a:buFont typeface="Arial" panose="020B0604020202020204" pitchFamily="34" charset="0"/>
                  <a:buChar char="•"/>
                </a:pPr>
                <a:r>
                  <a:rPr lang="en-US" dirty="0"/>
                  <a:t>Magnitude: we move the value of this gradient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𝑑𝑤</m:t>
                        </m:r>
                      </m:den>
                    </m:f>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oMath>
                </a14:m>
                <a:r>
                  <a:rPr lang="en-US" dirty="0"/>
                  <a:t> weighted by a </a:t>
                </a:r>
                <a:r>
                  <a:rPr lang="en-US" b="1" dirty="0"/>
                  <a:t>learning rate </a:t>
                </a:r>
                <a:r>
                  <a:rPr lang="el-GR" dirty="0"/>
                  <a:t>η </a:t>
                </a:r>
                <a:endParaRPr lang="en-US" dirty="0"/>
              </a:p>
              <a:p>
                <a:pPr marL="986353" lvl="1" indent="-457200">
                  <a:buFont typeface="Arial" panose="020B0604020202020204" pitchFamily="34" charset="0"/>
                  <a:buChar char="•"/>
                </a:pPr>
                <a:r>
                  <a:rPr lang="en-US" dirty="0"/>
                  <a:t>Higher learning rate means move </a:t>
                </a:r>
                <a:r>
                  <a:rPr lang="en-US" i="1" dirty="0"/>
                  <a:t>w</a:t>
                </a:r>
                <a:r>
                  <a:rPr lang="en-US" dirty="0"/>
                  <a:t> faster</a:t>
                </a:r>
              </a:p>
              <a:p>
                <a:endParaRPr lang="en-US" dirty="0"/>
              </a:p>
            </p:txBody>
          </p:sp>
        </mc:Choice>
        <mc:Fallback xmlns="">
          <p:sp>
            <p:nvSpPr>
              <p:cNvPr id="3" name="Content Placeholder 2">
                <a:extLst>
                  <a:ext uri="{FF2B5EF4-FFF2-40B4-BE49-F238E27FC236}">
                    <a16:creationId xmlns:a16="http://schemas.microsoft.com/office/drawing/2014/main" id="{84E274FA-5BD6-B742-8392-3BA4F639B657}"/>
                  </a:ext>
                </a:extLst>
              </p:cNvPr>
              <p:cNvSpPr>
                <a:spLocks noGrp="1" noRot="1" noChangeAspect="1" noMove="1" noResize="1" noEditPoints="1" noAdjustHandles="1" noChangeArrowheads="1" noChangeShapeType="1" noTextEdit="1"/>
              </p:cNvSpPr>
              <p:nvPr>
                <p:ph idx="1"/>
              </p:nvPr>
            </p:nvSpPr>
            <p:spPr>
              <a:blipFill>
                <a:blip r:embed="rId2"/>
                <a:stretch>
                  <a:fillRect l="-2648" t="-360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50B919D-34B8-8546-A04A-44B85E1A0D45}"/>
              </a:ext>
            </a:extLst>
          </p:cNvPr>
          <p:cNvPicPr>
            <a:picLocks noChangeAspect="1"/>
          </p:cNvPicPr>
          <p:nvPr/>
        </p:nvPicPr>
        <p:blipFill>
          <a:blip r:embed="rId3"/>
          <a:srcRect/>
          <a:stretch/>
        </p:blipFill>
        <p:spPr>
          <a:xfrm>
            <a:off x="2667000" y="5257800"/>
            <a:ext cx="5797832" cy="1066800"/>
          </a:xfrm>
          <a:prstGeom prst="rect">
            <a:avLst/>
          </a:prstGeom>
        </p:spPr>
      </p:pic>
    </p:spTree>
    <p:extLst>
      <p:ext uri="{BB962C8B-B14F-4D97-AF65-F5344CB8AC3E}">
        <p14:creationId xmlns:p14="http://schemas.microsoft.com/office/powerpoint/2010/main" val="1870413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DAC-632E-2C44-8A24-3B1D0BEF0145}"/>
              </a:ext>
            </a:extLst>
          </p:cNvPr>
          <p:cNvSpPr>
            <a:spLocks noGrp="1"/>
          </p:cNvSpPr>
          <p:nvPr>
            <p:ph type="title"/>
          </p:nvPr>
        </p:nvSpPr>
        <p:spPr/>
        <p:txBody>
          <a:bodyPr/>
          <a:lstStyle/>
          <a:p>
            <a:r>
              <a:rPr lang="en-US" dirty="0"/>
              <a:t>The derivatives of the loss function</a:t>
            </a:r>
          </a:p>
        </p:txBody>
      </p:sp>
      <p:pic>
        <p:nvPicPr>
          <p:cNvPr id="5" name="Content Placeholder 4">
            <a:extLst>
              <a:ext uri="{FF2B5EF4-FFF2-40B4-BE49-F238E27FC236}">
                <a16:creationId xmlns:a16="http://schemas.microsoft.com/office/drawing/2014/main" id="{36D05662-D579-834E-A48D-F3A40E0F1CE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1200" y="2686791"/>
            <a:ext cx="8980557" cy="3860800"/>
          </a:xfrm>
        </p:spPr>
      </p:pic>
      <p:pic>
        <p:nvPicPr>
          <p:cNvPr id="7" name="Picture 6">
            <a:extLst>
              <a:ext uri="{FF2B5EF4-FFF2-40B4-BE49-F238E27FC236}">
                <a16:creationId xmlns:a16="http://schemas.microsoft.com/office/drawing/2014/main" id="{AC0C0019-287B-B143-8AB5-76E4AED157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835" y="1571898"/>
            <a:ext cx="1438835" cy="639482"/>
          </a:xfrm>
          <a:prstGeom prst="rect">
            <a:avLst/>
          </a:prstGeom>
        </p:spPr>
      </p:pic>
      <p:pic>
        <p:nvPicPr>
          <p:cNvPr id="9" name="Picture 8">
            <a:extLst>
              <a:ext uri="{FF2B5EF4-FFF2-40B4-BE49-F238E27FC236}">
                <a16:creationId xmlns:a16="http://schemas.microsoft.com/office/drawing/2014/main" id="{62B0FAA9-2998-A944-A239-5F2A84B707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8400" y="1212189"/>
            <a:ext cx="6794500" cy="1358900"/>
          </a:xfrm>
          <a:prstGeom prst="rect">
            <a:avLst/>
          </a:prstGeom>
        </p:spPr>
      </p:pic>
    </p:spTree>
    <p:extLst>
      <p:ext uri="{BB962C8B-B14F-4D97-AF65-F5344CB8AC3E}">
        <p14:creationId xmlns:p14="http://schemas.microsoft.com/office/powerpoint/2010/main" val="2403270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6020-EF81-9842-BD7B-B93CB4A23B41}"/>
              </a:ext>
            </a:extLst>
          </p:cNvPr>
          <p:cNvSpPr>
            <a:spLocks noGrp="1"/>
          </p:cNvSpPr>
          <p:nvPr>
            <p:ph type="title"/>
          </p:nvPr>
        </p:nvSpPr>
        <p:spPr/>
        <p:txBody>
          <a:bodyPr/>
          <a:lstStyle/>
          <a:p>
            <a:r>
              <a:rPr lang="en-US" dirty="0"/>
              <a:t>Update equation in SGD</a:t>
            </a:r>
          </a:p>
        </p:txBody>
      </p:sp>
      <p:pic>
        <p:nvPicPr>
          <p:cNvPr id="5" name="Content Placeholder 4">
            <a:extLst>
              <a:ext uri="{FF2B5EF4-FFF2-40B4-BE49-F238E27FC236}">
                <a16:creationId xmlns:a16="http://schemas.microsoft.com/office/drawing/2014/main" id="{105869D5-C247-3643-8339-9D87B256B67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295400" y="2326209"/>
            <a:ext cx="10289466" cy="2871478"/>
          </a:xfrm>
        </p:spPr>
      </p:pic>
      <p:sp>
        <p:nvSpPr>
          <p:cNvPr id="6" name="TextBox 5">
            <a:extLst>
              <a:ext uri="{FF2B5EF4-FFF2-40B4-BE49-F238E27FC236}">
                <a16:creationId xmlns:a16="http://schemas.microsoft.com/office/drawing/2014/main" id="{9B0F4B20-85B3-9246-9CAA-1FA13C26A04B}"/>
              </a:ext>
            </a:extLst>
          </p:cNvPr>
          <p:cNvSpPr txBox="1"/>
          <p:nvPr/>
        </p:nvSpPr>
        <p:spPr>
          <a:xfrm>
            <a:off x="1045029" y="1698171"/>
            <a:ext cx="10152203" cy="461665"/>
          </a:xfrm>
          <a:prstGeom prst="rect">
            <a:avLst/>
          </a:prstGeom>
          <a:noFill/>
        </p:spPr>
        <p:txBody>
          <a:bodyPr wrap="none" rtlCol="0">
            <a:spAutoFit/>
          </a:bodyPr>
          <a:lstStyle/>
          <a:p>
            <a:r>
              <a:rPr lang="en-US" sz="2400" dirty="0"/>
              <a:t>Start with randomly initialized C and W matrices, then incrementally do updates</a:t>
            </a:r>
          </a:p>
        </p:txBody>
      </p:sp>
    </p:spTree>
    <p:extLst>
      <p:ext uri="{BB962C8B-B14F-4D97-AF65-F5344CB8AC3E}">
        <p14:creationId xmlns:p14="http://schemas.microsoft.com/office/powerpoint/2010/main" val="3134903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0CCD-962A-C041-9A70-E2F395F5D4BA}"/>
              </a:ext>
            </a:extLst>
          </p:cNvPr>
          <p:cNvSpPr>
            <a:spLocks noGrp="1"/>
          </p:cNvSpPr>
          <p:nvPr>
            <p:ph type="title"/>
          </p:nvPr>
        </p:nvSpPr>
        <p:spPr/>
        <p:txBody>
          <a:bodyPr/>
          <a:lstStyle/>
          <a:p>
            <a:r>
              <a:rPr lang="en-US" dirty="0"/>
              <a:t>Two sets of embeddings</a:t>
            </a:r>
          </a:p>
        </p:txBody>
      </p:sp>
      <p:sp>
        <p:nvSpPr>
          <p:cNvPr id="3" name="Content Placeholder 2">
            <a:extLst>
              <a:ext uri="{FF2B5EF4-FFF2-40B4-BE49-F238E27FC236}">
                <a16:creationId xmlns:a16="http://schemas.microsoft.com/office/drawing/2014/main" id="{84104A14-DC4C-6A4C-AD35-32D2AB76A995}"/>
              </a:ext>
            </a:extLst>
          </p:cNvPr>
          <p:cNvSpPr>
            <a:spLocks noGrp="1"/>
          </p:cNvSpPr>
          <p:nvPr>
            <p:ph idx="1"/>
          </p:nvPr>
        </p:nvSpPr>
        <p:spPr/>
        <p:txBody>
          <a:bodyPr/>
          <a:lstStyle/>
          <a:p>
            <a:r>
              <a:rPr lang="en-US" dirty="0"/>
              <a:t>SGNS learns two sets of embeddings</a:t>
            </a:r>
          </a:p>
          <a:p>
            <a:r>
              <a:rPr lang="en-US" dirty="0"/>
              <a:t>		Target embeddings matrix W</a:t>
            </a:r>
          </a:p>
          <a:p>
            <a:r>
              <a:rPr lang="en-US" dirty="0"/>
              <a:t>		Context embedding matrix C </a:t>
            </a:r>
          </a:p>
          <a:p>
            <a:r>
              <a:rPr lang="en-US" dirty="0"/>
              <a:t>It's common to just add them together, representing word </a:t>
            </a:r>
            <a:r>
              <a:rPr lang="en-US" i="1" dirty="0" err="1"/>
              <a:t>i</a:t>
            </a:r>
            <a:r>
              <a:rPr lang="en-US" dirty="0"/>
              <a:t> as the vector  </a:t>
            </a:r>
            <a:r>
              <a:rPr lang="en-US" dirty="0" err="1">
                <a:latin typeface="Times New Roman" panose="02020603050405020304" pitchFamily="18" charset="0"/>
                <a:cs typeface="Times New Roman" panose="02020603050405020304" pitchFamily="18" charset="0"/>
              </a:rPr>
              <a:t>w</a:t>
            </a:r>
            <a:r>
              <a:rPr lang="en-US" baseline="-25000" dirty="0" err="1">
                <a:latin typeface="Times New Roman" panose="02020603050405020304" pitchFamily="18" charset="0"/>
                <a:cs typeface="Times New Roman" panose="02020603050405020304" pitchFamily="18" charset="0"/>
              </a:rPr>
              <a:t>i</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c</a:t>
            </a:r>
            <a:r>
              <a:rPr lang="en-US" baseline="-25000" dirty="0">
                <a:latin typeface="Times New Roman" panose="02020603050405020304" pitchFamily="18" charset="0"/>
                <a:cs typeface="Times New Roman" panose="02020603050405020304" pitchFamily="18" charset="0"/>
              </a:rPr>
              <a:t>i</a:t>
            </a:r>
          </a:p>
        </p:txBody>
      </p:sp>
    </p:spTree>
    <p:extLst>
      <p:ext uri="{BB962C8B-B14F-4D97-AF65-F5344CB8AC3E}">
        <p14:creationId xmlns:p14="http://schemas.microsoft.com/office/powerpoint/2010/main" val="38968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09600"/>
            <a:ext cx="10058400" cy="907196"/>
          </a:xfrm>
        </p:spPr>
        <p:txBody>
          <a:bodyPr>
            <a:normAutofit fontScale="90000"/>
          </a:bodyPr>
          <a:lstStyle/>
          <a:p>
            <a:r>
              <a:rPr lang="en-US" dirty="0"/>
              <a:t>Summary: How to learn word2vec (skip-gram) </a:t>
            </a:r>
            <a:r>
              <a:rPr lang="en-US" dirty="0" err="1"/>
              <a:t>embeddings</a:t>
            </a:r>
            <a:endParaRPr lang="en-US" dirty="0"/>
          </a:p>
        </p:txBody>
      </p:sp>
      <p:sp>
        <p:nvSpPr>
          <p:cNvPr id="3" name="Content Placeholder 2"/>
          <p:cNvSpPr>
            <a:spLocks noGrp="1"/>
          </p:cNvSpPr>
          <p:nvPr>
            <p:ph idx="1"/>
          </p:nvPr>
        </p:nvSpPr>
        <p:spPr>
          <a:xfrm>
            <a:off x="1097280" y="1752600"/>
            <a:ext cx="10789920" cy="5181600"/>
          </a:xfrm>
        </p:spPr>
        <p:txBody>
          <a:bodyPr>
            <a:noAutofit/>
          </a:bodyPr>
          <a:lstStyle/>
          <a:p>
            <a:r>
              <a:rPr lang="en-US" dirty="0"/>
              <a:t>Start with V random d-dimensional vectors as initial embeddings</a:t>
            </a:r>
          </a:p>
          <a:p>
            <a:r>
              <a:rPr lang="en-US" dirty="0"/>
              <a:t>Train a classifier based on embedding similarity</a:t>
            </a:r>
          </a:p>
          <a:p>
            <a:pPr marL="409575" lvl="1" indent="-173038"/>
            <a:r>
              <a:rPr lang="en-US" dirty="0"/>
              <a:t>Take a corpus and take pairs of words that co-occur as positive examples</a:t>
            </a:r>
          </a:p>
          <a:p>
            <a:pPr marL="409575" lvl="1" indent="-173038"/>
            <a:r>
              <a:rPr lang="en-US" dirty="0"/>
              <a:t>Take pairs of words that don't co-occur as negative examples</a:t>
            </a:r>
          </a:p>
          <a:p>
            <a:pPr marL="409575" lvl="1" indent="-173038"/>
            <a:r>
              <a:rPr lang="en-US" dirty="0"/>
              <a:t>Train the classifier to distinguish these by slowly adjusting all the </a:t>
            </a:r>
            <a:r>
              <a:rPr lang="en-US" dirty="0" err="1"/>
              <a:t>embeddings</a:t>
            </a:r>
            <a:r>
              <a:rPr lang="en-US" dirty="0"/>
              <a:t> to improve the classifier performance</a:t>
            </a:r>
          </a:p>
          <a:p>
            <a:pPr marL="409575" lvl="1" indent="-173038"/>
            <a:r>
              <a:rPr lang="en-US" dirty="0"/>
              <a:t>Throw away the classifier code and keep the </a:t>
            </a:r>
            <a:r>
              <a:rPr lang="en-US" dirty="0" err="1"/>
              <a:t>embeddings</a:t>
            </a:r>
            <a:r>
              <a:rPr lang="en-US" dirty="0"/>
              <a:t>.</a:t>
            </a:r>
          </a:p>
        </p:txBody>
      </p:sp>
    </p:spTree>
    <p:extLst>
      <p:ext uri="{BB962C8B-B14F-4D97-AF65-F5344CB8AC3E}">
        <p14:creationId xmlns:p14="http://schemas.microsoft.com/office/powerpoint/2010/main" val="3079820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Word2vec: Learning the embeddings</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19066992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Properties of Embeddings</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45404737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9603"/>
            <a:ext cx="11506200" cy="907196"/>
          </a:xfrm>
        </p:spPr>
        <p:txBody>
          <a:bodyPr>
            <a:normAutofit/>
          </a:bodyPr>
          <a:lstStyle/>
          <a:p>
            <a:r>
              <a:rPr lang="en-US" dirty="0"/>
              <a:t>The kinds of neighbors depend on window size</a:t>
            </a:r>
          </a:p>
        </p:txBody>
      </p:sp>
      <p:sp>
        <p:nvSpPr>
          <p:cNvPr id="6" name="Content Placeholder 5"/>
          <p:cNvSpPr>
            <a:spLocks noGrp="1"/>
          </p:cNvSpPr>
          <p:nvPr>
            <p:ph idx="1"/>
          </p:nvPr>
        </p:nvSpPr>
        <p:spPr>
          <a:xfrm>
            <a:off x="838200" y="1447800"/>
            <a:ext cx="11506200" cy="5105400"/>
          </a:xfrm>
        </p:spPr>
        <p:txBody>
          <a:bodyPr>
            <a:normAutofit/>
          </a:bodyPr>
          <a:lstStyle/>
          <a:p>
            <a:pPr marL="0" indent="0"/>
            <a:r>
              <a:rPr lang="en-US" b="1" dirty="0"/>
              <a:t>Small windows </a:t>
            </a:r>
            <a:r>
              <a:rPr lang="en-US" dirty="0"/>
              <a:t>(C= +/- 2)</a:t>
            </a:r>
            <a:r>
              <a:rPr lang="en-US" b="1" dirty="0"/>
              <a:t> </a:t>
            </a:r>
            <a:r>
              <a:rPr lang="en-US" dirty="0"/>
              <a:t>: nearest words are syntactically similar words in same taxonomy</a:t>
            </a:r>
          </a:p>
          <a:p>
            <a:pPr marL="529153" lvl="1" indent="0"/>
            <a:r>
              <a:rPr lang="en-US" sz="3600" i="1" dirty="0"/>
              <a:t>Hogwarts</a:t>
            </a:r>
            <a:r>
              <a:rPr lang="en-US" sz="3600" dirty="0"/>
              <a:t> nearest neighbors are other fictional schools</a:t>
            </a:r>
          </a:p>
          <a:p>
            <a:pPr marL="677316" lvl="2" indent="0"/>
            <a:r>
              <a:rPr lang="en-US" sz="3600" i="1" dirty="0"/>
              <a:t>Sunnydale, </a:t>
            </a:r>
            <a:r>
              <a:rPr lang="en-US" sz="3600" i="1" dirty="0" err="1"/>
              <a:t>Evernight</a:t>
            </a:r>
            <a:r>
              <a:rPr lang="en-US" sz="3600" i="1" dirty="0"/>
              <a:t>, </a:t>
            </a:r>
            <a:r>
              <a:rPr lang="en-US" sz="3600" i="1" dirty="0" err="1"/>
              <a:t>Blandings</a:t>
            </a:r>
            <a:endParaRPr lang="en-US" sz="3600" i="1" dirty="0"/>
          </a:p>
          <a:p>
            <a:pPr marL="0" indent="0"/>
            <a:r>
              <a:rPr lang="en-US" b="1" dirty="0"/>
              <a:t>Large windows </a:t>
            </a:r>
            <a:r>
              <a:rPr lang="en-US" dirty="0"/>
              <a:t>(C= +/- 5)</a:t>
            </a:r>
            <a:r>
              <a:rPr lang="en-US" b="1" dirty="0"/>
              <a:t> </a:t>
            </a:r>
            <a:r>
              <a:rPr lang="en-US" dirty="0"/>
              <a:t>:  nearest words are related words in same semantic field</a:t>
            </a:r>
          </a:p>
          <a:p>
            <a:pPr marL="529153" lvl="1" indent="0"/>
            <a:r>
              <a:rPr lang="en-US" sz="3600" i="1" dirty="0"/>
              <a:t>Hogwarts</a:t>
            </a:r>
            <a:r>
              <a:rPr lang="en-US" sz="3600" dirty="0"/>
              <a:t> nearest neighbors are Harry Potter world:</a:t>
            </a:r>
          </a:p>
          <a:p>
            <a:pPr marL="677316" lvl="2" indent="0"/>
            <a:r>
              <a:rPr lang="en-US" sz="3600" i="1" dirty="0"/>
              <a:t>Dumbledore, half-blood,  Malfoy</a:t>
            </a:r>
          </a:p>
          <a:p>
            <a:pPr marL="0" indent="0"/>
            <a:endParaRPr lang="en-US" i="1" dirty="0"/>
          </a:p>
        </p:txBody>
      </p:sp>
    </p:spTree>
    <p:extLst>
      <p:ext uri="{BB962C8B-B14F-4D97-AF65-F5344CB8AC3E}">
        <p14:creationId xmlns:p14="http://schemas.microsoft.com/office/powerpoint/2010/main" val="402135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223A3C-66DB-4145-B0E5-BAEF58CEB4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3581400"/>
            <a:ext cx="5590761" cy="3175000"/>
          </a:xfrm>
          <a:prstGeom prst="rect">
            <a:avLst/>
          </a:prstGeom>
        </p:spPr>
      </p:pic>
      <p:sp>
        <p:nvSpPr>
          <p:cNvPr id="2" name="Title 1">
            <a:extLst>
              <a:ext uri="{FF2B5EF4-FFF2-40B4-BE49-F238E27FC236}">
                <a16:creationId xmlns:a16="http://schemas.microsoft.com/office/drawing/2014/main" id="{6CD8C4A0-9B51-EF42-8C13-00CE50E576F0}"/>
              </a:ext>
            </a:extLst>
          </p:cNvPr>
          <p:cNvSpPr>
            <a:spLocks noGrp="1"/>
          </p:cNvSpPr>
          <p:nvPr>
            <p:ph type="title"/>
          </p:nvPr>
        </p:nvSpPr>
        <p:spPr/>
        <p:txBody>
          <a:bodyPr/>
          <a:lstStyle/>
          <a:p>
            <a:r>
              <a:rPr lang="en-US" dirty="0"/>
              <a:t>Analogical relations</a:t>
            </a:r>
          </a:p>
        </p:txBody>
      </p:sp>
      <p:sp>
        <p:nvSpPr>
          <p:cNvPr id="3" name="Content Placeholder 2">
            <a:extLst>
              <a:ext uri="{FF2B5EF4-FFF2-40B4-BE49-F238E27FC236}">
                <a16:creationId xmlns:a16="http://schemas.microsoft.com/office/drawing/2014/main" id="{65C10CC3-F51F-E94A-A0D8-9DE664234FDD}"/>
              </a:ext>
            </a:extLst>
          </p:cNvPr>
          <p:cNvSpPr>
            <a:spLocks noGrp="1"/>
          </p:cNvSpPr>
          <p:nvPr>
            <p:ph idx="1"/>
          </p:nvPr>
        </p:nvSpPr>
        <p:spPr>
          <a:xfrm>
            <a:off x="1097280" y="1295400"/>
            <a:ext cx="10942320" cy="4572000"/>
          </a:xfrm>
        </p:spPr>
        <p:txBody>
          <a:bodyPr>
            <a:normAutofit/>
          </a:bodyPr>
          <a:lstStyle/>
          <a:p>
            <a:r>
              <a:rPr lang="en-US" dirty="0"/>
              <a:t>The classic parallelogram model of analogical reasoning </a:t>
            </a:r>
            <a:r>
              <a:rPr lang="en-US" sz="3200" dirty="0"/>
              <a:t>(</a:t>
            </a:r>
            <a:r>
              <a:rPr lang="en-US" sz="3200" dirty="0" err="1"/>
              <a:t>Rumelhart</a:t>
            </a:r>
            <a:r>
              <a:rPr lang="en-US" sz="3200" dirty="0"/>
              <a:t> and Abrahamson 1973)</a:t>
            </a:r>
          </a:p>
          <a:p>
            <a:r>
              <a:rPr lang="en-US" dirty="0"/>
              <a:t>To solve: </a:t>
            </a:r>
            <a:r>
              <a:rPr lang="en-US" i="1" dirty="0"/>
              <a:t>"apple is to tree as grape is to  _____"</a:t>
            </a:r>
          </a:p>
          <a:p>
            <a:r>
              <a:rPr lang="en-US" i="1" dirty="0"/>
              <a:t>Add tree – apple  to grape to get </a:t>
            </a:r>
            <a:r>
              <a:rPr lang="en-US" i="1" dirty="0">
                <a:solidFill>
                  <a:srgbClr val="0000FF"/>
                </a:solidFill>
              </a:rPr>
              <a:t>vine</a:t>
            </a:r>
            <a:endParaRPr lang="en-US" dirty="0">
              <a:solidFill>
                <a:srgbClr val="0000FF"/>
              </a:solidFill>
            </a:endParaRPr>
          </a:p>
          <a:p>
            <a:endParaRPr lang="en-US" dirty="0"/>
          </a:p>
        </p:txBody>
      </p:sp>
      <p:cxnSp>
        <p:nvCxnSpPr>
          <p:cNvPr id="8" name="Straight Arrow Connector 7">
            <a:extLst>
              <a:ext uri="{FF2B5EF4-FFF2-40B4-BE49-F238E27FC236}">
                <a16:creationId xmlns:a16="http://schemas.microsoft.com/office/drawing/2014/main" id="{CB2B063D-D754-2A48-8631-F5BFD4C6C287}"/>
              </a:ext>
            </a:extLst>
          </p:cNvPr>
          <p:cNvCxnSpPr>
            <a:cxnSpLocks/>
          </p:cNvCxnSpPr>
          <p:nvPr/>
        </p:nvCxnSpPr>
        <p:spPr>
          <a:xfrm>
            <a:off x="3352800" y="32004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3414DA-B18C-3149-8AE7-FF01F624231A}"/>
              </a:ext>
            </a:extLst>
          </p:cNvPr>
          <p:cNvCxnSpPr>
            <a:cxnSpLocks/>
          </p:cNvCxnSpPr>
          <p:nvPr/>
        </p:nvCxnSpPr>
        <p:spPr>
          <a:xfrm>
            <a:off x="1981200" y="3200400"/>
            <a:ext cx="8382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BE364B3-564F-6543-9E9A-7D534C896703}"/>
              </a:ext>
            </a:extLst>
          </p:cNvPr>
          <p:cNvCxnSpPr>
            <a:cxnSpLocks/>
          </p:cNvCxnSpPr>
          <p:nvPr/>
        </p:nvCxnSpPr>
        <p:spPr>
          <a:xfrm>
            <a:off x="5105400" y="32004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E3B203E-1943-5E46-843F-69D67ACAD357}"/>
              </a:ext>
            </a:extLst>
          </p:cNvPr>
          <p:cNvCxnSpPr>
            <a:cxnSpLocks/>
          </p:cNvCxnSpPr>
          <p:nvPr/>
        </p:nvCxnSpPr>
        <p:spPr>
          <a:xfrm>
            <a:off x="7467600" y="3200400"/>
            <a:ext cx="8382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576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9D33F-B6E2-4E45-8C96-3CFB70EE3CC5}"/>
              </a:ext>
            </a:extLst>
          </p:cNvPr>
          <p:cNvSpPr>
            <a:spLocks noGrp="1"/>
          </p:cNvSpPr>
          <p:nvPr>
            <p:ph type="title"/>
          </p:nvPr>
        </p:nvSpPr>
        <p:spPr/>
        <p:txBody>
          <a:bodyPr/>
          <a:lstStyle/>
          <a:p>
            <a:r>
              <a:rPr lang="en-US" dirty="0"/>
              <a:t>Analogical relations via parallelogram</a:t>
            </a:r>
          </a:p>
        </p:txBody>
      </p:sp>
      <p:sp>
        <p:nvSpPr>
          <p:cNvPr id="3" name="Content Placeholder 2">
            <a:extLst>
              <a:ext uri="{FF2B5EF4-FFF2-40B4-BE49-F238E27FC236}">
                <a16:creationId xmlns:a16="http://schemas.microsoft.com/office/drawing/2014/main" id="{B263CDE0-FD89-0E4D-85ED-A4C200743844}"/>
              </a:ext>
            </a:extLst>
          </p:cNvPr>
          <p:cNvSpPr>
            <a:spLocks noGrp="1"/>
          </p:cNvSpPr>
          <p:nvPr>
            <p:ph idx="1"/>
          </p:nvPr>
        </p:nvSpPr>
        <p:spPr>
          <a:xfrm>
            <a:off x="1097281" y="1600200"/>
            <a:ext cx="10637519" cy="4572000"/>
          </a:xfrm>
        </p:spPr>
        <p:txBody>
          <a:bodyPr/>
          <a:lstStyle/>
          <a:p>
            <a:r>
              <a:rPr lang="en-US" dirty="0"/>
              <a:t>The parallelogram method can solve analogies with both sparse and dense embeddings (Turney and Littman 2005, </a:t>
            </a:r>
            <a:r>
              <a:rPr lang="en-US" dirty="0" err="1"/>
              <a:t>Mikolov</a:t>
            </a:r>
            <a:r>
              <a:rPr lang="en-US" dirty="0"/>
              <a:t> et al. 2013b)</a:t>
            </a:r>
          </a:p>
          <a:p>
            <a:r>
              <a:rPr lang="en-US" dirty="0"/>
              <a:t>		king – man + woman is close to queen</a:t>
            </a:r>
          </a:p>
          <a:p>
            <a:r>
              <a:rPr lang="en-US" dirty="0"/>
              <a:t>		Paris – France + Italy is close to Rome</a:t>
            </a:r>
          </a:p>
          <a:p>
            <a:r>
              <a:rPr lang="en-US" dirty="0"/>
              <a:t>For a problem </a:t>
            </a:r>
            <a:r>
              <a:rPr lang="en-US" dirty="0" err="1"/>
              <a:t>a:a</a:t>
            </a:r>
            <a:r>
              <a:rPr lang="en-US" dirty="0"/>
              <a:t>*::</a:t>
            </a:r>
            <a:r>
              <a:rPr lang="en-US" dirty="0" err="1"/>
              <a:t>b:b</a:t>
            </a:r>
            <a:r>
              <a:rPr lang="en-US" dirty="0"/>
              <a:t>*, the parallelogram method is:</a:t>
            </a:r>
          </a:p>
          <a:p>
            <a:endParaRPr lang="en-US" dirty="0"/>
          </a:p>
        </p:txBody>
      </p:sp>
      <p:cxnSp>
        <p:nvCxnSpPr>
          <p:cNvPr id="4" name="Straight Arrow Connector 3">
            <a:extLst>
              <a:ext uri="{FF2B5EF4-FFF2-40B4-BE49-F238E27FC236}">
                <a16:creationId xmlns:a16="http://schemas.microsoft.com/office/drawing/2014/main" id="{7B052C01-0AD3-1149-BDA7-088E1D5704DC}"/>
              </a:ext>
            </a:extLst>
          </p:cNvPr>
          <p:cNvCxnSpPr>
            <a:cxnSpLocks/>
          </p:cNvCxnSpPr>
          <p:nvPr/>
        </p:nvCxnSpPr>
        <p:spPr>
          <a:xfrm>
            <a:off x="1981200" y="33528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80D0510-8AB1-474C-975A-F61B66904837}"/>
              </a:ext>
            </a:extLst>
          </p:cNvPr>
          <p:cNvCxnSpPr>
            <a:cxnSpLocks/>
          </p:cNvCxnSpPr>
          <p:nvPr/>
        </p:nvCxnSpPr>
        <p:spPr>
          <a:xfrm>
            <a:off x="3276600" y="33528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51A3E87-88C6-8D4C-87C6-65EAF26AFA22}"/>
              </a:ext>
            </a:extLst>
          </p:cNvPr>
          <p:cNvCxnSpPr>
            <a:cxnSpLocks/>
          </p:cNvCxnSpPr>
          <p:nvPr/>
        </p:nvCxnSpPr>
        <p:spPr>
          <a:xfrm>
            <a:off x="4648200" y="33528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30D022F-8760-EB40-AE0E-8FDDB423F44F}"/>
              </a:ext>
            </a:extLst>
          </p:cNvPr>
          <p:cNvCxnSpPr>
            <a:cxnSpLocks/>
          </p:cNvCxnSpPr>
          <p:nvPr/>
        </p:nvCxnSpPr>
        <p:spPr>
          <a:xfrm>
            <a:off x="8001000" y="33528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A61DF6E-D800-5A44-B0E0-FE7D9038D70C}"/>
              </a:ext>
            </a:extLst>
          </p:cNvPr>
          <p:cNvCxnSpPr>
            <a:cxnSpLocks/>
          </p:cNvCxnSpPr>
          <p:nvPr/>
        </p:nvCxnSpPr>
        <p:spPr>
          <a:xfrm>
            <a:off x="3352800" y="40386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DBC62D1-0398-2A4F-91F1-E7202780A75D}"/>
              </a:ext>
            </a:extLst>
          </p:cNvPr>
          <p:cNvCxnSpPr>
            <a:cxnSpLocks/>
          </p:cNvCxnSpPr>
          <p:nvPr/>
        </p:nvCxnSpPr>
        <p:spPr>
          <a:xfrm>
            <a:off x="1981200" y="40386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11D68B-6705-A045-ACDC-4A02763B48AC}"/>
              </a:ext>
            </a:extLst>
          </p:cNvPr>
          <p:cNvCxnSpPr>
            <a:cxnSpLocks/>
          </p:cNvCxnSpPr>
          <p:nvPr/>
        </p:nvCxnSpPr>
        <p:spPr>
          <a:xfrm>
            <a:off x="5029200" y="40386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337EC60-DD9C-D34A-9A2B-89D02414EE3E}"/>
              </a:ext>
            </a:extLst>
          </p:cNvPr>
          <p:cNvCxnSpPr>
            <a:cxnSpLocks/>
          </p:cNvCxnSpPr>
          <p:nvPr/>
        </p:nvCxnSpPr>
        <p:spPr>
          <a:xfrm>
            <a:off x="8077200" y="40386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564B8606-E097-1E40-8540-1D10F8638C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5534359"/>
            <a:ext cx="6928427" cy="942643"/>
          </a:xfrm>
          <a:prstGeom prst="rect">
            <a:avLst/>
          </a:prstGeom>
        </p:spPr>
      </p:pic>
    </p:spTree>
    <p:extLst>
      <p:ext uri="{BB962C8B-B14F-4D97-AF65-F5344CB8AC3E}">
        <p14:creationId xmlns:p14="http://schemas.microsoft.com/office/powerpoint/2010/main" val="3149864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4570" y="122453"/>
            <a:ext cx="8691030" cy="6735548"/>
          </a:xfrm>
        </p:spPr>
      </p:pic>
      <p:sp>
        <p:nvSpPr>
          <p:cNvPr id="3" name="TextBox 2">
            <a:extLst>
              <a:ext uri="{FF2B5EF4-FFF2-40B4-BE49-F238E27FC236}">
                <a16:creationId xmlns:a16="http://schemas.microsoft.com/office/drawing/2014/main" id="{DCFE9A66-E187-374C-8854-E42D40FCD026}"/>
              </a:ext>
            </a:extLst>
          </p:cNvPr>
          <p:cNvSpPr txBox="1"/>
          <p:nvPr/>
        </p:nvSpPr>
        <p:spPr>
          <a:xfrm>
            <a:off x="1676401" y="246390"/>
            <a:ext cx="5495479" cy="523220"/>
          </a:xfrm>
          <a:prstGeom prst="rect">
            <a:avLst/>
          </a:prstGeom>
          <a:noFill/>
        </p:spPr>
        <p:txBody>
          <a:bodyPr wrap="none" rtlCol="0">
            <a:spAutoFit/>
          </a:bodyPr>
          <a:lstStyle/>
          <a:p>
            <a:r>
              <a:rPr lang="en-US" sz="2800" dirty="0"/>
              <a:t>Structure in </a:t>
            </a:r>
            <a:r>
              <a:rPr lang="en-US" sz="2800" dirty="0" err="1"/>
              <a:t>GloVE</a:t>
            </a:r>
            <a:r>
              <a:rPr lang="en-US" sz="2800" dirty="0"/>
              <a:t> Embedding space</a:t>
            </a:r>
          </a:p>
        </p:txBody>
      </p:sp>
    </p:spTree>
    <p:extLst>
      <p:ext uri="{BB962C8B-B14F-4D97-AF65-F5344CB8AC3E}">
        <p14:creationId xmlns:p14="http://schemas.microsoft.com/office/powerpoint/2010/main" val="3366702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C122D-22B3-4E47-AE4C-26238DF03C30}"/>
              </a:ext>
            </a:extLst>
          </p:cNvPr>
          <p:cNvSpPr>
            <a:spLocks noGrp="1"/>
          </p:cNvSpPr>
          <p:nvPr>
            <p:ph type="title"/>
          </p:nvPr>
        </p:nvSpPr>
        <p:spPr/>
        <p:txBody>
          <a:bodyPr/>
          <a:lstStyle/>
          <a:p>
            <a:r>
              <a:rPr lang="en-US" dirty="0"/>
              <a:t>Caveats with the parallelogram method</a:t>
            </a:r>
          </a:p>
        </p:txBody>
      </p:sp>
      <p:sp>
        <p:nvSpPr>
          <p:cNvPr id="3" name="Content Placeholder 2">
            <a:extLst>
              <a:ext uri="{FF2B5EF4-FFF2-40B4-BE49-F238E27FC236}">
                <a16:creationId xmlns:a16="http://schemas.microsoft.com/office/drawing/2014/main" id="{E995AFBD-1221-3C4C-9B75-33ABFDB242F0}"/>
              </a:ext>
            </a:extLst>
          </p:cNvPr>
          <p:cNvSpPr>
            <a:spLocks noGrp="1"/>
          </p:cNvSpPr>
          <p:nvPr>
            <p:ph idx="1"/>
          </p:nvPr>
        </p:nvSpPr>
        <p:spPr/>
        <p:txBody>
          <a:bodyPr/>
          <a:lstStyle/>
          <a:p>
            <a:r>
              <a:rPr lang="en-US" dirty="0"/>
              <a:t>It only seems to work for frequent words, small distances and certain relations (relating countries to capitals, or parts of speech), but not others. (</a:t>
            </a:r>
            <a:r>
              <a:rPr lang="en-US" dirty="0" err="1"/>
              <a:t>Linzen</a:t>
            </a:r>
            <a:r>
              <a:rPr lang="en-US" dirty="0"/>
              <a:t> 2016, </a:t>
            </a:r>
            <a:r>
              <a:rPr lang="en-US" dirty="0" err="1"/>
              <a:t>Gladkova</a:t>
            </a:r>
            <a:r>
              <a:rPr lang="en-US" dirty="0"/>
              <a:t> et al. 2016, </a:t>
            </a:r>
            <a:r>
              <a:rPr lang="en-US" dirty="0" err="1"/>
              <a:t>Ethayarajh</a:t>
            </a:r>
            <a:r>
              <a:rPr lang="en-US" dirty="0"/>
              <a:t> et al. 2019a) </a:t>
            </a:r>
          </a:p>
          <a:p>
            <a:endParaRPr lang="en-US" dirty="0"/>
          </a:p>
          <a:p>
            <a:r>
              <a:rPr lang="en-US" dirty="0"/>
              <a:t>Understanding analogy is an open area of research (Peterson et al. 2020)</a:t>
            </a:r>
          </a:p>
          <a:p>
            <a:endParaRPr lang="en-US" dirty="0"/>
          </a:p>
        </p:txBody>
      </p:sp>
    </p:spTree>
    <p:extLst>
      <p:ext uri="{BB962C8B-B14F-4D97-AF65-F5344CB8AC3E}">
        <p14:creationId xmlns:p14="http://schemas.microsoft.com/office/powerpoint/2010/main" val="279701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wordpaths-final.png"/>
          <p:cNvPicPr>
            <a:picLocks noChangeAspect="1"/>
          </p:cNvPicPr>
          <p:nvPr/>
        </p:nvPicPr>
        <p:blipFill>
          <a:blip r:embed="rId3"/>
          <a:stretch>
            <a:fillRect/>
          </a:stretch>
        </p:blipFill>
        <p:spPr>
          <a:xfrm>
            <a:off x="457200" y="1999819"/>
            <a:ext cx="11626184" cy="4013392"/>
          </a:xfrm>
          <a:prstGeom prst="rect">
            <a:avLst/>
          </a:prstGeom>
          <a:ln w="12700">
            <a:miter lim="400000"/>
          </a:ln>
        </p:spPr>
      </p:pic>
      <p:sp>
        <p:nvSpPr>
          <p:cNvPr id="5" name="TextBox 4"/>
          <p:cNvSpPr txBox="1"/>
          <p:nvPr/>
        </p:nvSpPr>
        <p:spPr>
          <a:xfrm>
            <a:off x="692529" y="1209802"/>
            <a:ext cx="12983101" cy="523220"/>
          </a:xfrm>
          <a:prstGeom prst="rect">
            <a:avLst/>
          </a:prstGeom>
          <a:noFill/>
        </p:spPr>
        <p:txBody>
          <a:bodyPr wrap="square" rtlCol="0">
            <a:spAutoFit/>
          </a:bodyPr>
          <a:lstStyle/>
          <a:p>
            <a:r>
              <a:rPr lang="en-US" sz="2800" dirty="0"/>
              <a:t>Train embeddings on different decades of historical text to see meanings shift</a:t>
            </a:r>
          </a:p>
        </p:txBody>
      </p:sp>
      <p:sp>
        <p:nvSpPr>
          <p:cNvPr id="6" name="Shape 168"/>
          <p:cNvSpPr/>
          <p:nvPr/>
        </p:nvSpPr>
        <p:spPr>
          <a:xfrm>
            <a:off x="3352800" y="1850648"/>
            <a:ext cx="4700710" cy="349135"/>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2400"/>
            </a:lvl1pPr>
          </a:lstStyle>
          <a:p>
            <a:r>
              <a:rPr lang="en-US" sz="1800" dirty="0"/>
              <a:t>~30 million books, 1850-1990, Google Books data</a:t>
            </a:r>
          </a:p>
        </p:txBody>
      </p:sp>
      <p:sp>
        <p:nvSpPr>
          <p:cNvPr id="8" name="Title 1">
            <a:extLst>
              <a:ext uri="{FF2B5EF4-FFF2-40B4-BE49-F238E27FC236}">
                <a16:creationId xmlns:a16="http://schemas.microsoft.com/office/drawing/2014/main" id="{BFA1DC49-64D4-4C4E-B832-E505ED483AC1}"/>
              </a:ext>
            </a:extLst>
          </p:cNvPr>
          <p:cNvSpPr txBox="1">
            <a:spLocks/>
          </p:cNvSpPr>
          <p:nvPr/>
        </p:nvSpPr>
        <p:spPr bwMode="auto">
          <a:xfrm>
            <a:off x="2044778" y="304801"/>
            <a:ext cx="8066207" cy="612807"/>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0000" lnSpcReduction="10000"/>
          </a:bodyPr>
          <a:lstStyle>
            <a:lvl1pPr algn="l" rtl="0" eaLnBrk="1" fontAlgn="base" hangingPunct="1">
              <a:spcBef>
                <a:spcPct val="0"/>
              </a:spcBef>
              <a:spcAft>
                <a:spcPct val="0"/>
              </a:spcAft>
              <a:defRPr sz="4000" b="0" baseline="0">
                <a:solidFill>
                  <a:schemeClr val="tx1"/>
                </a:solidFill>
                <a:latin typeface="+mj-lt"/>
                <a:ea typeface="ＭＳ Ｐゴシック" pitchFamily="-65" charset="-128"/>
                <a:cs typeface="ＭＳ Ｐゴシック" pitchFamily="-65" charset="-128"/>
              </a:defRPr>
            </a:lvl1pPr>
            <a:lvl2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2pPr>
            <a:lvl3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3pPr>
            <a:lvl4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4pPr>
            <a:lvl5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a:lstStyle>
          <a:p>
            <a:endParaRPr lang="en-US" kern="0" dirty="0"/>
          </a:p>
        </p:txBody>
      </p:sp>
      <p:sp>
        <p:nvSpPr>
          <p:cNvPr id="9" name="Title 8">
            <a:extLst>
              <a:ext uri="{FF2B5EF4-FFF2-40B4-BE49-F238E27FC236}">
                <a16:creationId xmlns:a16="http://schemas.microsoft.com/office/drawing/2014/main" id="{F926283A-13B7-8546-8996-313DB20799EC}"/>
              </a:ext>
            </a:extLst>
          </p:cNvPr>
          <p:cNvSpPr>
            <a:spLocks noGrp="1"/>
          </p:cNvSpPr>
          <p:nvPr>
            <p:ph type="title"/>
          </p:nvPr>
        </p:nvSpPr>
        <p:spPr>
          <a:xfrm>
            <a:off x="457200" y="-72993"/>
            <a:ext cx="11353800" cy="990600"/>
          </a:xfrm>
        </p:spPr>
        <p:txBody>
          <a:bodyPr>
            <a:normAutofit fontScale="90000"/>
          </a:bodyPr>
          <a:lstStyle/>
          <a:p>
            <a:r>
              <a:rPr lang="en-US" dirty="0"/>
              <a:t>Embeddings as a window onto historical semantics</a:t>
            </a:r>
          </a:p>
        </p:txBody>
      </p:sp>
      <p:sp>
        <p:nvSpPr>
          <p:cNvPr id="2" name="Rectangle 1">
            <a:extLst>
              <a:ext uri="{FF2B5EF4-FFF2-40B4-BE49-F238E27FC236}">
                <a16:creationId xmlns:a16="http://schemas.microsoft.com/office/drawing/2014/main" id="{E13A6D57-67F4-B74D-A761-954DE61AE88F}"/>
              </a:ext>
            </a:extLst>
          </p:cNvPr>
          <p:cNvSpPr/>
          <p:nvPr/>
        </p:nvSpPr>
        <p:spPr>
          <a:xfrm>
            <a:off x="1892377" y="6211669"/>
            <a:ext cx="9918623" cy="646331"/>
          </a:xfrm>
          <a:prstGeom prst="rect">
            <a:avLst/>
          </a:prstGeom>
        </p:spPr>
        <p:txBody>
          <a:bodyPr wrap="square">
            <a:spAutoFit/>
          </a:bodyPr>
          <a:lstStyle/>
          <a:p>
            <a:r>
              <a:rPr lang="en-US" dirty="0"/>
              <a:t>William L. Hamilton, Jure </a:t>
            </a:r>
            <a:r>
              <a:rPr lang="en-US" dirty="0" err="1"/>
              <a:t>Leskovec</a:t>
            </a:r>
            <a:r>
              <a:rPr lang="en-US" dirty="0"/>
              <a:t>, and Dan Jurafsky. 2016. Diachronic Word Embeddings Reveal Statistical Laws of Semantic Change. Proceedings of ACL.</a:t>
            </a:r>
          </a:p>
        </p:txBody>
      </p:sp>
    </p:spTree>
    <p:extLst>
      <p:ext uri="{BB962C8B-B14F-4D97-AF65-F5344CB8AC3E}">
        <p14:creationId xmlns:p14="http://schemas.microsoft.com/office/powerpoint/2010/main" val="1004136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6605"/>
            <a:ext cx="8976360" cy="703996"/>
          </a:xfrm>
        </p:spPr>
        <p:txBody>
          <a:bodyPr>
            <a:normAutofit fontScale="90000"/>
          </a:bodyPr>
          <a:lstStyle/>
          <a:p>
            <a:r>
              <a:rPr lang="en-US" dirty="0"/>
              <a:t>Embeddings reflect cultural bias!</a:t>
            </a:r>
          </a:p>
        </p:txBody>
      </p:sp>
      <p:sp>
        <p:nvSpPr>
          <p:cNvPr id="3" name="Content Placeholder 2"/>
          <p:cNvSpPr>
            <a:spLocks noGrp="1"/>
          </p:cNvSpPr>
          <p:nvPr>
            <p:ph idx="1"/>
          </p:nvPr>
        </p:nvSpPr>
        <p:spPr>
          <a:xfrm>
            <a:off x="1066800" y="2209800"/>
            <a:ext cx="9296400" cy="4023360"/>
          </a:xfrm>
        </p:spPr>
        <p:txBody>
          <a:bodyPr>
            <a:normAutofit/>
          </a:bodyPr>
          <a:lstStyle/>
          <a:p>
            <a:r>
              <a:rPr lang="en-US" sz="3200" dirty="0"/>
              <a:t>Ask </a:t>
            </a:r>
            <a:r>
              <a:rPr lang="en-US" dirty="0"/>
              <a:t>“Paris : France :: Tokyo : x” </a:t>
            </a:r>
          </a:p>
          <a:p>
            <a:pPr lvl="1"/>
            <a:r>
              <a:rPr lang="en-US" sz="2800" dirty="0"/>
              <a:t>x = Japan</a:t>
            </a:r>
          </a:p>
          <a:p>
            <a:r>
              <a:rPr lang="en-US" sz="3200" dirty="0"/>
              <a:t>Ask </a:t>
            </a:r>
            <a:r>
              <a:rPr lang="en-US" dirty="0"/>
              <a:t>“father : doctor :: mother : x” </a:t>
            </a:r>
          </a:p>
          <a:p>
            <a:pPr lvl="1"/>
            <a:r>
              <a:rPr lang="en-US" sz="2800" dirty="0"/>
              <a:t>x = nurse</a:t>
            </a:r>
          </a:p>
          <a:p>
            <a:r>
              <a:rPr lang="en-US" sz="3200" dirty="0"/>
              <a:t>Ask “man : computer programmer :: woman : x” </a:t>
            </a:r>
          </a:p>
          <a:p>
            <a:pPr lvl="1"/>
            <a:r>
              <a:rPr lang="en-US" sz="2800" dirty="0"/>
              <a:t>x = homemaker</a:t>
            </a:r>
          </a:p>
          <a:p>
            <a:endParaRPr lang="en-US" dirty="0"/>
          </a:p>
        </p:txBody>
      </p:sp>
      <p:sp>
        <p:nvSpPr>
          <p:cNvPr id="4" name="TextBox 3"/>
          <p:cNvSpPr txBox="1"/>
          <p:nvPr/>
        </p:nvSpPr>
        <p:spPr>
          <a:xfrm>
            <a:off x="2286000" y="1205925"/>
            <a:ext cx="9144000" cy="584775"/>
          </a:xfrm>
          <a:prstGeom prst="rect">
            <a:avLst/>
          </a:prstGeom>
          <a:noFill/>
        </p:spPr>
        <p:txBody>
          <a:bodyPr wrap="square" rtlCol="0">
            <a:spAutoFit/>
          </a:bodyPr>
          <a:lstStyle/>
          <a:p>
            <a:r>
              <a:rPr lang="en-US" sz="1600" dirty="0" err="1"/>
              <a:t>Bolukbasi</a:t>
            </a:r>
            <a:r>
              <a:rPr lang="en-US" sz="1600" dirty="0"/>
              <a:t>, </a:t>
            </a:r>
            <a:r>
              <a:rPr lang="en-US" sz="1600" dirty="0" err="1"/>
              <a:t>Tolga</a:t>
            </a:r>
            <a:r>
              <a:rPr lang="en-US" sz="1600" dirty="0"/>
              <a:t>, Kai-Wei Chang, James Y. Zou, </a:t>
            </a:r>
            <a:r>
              <a:rPr lang="en-US" sz="1600" dirty="0" err="1"/>
              <a:t>Venkatesh</a:t>
            </a:r>
            <a:r>
              <a:rPr lang="en-US" sz="1600" dirty="0"/>
              <a:t> </a:t>
            </a:r>
            <a:r>
              <a:rPr lang="en-US" sz="1600" dirty="0" err="1"/>
              <a:t>Saligrama</a:t>
            </a:r>
            <a:r>
              <a:rPr lang="en-US" sz="1600" dirty="0"/>
              <a:t>, and Adam T. </a:t>
            </a:r>
            <a:r>
              <a:rPr lang="en-US" sz="1600" dirty="0" err="1"/>
              <a:t>Kalai</a:t>
            </a:r>
            <a:r>
              <a:rPr lang="en-US" sz="1600" dirty="0"/>
              <a:t>. "Man is to computer programmer as woman is to homemaker? debiasing word embeddings." In </a:t>
            </a:r>
            <a:r>
              <a:rPr lang="en-US" sz="1600" i="1" dirty="0" err="1"/>
              <a:t>NeurIPS</a:t>
            </a:r>
            <a:r>
              <a:rPr lang="en-US" sz="1600" dirty="0"/>
              <a:t>, pp. 4349-4357. 2016.</a:t>
            </a:r>
          </a:p>
        </p:txBody>
      </p:sp>
      <p:sp>
        <p:nvSpPr>
          <p:cNvPr id="5" name="TextBox 4">
            <a:extLst>
              <a:ext uri="{FF2B5EF4-FFF2-40B4-BE49-F238E27FC236}">
                <a16:creationId xmlns:a16="http://schemas.microsoft.com/office/drawing/2014/main" id="{4467B3D3-17F5-5044-903F-379FDAC78D5A}"/>
              </a:ext>
            </a:extLst>
          </p:cNvPr>
          <p:cNvSpPr txBox="1"/>
          <p:nvPr/>
        </p:nvSpPr>
        <p:spPr>
          <a:xfrm>
            <a:off x="762000" y="5646003"/>
            <a:ext cx="10668000" cy="954107"/>
          </a:xfrm>
          <a:prstGeom prst="rect">
            <a:avLst/>
          </a:prstGeom>
          <a:noFill/>
        </p:spPr>
        <p:txBody>
          <a:bodyPr wrap="square" rtlCol="0">
            <a:spAutoFit/>
          </a:bodyPr>
          <a:lstStyle/>
          <a:p>
            <a:r>
              <a:rPr lang="en-US" sz="2800" dirty="0">
                <a:solidFill>
                  <a:srgbClr val="0000FF"/>
                </a:solidFill>
              </a:rPr>
              <a:t>Algorithms that use embeddings as part of e.g., hiring searches for programmers, might lead to bias in hiring</a:t>
            </a:r>
          </a:p>
        </p:txBody>
      </p:sp>
    </p:spTree>
    <p:extLst>
      <p:ext uri="{BB962C8B-B14F-4D97-AF65-F5344CB8AC3E}">
        <p14:creationId xmlns:p14="http://schemas.microsoft.com/office/powerpoint/2010/main" val="229492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381000"/>
            <a:ext cx="11671300" cy="1285875"/>
          </a:xfrm>
        </p:spPr>
        <p:txBody>
          <a:bodyPr>
            <a:normAutofit fontScale="90000"/>
          </a:bodyPr>
          <a:lstStyle/>
          <a:p>
            <a:r>
              <a:rPr lang="en-US" dirty="0"/>
              <a:t>Historical embedding as a tool to study cultural biases</a:t>
            </a:r>
          </a:p>
        </p:txBody>
      </p:sp>
      <p:sp>
        <p:nvSpPr>
          <p:cNvPr id="3" name="Rectangle 2">
            <a:extLst>
              <a:ext uri="{FF2B5EF4-FFF2-40B4-BE49-F238E27FC236}">
                <a16:creationId xmlns:a16="http://schemas.microsoft.com/office/drawing/2014/main" id="{4521E850-0D18-5847-98F3-8D40E5E05DEA}"/>
              </a:ext>
            </a:extLst>
          </p:cNvPr>
          <p:cNvSpPr/>
          <p:nvPr/>
        </p:nvSpPr>
        <p:spPr>
          <a:xfrm>
            <a:off x="914400" y="1828800"/>
            <a:ext cx="10972799" cy="5447645"/>
          </a:xfrm>
          <a:prstGeom prst="rect">
            <a:avLst/>
          </a:prstGeom>
        </p:spPr>
        <p:txBody>
          <a:bodyPr wrap="square">
            <a:spAutoFit/>
          </a:bodyPr>
          <a:lstStyle/>
          <a:p>
            <a:pPr lvl="1" indent="-457200">
              <a:buFont typeface="Arial" panose="020B0604020202020204" pitchFamily="34" charset="0"/>
              <a:buChar char="•"/>
            </a:pPr>
            <a:r>
              <a:rPr lang="en-US" sz="3200" dirty="0"/>
              <a:t>Compute a </a:t>
            </a:r>
            <a:r>
              <a:rPr lang="en-US" sz="3200" b="1" dirty="0"/>
              <a:t>gender or ethnic bias </a:t>
            </a:r>
            <a:r>
              <a:rPr lang="en-US" sz="3200" dirty="0"/>
              <a:t>for each adjective: e.g., how much closer the adjective is to "woman" synonyms than "man" synonyms, or names of particular ethnicities</a:t>
            </a:r>
          </a:p>
          <a:p>
            <a:pPr marL="914400" lvl="1" indent="-457200">
              <a:buFont typeface="Arial" panose="020B0604020202020204" pitchFamily="34" charset="0"/>
              <a:buChar char="•"/>
            </a:pPr>
            <a:r>
              <a:rPr lang="en-US" sz="3200" dirty="0"/>
              <a:t>Embeddings for </a:t>
            </a:r>
            <a:r>
              <a:rPr lang="en-US" sz="3200" b="1" dirty="0"/>
              <a:t>competence</a:t>
            </a:r>
            <a:r>
              <a:rPr lang="en-US" sz="3200" dirty="0"/>
              <a:t> adjective (</a:t>
            </a:r>
            <a:r>
              <a:rPr lang="en-US" sz="3200" i="1" dirty="0"/>
              <a:t>smart, wise, brilliant, resourceful, thoughtful, logical) </a:t>
            </a:r>
            <a:r>
              <a:rPr lang="en-US" sz="3200" dirty="0"/>
              <a:t>are biased toward men, a bias slowly decreasing 1960-1990</a:t>
            </a:r>
          </a:p>
          <a:p>
            <a:pPr marL="914400" lvl="1" indent="-457200">
              <a:buFont typeface="Arial" panose="020B0604020202020204" pitchFamily="34" charset="0"/>
              <a:buChar char="•"/>
            </a:pPr>
            <a:r>
              <a:rPr lang="en-US" sz="3200" dirty="0"/>
              <a:t>Embeddings for </a:t>
            </a:r>
            <a:r>
              <a:rPr lang="en-US" sz="3200" b="1" dirty="0"/>
              <a:t>dehumanizing</a:t>
            </a:r>
            <a:r>
              <a:rPr lang="en-US" sz="3200" dirty="0"/>
              <a:t> adjectives (barbaric, monstrous, bizarre)  were biased toward Asians in the 1930s, bias decreasing over the 20</a:t>
            </a:r>
            <a:r>
              <a:rPr lang="en-US" sz="3200" baseline="30000" dirty="0"/>
              <a:t>th</a:t>
            </a:r>
            <a:r>
              <a:rPr lang="en-US" sz="3200" dirty="0"/>
              <a:t> century.</a:t>
            </a:r>
          </a:p>
          <a:p>
            <a:pPr marL="457200" indent="-457200">
              <a:buFont typeface="Arial" panose="020B0604020202020204" pitchFamily="34" charset="0"/>
              <a:buChar char="•"/>
            </a:pPr>
            <a:r>
              <a:rPr lang="en-US" sz="3200" dirty="0"/>
              <a:t>These match the results of old surveys done in the 1930s</a:t>
            </a:r>
          </a:p>
          <a:p>
            <a:pPr lvl="1"/>
            <a:endParaRPr lang="en-US" sz="2800" dirty="0"/>
          </a:p>
        </p:txBody>
      </p:sp>
      <p:sp>
        <p:nvSpPr>
          <p:cNvPr id="6" name="Rectangle 5">
            <a:extLst>
              <a:ext uri="{FF2B5EF4-FFF2-40B4-BE49-F238E27FC236}">
                <a16:creationId xmlns:a16="http://schemas.microsoft.com/office/drawing/2014/main" id="{F958FEAB-DF13-3447-A477-11CEEA826135}"/>
              </a:ext>
            </a:extLst>
          </p:cNvPr>
          <p:cNvSpPr/>
          <p:nvPr/>
        </p:nvSpPr>
        <p:spPr>
          <a:xfrm>
            <a:off x="1848432" y="1004926"/>
            <a:ext cx="10330868" cy="553998"/>
          </a:xfrm>
          <a:prstGeom prst="rect">
            <a:avLst/>
          </a:prstGeom>
        </p:spPr>
        <p:txBody>
          <a:bodyPr wrap="square">
            <a:spAutoFit/>
          </a:bodyPr>
          <a:lstStyle/>
          <a:p>
            <a:r>
              <a:rPr lang="en-US" sz="1500" dirty="0">
                <a:solidFill>
                  <a:srgbClr val="000000"/>
                </a:solidFill>
                <a:latin typeface="Calibri" panose="020F0502020204030204" pitchFamily="34" charset="0"/>
                <a:cs typeface="Calibri" panose="020F0502020204030204" pitchFamily="34" charset="0"/>
              </a:rPr>
              <a:t>Garg, N., </a:t>
            </a:r>
            <a:r>
              <a:rPr lang="en-US" sz="1500" dirty="0" err="1">
                <a:solidFill>
                  <a:srgbClr val="000000"/>
                </a:solidFill>
                <a:latin typeface="Calibri" panose="020F0502020204030204" pitchFamily="34" charset="0"/>
                <a:cs typeface="Calibri" panose="020F0502020204030204" pitchFamily="34" charset="0"/>
              </a:rPr>
              <a:t>Schiebinger</a:t>
            </a:r>
            <a:r>
              <a:rPr lang="en-US" sz="1500" dirty="0">
                <a:solidFill>
                  <a:srgbClr val="000000"/>
                </a:solidFill>
                <a:latin typeface="Calibri" panose="020F0502020204030204" pitchFamily="34" charset="0"/>
                <a:cs typeface="Calibri" panose="020F0502020204030204" pitchFamily="34" charset="0"/>
              </a:rPr>
              <a:t>, L., Jurafsky, D., and Zou, J. (2018). Word embeddings quantify 100 years of gender and ethnic stereotypes. Proceedings of the National Academy of Sciences 115(16), E3635–E3644.</a:t>
            </a:r>
          </a:p>
        </p:txBody>
      </p:sp>
    </p:spTree>
    <p:extLst>
      <p:ext uri="{BB962C8B-B14F-4D97-AF65-F5344CB8AC3E}">
        <p14:creationId xmlns:p14="http://schemas.microsoft.com/office/powerpoint/2010/main" val="1690852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solidFill>
                  <a:schemeClr val="bg1"/>
                </a:solidFill>
                <a:ea typeface="Franklin Gothic Book" charset="0"/>
                <a:cs typeface="Franklin Gothic Book" charset="0"/>
              </a:rPr>
              <a:t>Vector Semantics &amp; Embeddings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Properties of Embeddings</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67637292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6094-2AF0-2A10-768D-BDEDB9CA04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F495CB-7BB0-3365-8E52-EB4DBB762431}"/>
              </a:ext>
            </a:extLst>
          </p:cNvPr>
          <p:cNvSpPr>
            <a:spLocks noGrp="1"/>
          </p:cNvSpPr>
          <p:nvPr>
            <p:ph idx="1"/>
          </p:nvPr>
        </p:nvSpPr>
        <p:spPr/>
        <p:txBody>
          <a:bodyPr vert="horz" lIns="0" tIns="45720" rIns="0" bIns="45720" rtlCol="0" anchor="t">
            <a:normAutofit/>
          </a:bodyPr>
          <a:lstStyle/>
          <a:p>
            <a:pPr marL="90805" indent="-90805"/>
            <a:r>
              <a:rPr lang="en-US" sz="4250" dirty="0">
                <a:ea typeface="Calibri"/>
                <a:cs typeface="Calibri"/>
              </a:rPr>
              <a:t>Contextual Word Embeddings</a:t>
            </a:r>
            <a:endParaRPr lang="en-US" dirty="0">
              <a:ea typeface="Calibri" panose="020F0502020204030204"/>
              <a:cs typeface="Calibri" panose="020F0502020204030204"/>
            </a:endParaRPr>
          </a:p>
        </p:txBody>
      </p:sp>
      <p:sp>
        <p:nvSpPr>
          <p:cNvPr id="4" name="Text Placeholder 3">
            <a:extLst>
              <a:ext uri="{FF2B5EF4-FFF2-40B4-BE49-F238E27FC236}">
                <a16:creationId xmlns:a16="http://schemas.microsoft.com/office/drawing/2014/main" id="{E30331A7-AB49-F88E-EF27-D25D1E006E3B}"/>
              </a:ext>
            </a:extLst>
          </p:cNvPr>
          <p:cNvSpPr>
            <a:spLocks noGrp="1"/>
          </p:cNvSpPr>
          <p:nvPr>
            <p:ph type="body" sz="half" idx="2"/>
          </p:nvPr>
        </p:nvSpPr>
        <p:spPr/>
        <p:txBody>
          <a:bodyPr/>
          <a:lstStyle/>
          <a:p>
            <a:endParaRPr lang="en-US"/>
          </a:p>
        </p:txBody>
      </p:sp>
      <p:sp>
        <p:nvSpPr>
          <p:cNvPr id="6" name="object 4">
            <a:extLst>
              <a:ext uri="{FF2B5EF4-FFF2-40B4-BE49-F238E27FC236}">
                <a16:creationId xmlns:a16="http://schemas.microsoft.com/office/drawing/2014/main" id="{597353EA-FEDD-45A2-48D0-76D4D5E8E410}"/>
              </a:ext>
            </a:extLst>
          </p:cNvPr>
          <p:cNvSpPr txBox="1">
            <a:spLocks/>
          </p:cNvSpPr>
          <p:nvPr/>
        </p:nvSpPr>
        <p:spPr>
          <a:xfrm>
            <a:off x="4880706" y="3385785"/>
            <a:ext cx="5831086" cy="1038145"/>
          </a:xfrm>
          <a:prstGeom prst="rect">
            <a:avLst/>
          </a:prstGeom>
        </p:spPr>
        <p:txBody>
          <a:bodyPr vert="horz" wrap="square" lIns="0" tIns="37505" rIns="0" bIns="0" rtlCol="0" anchor="b">
            <a:spAutoFit/>
          </a:bodyPr>
          <a:lstStyle>
            <a:lvl1pPr algn="l" defTabSz="914377" rtl="0" eaLnBrk="1" latinLnBrk="0" hangingPunct="1">
              <a:lnSpc>
                <a:spcPct val="85000"/>
              </a:lnSpc>
              <a:spcBef>
                <a:spcPct val="0"/>
              </a:spcBef>
              <a:buNone/>
              <a:defRPr sz="3600" b="0" kern="1200" spc="-51" baseline="0">
                <a:solidFill>
                  <a:srgbClr val="FFFFFF"/>
                </a:solidFill>
                <a:latin typeface="+mj-lt"/>
                <a:ea typeface="+mj-ea"/>
                <a:cs typeface="+mj-cs"/>
              </a:defRPr>
            </a:lvl1pPr>
          </a:lstStyle>
          <a:p>
            <a:pPr marL="169545" marR="3175" indent="-160655">
              <a:lnSpc>
                <a:spcPts val="2531"/>
              </a:lnSpc>
              <a:spcBef>
                <a:spcPts val="295"/>
              </a:spcBef>
            </a:pPr>
            <a:r>
              <a:rPr lang="en-US" sz="2250" b="1" spc="-141" dirty="0">
                <a:solidFill>
                  <a:schemeClr val="tx1"/>
                </a:solidFill>
              </a:rPr>
              <a:t>Borrowed from: </a:t>
            </a:r>
            <a:endParaRPr lang="en-US" sz="2250" dirty="0">
              <a:solidFill>
                <a:schemeClr val="tx1"/>
              </a:solidFill>
            </a:endParaRPr>
          </a:p>
          <a:p>
            <a:pPr marL="169545" marR="3175" indent="-160655">
              <a:lnSpc>
                <a:spcPts val="2531"/>
              </a:lnSpc>
              <a:spcBef>
                <a:spcPts val="295"/>
              </a:spcBef>
            </a:pPr>
            <a:r>
              <a:rPr lang="en-US" sz="2250" spc="-141" dirty="0">
                <a:solidFill>
                  <a:schemeClr val="tx1"/>
                </a:solidFill>
              </a:rPr>
              <a:t>COS</a:t>
            </a:r>
            <a:r>
              <a:rPr lang="en-US" sz="2250" spc="-18" dirty="0">
                <a:solidFill>
                  <a:schemeClr val="tx1"/>
                </a:solidFill>
              </a:rPr>
              <a:t> </a:t>
            </a:r>
            <a:r>
              <a:rPr lang="en-US" sz="2250" spc="-112" dirty="0">
                <a:solidFill>
                  <a:schemeClr val="tx1"/>
                </a:solidFill>
              </a:rPr>
              <a:t>598C</a:t>
            </a:r>
            <a:r>
              <a:rPr lang="en-US" sz="2250" spc="-229" dirty="0">
                <a:solidFill>
                  <a:schemeClr val="tx1"/>
                </a:solidFill>
              </a:rPr>
              <a:t> </a:t>
            </a:r>
            <a:r>
              <a:rPr lang="en-US" sz="2250" spc="-141" dirty="0">
                <a:solidFill>
                  <a:schemeClr val="tx1"/>
                </a:solidFill>
              </a:rPr>
              <a:t>Advanced</a:t>
            </a:r>
            <a:r>
              <a:rPr lang="en-US" sz="2250" spc="-281" dirty="0">
                <a:solidFill>
                  <a:schemeClr val="tx1"/>
                </a:solidFill>
              </a:rPr>
              <a:t> </a:t>
            </a:r>
            <a:r>
              <a:rPr lang="en-US" sz="2250" spc="-155" dirty="0">
                <a:solidFill>
                  <a:schemeClr val="tx1"/>
                </a:solidFill>
              </a:rPr>
              <a:t>Topics</a:t>
            </a:r>
            <a:r>
              <a:rPr lang="en-US" sz="2250" dirty="0">
                <a:solidFill>
                  <a:schemeClr val="tx1"/>
                </a:solidFill>
              </a:rPr>
              <a:t> in</a:t>
            </a:r>
            <a:r>
              <a:rPr lang="en-US" sz="2250" spc="-130" dirty="0">
                <a:solidFill>
                  <a:schemeClr val="tx1"/>
                </a:solidFill>
              </a:rPr>
              <a:t> </a:t>
            </a:r>
            <a:r>
              <a:rPr lang="en-US" sz="2250" spc="-39" dirty="0">
                <a:solidFill>
                  <a:schemeClr val="tx1"/>
                </a:solidFill>
              </a:rPr>
              <a:t>Computer </a:t>
            </a:r>
            <a:r>
              <a:rPr lang="en-US" sz="2250" spc="-186" dirty="0">
                <a:solidFill>
                  <a:schemeClr val="tx1"/>
                </a:solidFill>
              </a:rPr>
              <a:t>Science: </a:t>
            </a:r>
            <a:r>
              <a:rPr lang="en-US" sz="2250" spc="-98" dirty="0">
                <a:solidFill>
                  <a:schemeClr val="tx1"/>
                </a:solidFill>
              </a:rPr>
              <a:t>Deep</a:t>
            </a:r>
            <a:r>
              <a:rPr lang="en-US" sz="2250" spc="-35" dirty="0">
                <a:solidFill>
                  <a:schemeClr val="tx1"/>
                </a:solidFill>
              </a:rPr>
              <a:t> </a:t>
            </a:r>
            <a:r>
              <a:rPr lang="en-US" sz="2250" spc="-134" dirty="0">
                <a:solidFill>
                  <a:schemeClr val="tx1"/>
                </a:solidFill>
              </a:rPr>
              <a:t>Learning</a:t>
            </a:r>
            <a:r>
              <a:rPr lang="en-US" sz="2250" spc="-14" dirty="0">
                <a:solidFill>
                  <a:schemeClr val="tx1"/>
                </a:solidFill>
              </a:rPr>
              <a:t> </a:t>
            </a:r>
            <a:r>
              <a:rPr lang="en-US" sz="2250" dirty="0">
                <a:solidFill>
                  <a:schemeClr val="tx1"/>
                </a:solidFill>
              </a:rPr>
              <a:t>for</a:t>
            </a:r>
            <a:r>
              <a:rPr lang="en-US" sz="2250" spc="-21" dirty="0">
                <a:solidFill>
                  <a:schemeClr val="tx1"/>
                </a:solidFill>
              </a:rPr>
              <a:t> </a:t>
            </a:r>
            <a:r>
              <a:rPr lang="en-US" sz="2250" spc="-32" dirty="0">
                <a:solidFill>
                  <a:schemeClr val="tx1"/>
                </a:solidFill>
              </a:rPr>
              <a:t>Natural</a:t>
            </a:r>
            <a:r>
              <a:rPr lang="en-US" sz="2250" spc="-18" dirty="0">
                <a:solidFill>
                  <a:schemeClr val="tx1"/>
                </a:solidFill>
              </a:rPr>
              <a:t> </a:t>
            </a:r>
            <a:r>
              <a:rPr lang="en-US" sz="2250" spc="-225" dirty="0">
                <a:solidFill>
                  <a:schemeClr val="tx1"/>
                </a:solidFill>
              </a:rPr>
              <a:t>Language</a:t>
            </a:r>
            <a:r>
              <a:rPr lang="en-US" sz="2250" spc="-4" dirty="0">
                <a:solidFill>
                  <a:schemeClr val="tx1"/>
                </a:solidFill>
              </a:rPr>
              <a:t> </a:t>
            </a:r>
            <a:r>
              <a:rPr lang="en-US" sz="2250" spc="-74" dirty="0">
                <a:solidFill>
                  <a:schemeClr val="tx1"/>
                </a:solidFill>
              </a:rPr>
              <a:t>Processing</a:t>
            </a:r>
            <a:endParaRPr lang="en-US" sz="2250">
              <a:solidFill>
                <a:schemeClr val="tx1"/>
              </a:solidFill>
              <a:ea typeface="Calibri Light" panose="020F0302020204030204"/>
              <a:cs typeface="Calibri Light" panose="020F0302020204030204"/>
            </a:endParaRPr>
          </a:p>
        </p:txBody>
      </p:sp>
      <p:pic>
        <p:nvPicPr>
          <p:cNvPr id="8" name="object 5" descr="A black and orange shield with a book and arrow&#10;&#10;AI-generated content may be incorrect.">
            <a:extLst>
              <a:ext uri="{FF2B5EF4-FFF2-40B4-BE49-F238E27FC236}">
                <a16:creationId xmlns:a16="http://schemas.microsoft.com/office/drawing/2014/main" id="{1005BA4F-3229-A8F2-252D-EB8477D38349}"/>
              </a:ext>
            </a:extLst>
          </p:cNvPr>
          <p:cNvPicPr/>
          <p:nvPr/>
        </p:nvPicPr>
        <p:blipFill>
          <a:blip r:embed="rId2" cstate="print"/>
          <a:stretch>
            <a:fillRect/>
          </a:stretch>
        </p:blipFill>
        <p:spPr>
          <a:xfrm>
            <a:off x="7514964" y="1936742"/>
            <a:ext cx="857250" cy="1089422"/>
          </a:xfrm>
          <a:prstGeom prst="rect">
            <a:avLst/>
          </a:prstGeom>
        </p:spPr>
      </p:pic>
    </p:spTree>
    <p:extLst>
      <p:ext uri="{BB962C8B-B14F-4D97-AF65-F5344CB8AC3E}">
        <p14:creationId xmlns:p14="http://schemas.microsoft.com/office/powerpoint/2010/main" val="17924845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092598">
              <a:lnSpc>
                <a:spcPct val="100000"/>
              </a:lnSpc>
              <a:spcBef>
                <a:spcPts val="70"/>
              </a:spcBef>
            </a:pPr>
            <a:r>
              <a:rPr spc="-88" dirty="0"/>
              <a:t>Overview</a:t>
            </a:r>
          </a:p>
        </p:txBody>
      </p:sp>
      <p:sp>
        <p:nvSpPr>
          <p:cNvPr id="3" name="object 3"/>
          <p:cNvSpPr txBox="1"/>
          <p:nvPr/>
        </p:nvSpPr>
        <p:spPr>
          <a:xfrm>
            <a:off x="2220516" y="1825228"/>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
        <p:nvSpPr>
          <p:cNvPr id="4" name="object 4"/>
          <p:cNvSpPr txBox="1"/>
          <p:nvPr/>
        </p:nvSpPr>
        <p:spPr>
          <a:xfrm>
            <a:off x="2533055" y="1902024"/>
            <a:ext cx="5998518" cy="620563"/>
          </a:xfrm>
          <a:prstGeom prst="rect">
            <a:avLst/>
          </a:prstGeom>
        </p:spPr>
        <p:txBody>
          <a:bodyPr vert="horz" wrap="square" lIns="0" tIns="30361" rIns="0" bIns="0" rtlCol="0">
            <a:spAutoFit/>
          </a:bodyPr>
          <a:lstStyle/>
          <a:p>
            <a:pPr marL="8929" marR="3572">
              <a:lnSpc>
                <a:spcPts val="2250"/>
              </a:lnSpc>
              <a:spcBef>
                <a:spcPts val="239"/>
              </a:spcBef>
            </a:pPr>
            <a:r>
              <a:rPr sz="1969" dirty="0">
                <a:latin typeface="Georgia"/>
                <a:cs typeface="Georgia"/>
              </a:rPr>
              <a:t>(McCann</a:t>
            </a:r>
            <a:r>
              <a:rPr sz="1969" spc="-35" dirty="0">
                <a:latin typeface="Georgia"/>
                <a:cs typeface="Georgia"/>
              </a:rPr>
              <a:t> </a:t>
            </a:r>
            <a:r>
              <a:rPr sz="1969" dirty="0">
                <a:latin typeface="Georgia"/>
                <a:cs typeface="Georgia"/>
              </a:rPr>
              <a:t>et</a:t>
            </a:r>
            <a:r>
              <a:rPr sz="1969" spc="-35" dirty="0">
                <a:latin typeface="Georgia"/>
                <a:cs typeface="Georgia"/>
              </a:rPr>
              <a:t> </a:t>
            </a:r>
            <a:r>
              <a:rPr sz="1969" dirty="0">
                <a:latin typeface="Georgia"/>
                <a:cs typeface="Georgia"/>
              </a:rPr>
              <a:t>al,</a:t>
            </a:r>
            <a:r>
              <a:rPr sz="1969" spc="-35" dirty="0">
                <a:latin typeface="Georgia"/>
                <a:cs typeface="Georgia"/>
              </a:rPr>
              <a:t> </a:t>
            </a:r>
            <a:r>
              <a:rPr sz="1969" dirty="0">
                <a:latin typeface="Georgia"/>
                <a:cs typeface="Georgia"/>
              </a:rPr>
              <a:t>NIPS’2017)</a:t>
            </a:r>
            <a:r>
              <a:rPr sz="1969" spc="-32" dirty="0">
                <a:latin typeface="Georgia"/>
                <a:cs typeface="Georgia"/>
              </a:rPr>
              <a:t> </a:t>
            </a:r>
            <a:r>
              <a:rPr sz="1969" b="1" dirty="0">
                <a:latin typeface="Georgia"/>
                <a:cs typeface="Georgia"/>
              </a:rPr>
              <a:t>Learned</a:t>
            </a:r>
            <a:r>
              <a:rPr sz="1969" b="1" spc="-35" dirty="0">
                <a:latin typeface="Georgia"/>
                <a:cs typeface="Georgia"/>
              </a:rPr>
              <a:t> </a:t>
            </a:r>
            <a:r>
              <a:rPr sz="1969" b="1" dirty="0">
                <a:latin typeface="Georgia"/>
                <a:cs typeface="Georgia"/>
              </a:rPr>
              <a:t>in</a:t>
            </a:r>
            <a:r>
              <a:rPr sz="1969" b="1" spc="-35" dirty="0">
                <a:latin typeface="Georgia"/>
                <a:cs typeface="Georgia"/>
              </a:rPr>
              <a:t> </a:t>
            </a:r>
            <a:r>
              <a:rPr sz="1969" b="1" spc="-7" dirty="0">
                <a:latin typeface="Georgia"/>
                <a:cs typeface="Georgia"/>
              </a:rPr>
              <a:t>translation: </a:t>
            </a:r>
            <a:r>
              <a:rPr sz="1969" b="1" dirty="0">
                <a:latin typeface="Georgia"/>
                <a:cs typeface="Georgia"/>
              </a:rPr>
              <a:t>contextualized</a:t>
            </a:r>
            <a:r>
              <a:rPr sz="1969" b="1" spc="-42" dirty="0">
                <a:latin typeface="Georgia"/>
                <a:cs typeface="Georgia"/>
              </a:rPr>
              <a:t> </a:t>
            </a:r>
            <a:r>
              <a:rPr sz="1969" b="1" dirty="0">
                <a:latin typeface="Georgia"/>
                <a:cs typeface="Georgia"/>
              </a:rPr>
              <a:t>word</a:t>
            </a:r>
            <a:r>
              <a:rPr sz="1969" b="1" spc="-39" dirty="0">
                <a:latin typeface="Georgia"/>
                <a:cs typeface="Georgia"/>
              </a:rPr>
              <a:t> </a:t>
            </a:r>
            <a:r>
              <a:rPr sz="1969" b="1" spc="-7" dirty="0">
                <a:latin typeface="Georgia"/>
                <a:cs typeface="Georgia"/>
              </a:rPr>
              <a:t>vectors</a:t>
            </a:r>
            <a:endParaRPr sz="1969">
              <a:latin typeface="Georgia"/>
              <a:cs typeface="Georgia"/>
            </a:endParaRPr>
          </a:p>
        </p:txBody>
      </p:sp>
      <p:sp>
        <p:nvSpPr>
          <p:cNvPr id="5" name="object 5"/>
          <p:cNvSpPr txBox="1"/>
          <p:nvPr/>
        </p:nvSpPr>
        <p:spPr>
          <a:xfrm>
            <a:off x="2220516" y="2807493"/>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
        <p:nvSpPr>
          <p:cNvPr id="6" name="object 6"/>
          <p:cNvSpPr txBox="1"/>
          <p:nvPr/>
        </p:nvSpPr>
        <p:spPr>
          <a:xfrm>
            <a:off x="2533055" y="2884290"/>
            <a:ext cx="6397228" cy="620563"/>
          </a:xfrm>
          <a:prstGeom prst="rect">
            <a:avLst/>
          </a:prstGeom>
        </p:spPr>
        <p:txBody>
          <a:bodyPr vert="horz" wrap="square" lIns="0" tIns="30361" rIns="0" bIns="0" rtlCol="0">
            <a:spAutoFit/>
          </a:bodyPr>
          <a:lstStyle/>
          <a:p>
            <a:pPr marL="8929" marR="3572">
              <a:lnSpc>
                <a:spcPts val="2250"/>
              </a:lnSpc>
              <a:spcBef>
                <a:spcPts val="239"/>
              </a:spcBef>
            </a:pPr>
            <a:r>
              <a:rPr sz="1969" dirty="0">
                <a:latin typeface="Georgia"/>
                <a:cs typeface="Georgia"/>
              </a:rPr>
              <a:t>(Peters</a:t>
            </a:r>
            <a:r>
              <a:rPr sz="1969" spc="-35" dirty="0">
                <a:latin typeface="Georgia"/>
                <a:cs typeface="Georgia"/>
              </a:rPr>
              <a:t> </a:t>
            </a:r>
            <a:r>
              <a:rPr sz="1969" dirty="0">
                <a:latin typeface="Georgia"/>
                <a:cs typeface="Georgia"/>
              </a:rPr>
              <a:t>et</a:t>
            </a:r>
            <a:r>
              <a:rPr sz="1969" spc="-35" dirty="0">
                <a:latin typeface="Georgia"/>
                <a:cs typeface="Georgia"/>
              </a:rPr>
              <a:t> </a:t>
            </a:r>
            <a:r>
              <a:rPr sz="1969" dirty="0">
                <a:latin typeface="Georgia"/>
                <a:cs typeface="Georgia"/>
              </a:rPr>
              <a:t>al,</a:t>
            </a:r>
            <a:r>
              <a:rPr sz="1969" spc="-35" dirty="0">
                <a:latin typeface="Georgia"/>
                <a:cs typeface="Georgia"/>
              </a:rPr>
              <a:t> </a:t>
            </a:r>
            <a:r>
              <a:rPr sz="1969" dirty="0">
                <a:latin typeface="Georgia"/>
                <a:cs typeface="Georgia"/>
              </a:rPr>
              <a:t>NAACL’2018)</a:t>
            </a:r>
            <a:r>
              <a:rPr sz="1969" spc="-35" dirty="0">
                <a:latin typeface="Georgia"/>
                <a:cs typeface="Georgia"/>
              </a:rPr>
              <a:t> </a:t>
            </a:r>
            <a:r>
              <a:rPr sz="1969" b="1" dirty="0">
                <a:latin typeface="Georgia"/>
                <a:cs typeface="Georgia"/>
              </a:rPr>
              <a:t>Deep</a:t>
            </a:r>
            <a:r>
              <a:rPr sz="1969" b="1" spc="-35" dirty="0">
                <a:latin typeface="Georgia"/>
                <a:cs typeface="Georgia"/>
              </a:rPr>
              <a:t> </a:t>
            </a:r>
            <a:r>
              <a:rPr sz="1969" b="1" dirty="0">
                <a:latin typeface="Georgia"/>
                <a:cs typeface="Georgia"/>
              </a:rPr>
              <a:t>contextualized</a:t>
            </a:r>
            <a:r>
              <a:rPr sz="1969" b="1" spc="-35" dirty="0">
                <a:latin typeface="Georgia"/>
                <a:cs typeface="Georgia"/>
              </a:rPr>
              <a:t> </a:t>
            </a:r>
            <a:r>
              <a:rPr sz="1969" b="1" spc="-14" dirty="0">
                <a:latin typeface="Georgia"/>
                <a:cs typeface="Georgia"/>
              </a:rPr>
              <a:t>word </a:t>
            </a:r>
            <a:r>
              <a:rPr sz="1969" b="1" spc="-7" dirty="0">
                <a:latin typeface="Georgia"/>
                <a:cs typeface="Georgia"/>
              </a:rPr>
              <a:t>representations</a:t>
            </a:r>
            <a:endParaRPr sz="1969">
              <a:latin typeface="Georgia"/>
              <a:cs typeface="Georg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0510" y="897985"/>
            <a:ext cx="4734967" cy="596503"/>
          </a:xfrm>
          <a:prstGeom prst="rect">
            <a:avLst/>
          </a:prstGeom>
        </p:spPr>
        <p:txBody>
          <a:bodyPr vert="horz" wrap="square" lIns="0" tIns="8930" rIns="0" bIns="0" rtlCol="0">
            <a:spAutoFit/>
          </a:bodyPr>
          <a:lstStyle/>
          <a:p>
            <a:pPr marL="8929">
              <a:lnSpc>
                <a:spcPct val="100000"/>
              </a:lnSpc>
              <a:spcBef>
                <a:spcPts val="70"/>
              </a:spcBef>
              <a:tabLst>
                <a:tab pos="2287705" algn="l"/>
              </a:tabLst>
            </a:pPr>
            <a:r>
              <a:rPr spc="-28" dirty="0"/>
              <a:t>Limitations</a:t>
            </a:r>
            <a:r>
              <a:rPr dirty="0"/>
              <a:t>	of</a:t>
            </a:r>
            <a:r>
              <a:rPr spc="-130" dirty="0"/>
              <a:t> </a:t>
            </a:r>
            <a:r>
              <a:rPr spc="-137" dirty="0"/>
              <a:t>word2vec</a:t>
            </a:r>
          </a:p>
        </p:txBody>
      </p:sp>
      <p:sp>
        <p:nvSpPr>
          <p:cNvPr id="3" name="object 3"/>
          <p:cNvSpPr txBox="1"/>
          <p:nvPr/>
        </p:nvSpPr>
        <p:spPr>
          <a:xfrm>
            <a:off x="2220516" y="1793135"/>
            <a:ext cx="158948" cy="448717"/>
          </a:xfrm>
          <a:prstGeom prst="rect">
            <a:avLst/>
          </a:prstGeom>
        </p:spPr>
        <p:txBody>
          <a:bodyPr vert="horz" wrap="square" lIns="0" tIns="10716" rIns="0" bIns="0" rtlCol="0">
            <a:spAutoFit/>
          </a:bodyPr>
          <a:lstStyle/>
          <a:p>
            <a:pPr marL="8929">
              <a:lnSpc>
                <a:spcPct val="100000"/>
              </a:lnSpc>
              <a:spcBef>
                <a:spcPts val="84"/>
              </a:spcBef>
            </a:pPr>
            <a:r>
              <a:rPr sz="2812" spc="-35" dirty="0">
                <a:latin typeface="Georgia"/>
                <a:cs typeface="Georgia"/>
              </a:rPr>
              <a:t>•</a:t>
            </a:r>
            <a:endParaRPr sz="2812">
              <a:latin typeface="Georgia"/>
              <a:cs typeface="Georgia"/>
            </a:endParaRPr>
          </a:p>
        </p:txBody>
      </p:sp>
      <p:sp>
        <p:nvSpPr>
          <p:cNvPr id="4" name="object 4"/>
          <p:cNvSpPr txBox="1"/>
          <p:nvPr/>
        </p:nvSpPr>
        <p:spPr>
          <a:xfrm>
            <a:off x="2533055" y="1859875"/>
            <a:ext cx="3286125" cy="315217"/>
          </a:xfrm>
          <a:prstGeom prst="rect">
            <a:avLst/>
          </a:prstGeom>
        </p:spPr>
        <p:txBody>
          <a:bodyPr vert="horz" wrap="square" lIns="0" tIns="10716" rIns="0" bIns="0" rtlCol="0">
            <a:spAutoFit/>
          </a:bodyPr>
          <a:lstStyle/>
          <a:p>
            <a:pPr marL="8929">
              <a:lnSpc>
                <a:spcPct val="100000"/>
              </a:lnSpc>
              <a:spcBef>
                <a:spcPts val="84"/>
              </a:spcBef>
            </a:pPr>
            <a:r>
              <a:rPr sz="1934" dirty="0">
                <a:latin typeface="Georgia"/>
                <a:cs typeface="Georgia"/>
              </a:rPr>
              <a:t>One</a:t>
            </a:r>
            <a:r>
              <a:rPr sz="1934" spc="4" dirty="0">
                <a:latin typeface="Georgia"/>
                <a:cs typeface="Georgia"/>
              </a:rPr>
              <a:t> </a:t>
            </a:r>
            <a:r>
              <a:rPr sz="1934" dirty="0">
                <a:latin typeface="Georgia"/>
                <a:cs typeface="Georgia"/>
              </a:rPr>
              <a:t>vector</a:t>
            </a:r>
            <a:r>
              <a:rPr sz="1934" spc="14" dirty="0">
                <a:latin typeface="Georgia"/>
                <a:cs typeface="Georgia"/>
              </a:rPr>
              <a:t> </a:t>
            </a:r>
            <a:r>
              <a:rPr sz="1934" dirty="0">
                <a:latin typeface="Georgia"/>
                <a:cs typeface="Georgia"/>
              </a:rPr>
              <a:t>for</a:t>
            </a:r>
            <a:r>
              <a:rPr sz="1934" spc="11" dirty="0">
                <a:latin typeface="Georgia"/>
                <a:cs typeface="Georgia"/>
              </a:rPr>
              <a:t> </a:t>
            </a:r>
            <a:r>
              <a:rPr sz="1934" dirty="0">
                <a:latin typeface="Georgia"/>
                <a:cs typeface="Georgia"/>
              </a:rPr>
              <a:t>each</a:t>
            </a:r>
            <a:r>
              <a:rPr sz="1934" spc="11" dirty="0">
                <a:latin typeface="Georgia"/>
                <a:cs typeface="Georgia"/>
              </a:rPr>
              <a:t> </a:t>
            </a:r>
            <a:r>
              <a:rPr sz="1934" dirty="0">
                <a:latin typeface="Georgia"/>
                <a:cs typeface="Georgia"/>
              </a:rPr>
              <a:t>word</a:t>
            </a:r>
            <a:r>
              <a:rPr sz="1934" spc="14" dirty="0">
                <a:latin typeface="Georgia"/>
                <a:cs typeface="Georgia"/>
              </a:rPr>
              <a:t> </a:t>
            </a:r>
            <a:r>
              <a:rPr sz="1934" spc="-14" dirty="0">
                <a:latin typeface="Georgia"/>
                <a:cs typeface="Georgia"/>
              </a:rPr>
              <a:t>type</a:t>
            </a:r>
            <a:endParaRPr sz="1934">
              <a:latin typeface="Georgia"/>
              <a:cs typeface="Georgia"/>
            </a:endParaRPr>
          </a:p>
        </p:txBody>
      </p:sp>
      <p:sp>
        <p:nvSpPr>
          <p:cNvPr id="10" name="object 10"/>
          <p:cNvSpPr txBox="1"/>
          <p:nvPr/>
        </p:nvSpPr>
        <p:spPr>
          <a:xfrm>
            <a:off x="2220516" y="2870001"/>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
        <p:nvSpPr>
          <p:cNvPr id="11" name="object 11"/>
          <p:cNvSpPr txBox="1"/>
          <p:nvPr/>
        </p:nvSpPr>
        <p:spPr>
          <a:xfrm>
            <a:off x="2533055" y="2946797"/>
            <a:ext cx="4110782" cy="317897"/>
          </a:xfrm>
          <a:prstGeom prst="rect">
            <a:avLst/>
          </a:prstGeom>
        </p:spPr>
        <p:txBody>
          <a:bodyPr vert="horz" wrap="square" lIns="0" tIns="8930" rIns="0" bIns="0" rtlCol="0">
            <a:spAutoFit/>
          </a:bodyPr>
          <a:lstStyle/>
          <a:p>
            <a:pPr marL="8929">
              <a:lnSpc>
                <a:spcPct val="100000"/>
              </a:lnSpc>
              <a:spcBef>
                <a:spcPts val="70"/>
              </a:spcBef>
            </a:pPr>
            <a:r>
              <a:rPr sz="1969" spc="-7" dirty="0">
                <a:latin typeface="Georgia"/>
                <a:cs typeface="Georgia"/>
              </a:rPr>
              <a:t>Polysemous</a:t>
            </a:r>
            <a:r>
              <a:rPr sz="1969" spc="-35" dirty="0">
                <a:latin typeface="Georgia"/>
                <a:cs typeface="Georgia"/>
              </a:rPr>
              <a:t> </a:t>
            </a:r>
            <a:r>
              <a:rPr sz="1969" dirty="0">
                <a:latin typeface="Georgia"/>
                <a:cs typeface="Georgia"/>
              </a:rPr>
              <a:t>words,</a:t>
            </a:r>
            <a:r>
              <a:rPr sz="1969" spc="-32" dirty="0">
                <a:latin typeface="Georgia"/>
                <a:cs typeface="Georgia"/>
              </a:rPr>
              <a:t> </a:t>
            </a:r>
            <a:r>
              <a:rPr sz="1969" dirty="0">
                <a:latin typeface="Georgia"/>
                <a:cs typeface="Georgia"/>
              </a:rPr>
              <a:t>e.g.,</a:t>
            </a:r>
            <a:r>
              <a:rPr sz="1969" spc="-28" dirty="0">
                <a:latin typeface="Georgia"/>
                <a:cs typeface="Georgia"/>
              </a:rPr>
              <a:t> </a:t>
            </a:r>
            <a:r>
              <a:rPr sz="1969" dirty="0">
                <a:latin typeface="Georgia"/>
                <a:cs typeface="Georgia"/>
              </a:rPr>
              <a:t>bank,</a:t>
            </a:r>
            <a:r>
              <a:rPr sz="1969" spc="-32" dirty="0">
                <a:latin typeface="Georgia"/>
                <a:cs typeface="Georgia"/>
              </a:rPr>
              <a:t> </a:t>
            </a:r>
            <a:r>
              <a:rPr sz="1969" spc="-7" dirty="0">
                <a:latin typeface="Georgia"/>
                <a:cs typeface="Georgia"/>
              </a:rPr>
              <a:t>mouse</a:t>
            </a:r>
            <a:endParaRPr sz="1969">
              <a:latin typeface="Georgia"/>
              <a:cs typeface="Georgia"/>
            </a:endParaRPr>
          </a:p>
        </p:txBody>
      </p:sp>
      <p:pic>
        <p:nvPicPr>
          <p:cNvPr id="12" name="object 12"/>
          <p:cNvPicPr/>
          <p:nvPr/>
        </p:nvPicPr>
        <p:blipFill>
          <a:blip r:embed="rId2" cstate="print"/>
          <a:stretch>
            <a:fillRect/>
          </a:stretch>
        </p:blipFill>
        <p:spPr>
          <a:xfrm>
            <a:off x="3417406" y="3543071"/>
            <a:ext cx="5877906" cy="1028798"/>
          </a:xfrm>
          <a:prstGeom prst="rect">
            <a:avLst/>
          </a:prstGeom>
        </p:spPr>
      </p:pic>
      <p:sp>
        <p:nvSpPr>
          <p:cNvPr id="13" name="object 13"/>
          <p:cNvSpPr txBox="1"/>
          <p:nvPr/>
        </p:nvSpPr>
        <p:spPr>
          <a:xfrm>
            <a:off x="2238375" y="4959549"/>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
        <p:nvSpPr>
          <p:cNvPr id="14" name="object 14"/>
          <p:cNvSpPr txBox="1"/>
          <p:nvPr/>
        </p:nvSpPr>
        <p:spPr>
          <a:xfrm>
            <a:off x="2550914" y="5036344"/>
            <a:ext cx="6965603" cy="915515"/>
          </a:xfrm>
          <a:prstGeom prst="rect">
            <a:avLst/>
          </a:prstGeom>
        </p:spPr>
        <p:txBody>
          <a:bodyPr vert="horz" wrap="square" lIns="0" tIns="30361" rIns="0" bIns="0" rtlCol="0">
            <a:spAutoFit/>
          </a:bodyPr>
          <a:lstStyle/>
          <a:p>
            <a:pPr marL="8929" marR="3572">
              <a:lnSpc>
                <a:spcPts val="2250"/>
              </a:lnSpc>
              <a:spcBef>
                <a:spcPts val="239"/>
              </a:spcBef>
            </a:pPr>
            <a:r>
              <a:rPr sz="1969" dirty="0">
                <a:latin typeface="Georgia"/>
                <a:cs typeface="Georgia"/>
              </a:rPr>
              <a:t>Words</a:t>
            </a:r>
            <a:r>
              <a:rPr sz="1969" spc="-39" dirty="0">
                <a:latin typeface="Georgia"/>
                <a:cs typeface="Georgia"/>
              </a:rPr>
              <a:t> </a:t>
            </a:r>
            <a:r>
              <a:rPr sz="1969" dirty="0">
                <a:latin typeface="Georgia"/>
                <a:cs typeface="Georgia"/>
              </a:rPr>
              <a:t>don’t</a:t>
            </a:r>
            <a:r>
              <a:rPr sz="1969" spc="-39" dirty="0">
                <a:latin typeface="Georgia"/>
                <a:cs typeface="Georgia"/>
              </a:rPr>
              <a:t> </a:t>
            </a:r>
            <a:r>
              <a:rPr sz="1969" dirty="0">
                <a:latin typeface="Georgia"/>
                <a:cs typeface="Georgia"/>
              </a:rPr>
              <a:t>appear</a:t>
            </a:r>
            <a:r>
              <a:rPr sz="1969" spc="-32" dirty="0">
                <a:latin typeface="Georgia"/>
                <a:cs typeface="Georgia"/>
              </a:rPr>
              <a:t> </a:t>
            </a:r>
            <a:r>
              <a:rPr sz="1969" dirty="0">
                <a:latin typeface="Georgia"/>
                <a:cs typeface="Georgia"/>
              </a:rPr>
              <a:t>in</a:t>
            </a:r>
            <a:r>
              <a:rPr sz="1969" spc="-39" dirty="0">
                <a:latin typeface="Georgia"/>
                <a:cs typeface="Georgia"/>
              </a:rPr>
              <a:t> </a:t>
            </a:r>
            <a:r>
              <a:rPr sz="1969" dirty="0">
                <a:latin typeface="Georgia"/>
                <a:cs typeface="Georgia"/>
              </a:rPr>
              <a:t>isolation.</a:t>
            </a:r>
            <a:r>
              <a:rPr sz="1969" spc="-35" dirty="0">
                <a:latin typeface="Georgia"/>
                <a:cs typeface="Georgia"/>
              </a:rPr>
              <a:t> </a:t>
            </a:r>
            <a:r>
              <a:rPr sz="1969" dirty="0">
                <a:latin typeface="Georgia"/>
                <a:cs typeface="Georgia"/>
              </a:rPr>
              <a:t>The</a:t>
            </a:r>
            <a:r>
              <a:rPr sz="1969" spc="-35" dirty="0">
                <a:latin typeface="Georgia"/>
                <a:cs typeface="Georgia"/>
              </a:rPr>
              <a:t> </a:t>
            </a:r>
            <a:r>
              <a:rPr sz="1969" dirty="0">
                <a:latin typeface="Georgia"/>
                <a:cs typeface="Georgia"/>
              </a:rPr>
              <a:t>word</a:t>
            </a:r>
            <a:r>
              <a:rPr sz="1969" spc="-35" dirty="0">
                <a:latin typeface="Georgia"/>
                <a:cs typeface="Georgia"/>
              </a:rPr>
              <a:t> </a:t>
            </a:r>
            <a:r>
              <a:rPr sz="1969" dirty="0">
                <a:latin typeface="Georgia"/>
                <a:cs typeface="Georgia"/>
              </a:rPr>
              <a:t>use</a:t>
            </a:r>
            <a:r>
              <a:rPr sz="1969" spc="-35" dirty="0">
                <a:latin typeface="Georgia"/>
                <a:cs typeface="Georgia"/>
              </a:rPr>
              <a:t> </a:t>
            </a:r>
            <a:r>
              <a:rPr sz="1969" dirty="0">
                <a:latin typeface="Georgia"/>
                <a:cs typeface="Georgia"/>
              </a:rPr>
              <a:t>(e.g.,</a:t>
            </a:r>
            <a:r>
              <a:rPr sz="1969" spc="-39" dirty="0">
                <a:latin typeface="Georgia"/>
                <a:cs typeface="Georgia"/>
              </a:rPr>
              <a:t> </a:t>
            </a:r>
            <a:r>
              <a:rPr sz="1969" dirty="0">
                <a:latin typeface="Georgia"/>
                <a:cs typeface="Georgia"/>
              </a:rPr>
              <a:t>syntax</a:t>
            </a:r>
            <a:r>
              <a:rPr sz="1969" spc="-32" dirty="0">
                <a:latin typeface="Georgia"/>
                <a:cs typeface="Georgia"/>
              </a:rPr>
              <a:t> </a:t>
            </a:r>
            <a:r>
              <a:rPr sz="1969" spc="-18" dirty="0">
                <a:latin typeface="Georgia"/>
                <a:cs typeface="Georgia"/>
              </a:rPr>
              <a:t>and </a:t>
            </a:r>
            <a:r>
              <a:rPr sz="1969" dirty="0">
                <a:latin typeface="Georgia"/>
                <a:cs typeface="Georgia"/>
              </a:rPr>
              <a:t>semantics)</a:t>
            </a:r>
            <a:r>
              <a:rPr sz="1969" spc="-32" dirty="0">
                <a:latin typeface="Georgia"/>
                <a:cs typeface="Georgia"/>
              </a:rPr>
              <a:t> </a:t>
            </a:r>
            <a:r>
              <a:rPr sz="1969" dirty="0">
                <a:latin typeface="Georgia"/>
                <a:cs typeface="Georgia"/>
              </a:rPr>
              <a:t>depends</a:t>
            </a:r>
            <a:r>
              <a:rPr sz="1969" spc="-32" dirty="0">
                <a:latin typeface="Georgia"/>
                <a:cs typeface="Georgia"/>
              </a:rPr>
              <a:t> </a:t>
            </a:r>
            <a:r>
              <a:rPr sz="1969" dirty="0">
                <a:latin typeface="Georgia"/>
                <a:cs typeface="Georgia"/>
              </a:rPr>
              <a:t>on</a:t>
            </a:r>
            <a:r>
              <a:rPr sz="1969" spc="-32" dirty="0">
                <a:latin typeface="Georgia"/>
                <a:cs typeface="Georgia"/>
              </a:rPr>
              <a:t> </a:t>
            </a:r>
            <a:r>
              <a:rPr sz="1969" dirty="0">
                <a:latin typeface="Georgia"/>
                <a:cs typeface="Georgia"/>
              </a:rPr>
              <a:t>its</a:t>
            </a:r>
            <a:r>
              <a:rPr sz="1969" spc="-32" dirty="0">
                <a:latin typeface="Georgia"/>
                <a:cs typeface="Georgia"/>
              </a:rPr>
              <a:t> </a:t>
            </a:r>
            <a:r>
              <a:rPr sz="1969" dirty="0">
                <a:latin typeface="Georgia"/>
                <a:cs typeface="Georgia"/>
              </a:rPr>
              <a:t>context.</a:t>
            </a:r>
            <a:r>
              <a:rPr sz="1969" spc="-32" dirty="0">
                <a:latin typeface="Georgia"/>
                <a:cs typeface="Georgia"/>
              </a:rPr>
              <a:t> </a:t>
            </a:r>
            <a:r>
              <a:rPr sz="1969" dirty="0">
                <a:latin typeface="Georgia"/>
                <a:cs typeface="Georgia"/>
              </a:rPr>
              <a:t>Why</a:t>
            </a:r>
            <a:r>
              <a:rPr sz="1969" spc="-28" dirty="0">
                <a:latin typeface="Georgia"/>
                <a:cs typeface="Georgia"/>
              </a:rPr>
              <a:t> </a:t>
            </a:r>
            <a:r>
              <a:rPr sz="1969" dirty="0">
                <a:latin typeface="Georgia"/>
                <a:cs typeface="Georgia"/>
              </a:rPr>
              <a:t>not</a:t>
            </a:r>
            <a:r>
              <a:rPr sz="1969" spc="-32" dirty="0">
                <a:latin typeface="Georgia"/>
                <a:cs typeface="Georgia"/>
              </a:rPr>
              <a:t> </a:t>
            </a:r>
            <a:r>
              <a:rPr sz="1969" dirty="0">
                <a:latin typeface="Georgia"/>
                <a:cs typeface="Georgia"/>
              </a:rPr>
              <a:t>learn</a:t>
            </a:r>
            <a:r>
              <a:rPr sz="1969" spc="-32" dirty="0">
                <a:latin typeface="Georgia"/>
                <a:cs typeface="Georgia"/>
              </a:rPr>
              <a:t> </a:t>
            </a:r>
            <a:r>
              <a:rPr sz="1969" spc="-18" dirty="0">
                <a:latin typeface="Georgia"/>
                <a:cs typeface="Georgia"/>
              </a:rPr>
              <a:t>the </a:t>
            </a:r>
            <a:r>
              <a:rPr sz="1969" dirty="0">
                <a:latin typeface="Georgia"/>
                <a:cs typeface="Georgia"/>
              </a:rPr>
              <a:t>representations</a:t>
            </a:r>
            <a:r>
              <a:rPr sz="1969" spc="-39" dirty="0">
                <a:latin typeface="Georgia"/>
                <a:cs typeface="Georgia"/>
              </a:rPr>
              <a:t> </a:t>
            </a:r>
            <a:r>
              <a:rPr sz="1969" dirty="0">
                <a:latin typeface="Georgia"/>
                <a:cs typeface="Georgia"/>
              </a:rPr>
              <a:t>for</a:t>
            </a:r>
            <a:r>
              <a:rPr sz="1969" spc="-35" dirty="0">
                <a:latin typeface="Georgia"/>
                <a:cs typeface="Georgia"/>
              </a:rPr>
              <a:t> </a:t>
            </a:r>
            <a:r>
              <a:rPr sz="1969" dirty="0">
                <a:latin typeface="Georgia"/>
                <a:cs typeface="Georgia"/>
              </a:rPr>
              <a:t>each</a:t>
            </a:r>
            <a:r>
              <a:rPr sz="1969" spc="-35" dirty="0">
                <a:latin typeface="Georgia"/>
                <a:cs typeface="Georgia"/>
              </a:rPr>
              <a:t> </a:t>
            </a:r>
            <a:r>
              <a:rPr sz="1969" dirty="0">
                <a:latin typeface="Georgia"/>
                <a:cs typeface="Georgia"/>
              </a:rPr>
              <a:t>word</a:t>
            </a:r>
            <a:r>
              <a:rPr sz="1969" spc="-39" dirty="0">
                <a:latin typeface="Georgia"/>
                <a:cs typeface="Georgia"/>
              </a:rPr>
              <a:t> </a:t>
            </a:r>
            <a:r>
              <a:rPr sz="1969" dirty="0">
                <a:latin typeface="Georgia"/>
                <a:cs typeface="Georgia"/>
              </a:rPr>
              <a:t>in</a:t>
            </a:r>
            <a:r>
              <a:rPr sz="1969" spc="-35" dirty="0">
                <a:latin typeface="Georgia"/>
                <a:cs typeface="Georgia"/>
              </a:rPr>
              <a:t> </a:t>
            </a:r>
            <a:r>
              <a:rPr sz="1969" dirty="0">
                <a:latin typeface="Georgia"/>
                <a:cs typeface="Georgia"/>
              </a:rPr>
              <a:t>its</a:t>
            </a:r>
            <a:r>
              <a:rPr sz="1969" spc="-39" dirty="0">
                <a:latin typeface="Georgia"/>
                <a:cs typeface="Georgia"/>
              </a:rPr>
              <a:t> </a:t>
            </a:r>
            <a:r>
              <a:rPr sz="1969" spc="-7" dirty="0">
                <a:latin typeface="Georgia"/>
                <a:cs typeface="Georgia"/>
              </a:rPr>
              <a:t>context?</a:t>
            </a:r>
            <a:endParaRPr sz="1969">
              <a:latin typeface="Georgia"/>
              <a:cs typeface="Georgia"/>
            </a:endParaRPr>
          </a:p>
        </p:txBody>
      </p:sp>
      <p:pic>
        <p:nvPicPr>
          <p:cNvPr id="15" name="Picture 14" descr="A math equation with numbers and lines&#10;&#10;AI-generated content may be incorrect.">
            <a:extLst>
              <a:ext uri="{FF2B5EF4-FFF2-40B4-BE49-F238E27FC236}">
                <a16:creationId xmlns:a16="http://schemas.microsoft.com/office/drawing/2014/main" id="{CCD52D19-E309-76F0-508A-062441F89E87}"/>
              </a:ext>
            </a:extLst>
          </p:cNvPr>
          <p:cNvPicPr>
            <a:picLocks noChangeAspect="1"/>
          </p:cNvPicPr>
          <p:nvPr/>
        </p:nvPicPr>
        <p:blipFill>
          <a:blip r:embed="rId3"/>
          <a:stretch>
            <a:fillRect/>
          </a:stretch>
        </p:blipFill>
        <p:spPr>
          <a:xfrm>
            <a:off x="7053785" y="1142609"/>
            <a:ext cx="2886075" cy="17335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2055">
              <a:lnSpc>
                <a:spcPct val="100000"/>
              </a:lnSpc>
              <a:spcBef>
                <a:spcPts val="70"/>
              </a:spcBef>
              <a:tabLst>
                <a:tab pos="2894009" algn="l"/>
                <a:tab pos="3974463" algn="l"/>
              </a:tabLst>
            </a:pPr>
            <a:r>
              <a:rPr sz="3516" spc="-46" dirty="0"/>
              <a:t>Contextualized</a:t>
            </a:r>
            <a:r>
              <a:rPr sz="3516" dirty="0"/>
              <a:t>	</a:t>
            </a:r>
            <a:r>
              <a:rPr sz="3516" spc="-14" dirty="0"/>
              <a:t>word</a:t>
            </a:r>
            <a:r>
              <a:rPr sz="3516" dirty="0"/>
              <a:t>	</a:t>
            </a:r>
            <a:r>
              <a:rPr sz="3516" spc="-257" dirty="0"/>
              <a:t>embeddings</a:t>
            </a:r>
            <a:endParaRPr sz="3516"/>
          </a:p>
        </p:txBody>
      </p:sp>
      <p:sp>
        <p:nvSpPr>
          <p:cNvPr id="3" name="object 3"/>
          <p:cNvSpPr txBox="1"/>
          <p:nvPr/>
        </p:nvSpPr>
        <p:spPr>
          <a:xfrm>
            <a:off x="2140149" y="1438852"/>
            <a:ext cx="7907238" cy="950565"/>
          </a:xfrm>
          <a:prstGeom prst="rect">
            <a:avLst/>
          </a:prstGeom>
        </p:spPr>
        <p:txBody>
          <a:bodyPr vert="horz" wrap="square" lIns="0" tIns="177254" rIns="0" bIns="0" rtlCol="0">
            <a:spAutoFit/>
          </a:bodyPr>
          <a:lstStyle/>
          <a:p>
            <a:pPr marL="26788">
              <a:lnSpc>
                <a:spcPct val="100000"/>
              </a:lnSpc>
              <a:spcBef>
                <a:spcPts val="1396"/>
              </a:spcBef>
            </a:pPr>
            <a:r>
              <a:rPr sz="1969" dirty="0">
                <a:latin typeface="Georgia"/>
                <a:cs typeface="Georgia"/>
              </a:rPr>
              <a:t>Build</a:t>
            </a:r>
            <a:r>
              <a:rPr sz="1969" spc="-35" dirty="0">
                <a:latin typeface="Georgia"/>
                <a:cs typeface="Georgia"/>
              </a:rPr>
              <a:t> </a:t>
            </a:r>
            <a:r>
              <a:rPr sz="1969" dirty="0">
                <a:latin typeface="Georgia"/>
                <a:cs typeface="Georgia"/>
              </a:rPr>
              <a:t>a</a:t>
            </a:r>
            <a:r>
              <a:rPr sz="1969" spc="-32" dirty="0">
                <a:latin typeface="Georgia"/>
                <a:cs typeface="Georgia"/>
              </a:rPr>
              <a:t> </a:t>
            </a:r>
            <a:r>
              <a:rPr sz="1969" dirty="0">
                <a:latin typeface="Georgia"/>
                <a:cs typeface="Georgia"/>
              </a:rPr>
              <a:t>vector</a:t>
            </a:r>
            <a:r>
              <a:rPr sz="1969" spc="-32" dirty="0">
                <a:latin typeface="Georgia"/>
                <a:cs typeface="Georgia"/>
              </a:rPr>
              <a:t> </a:t>
            </a:r>
            <a:r>
              <a:rPr sz="1969" dirty="0">
                <a:latin typeface="Georgia"/>
                <a:cs typeface="Georgia"/>
              </a:rPr>
              <a:t>for</a:t>
            </a:r>
            <a:r>
              <a:rPr sz="1969" spc="-32" dirty="0">
                <a:latin typeface="Georgia"/>
                <a:cs typeface="Georgia"/>
              </a:rPr>
              <a:t> </a:t>
            </a:r>
            <a:r>
              <a:rPr sz="1969" dirty="0">
                <a:latin typeface="Georgia"/>
                <a:cs typeface="Georgia"/>
              </a:rPr>
              <a:t>each</a:t>
            </a:r>
            <a:r>
              <a:rPr sz="1969" spc="-32" dirty="0">
                <a:latin typeface="Georgia"/>
                <a:cs typeface="Georgia"/>
              </a:rPr>
              <a:t> </a:t>
            </a:r>
            <a:r>
              <a:rPr sz="1969" dirty="0">
                <a:latin typeface="Georgia"/>
                <a:cs typeface="Georgia"/>
              </a:rPr>
              <a:t>word</a:t>
            </a:r>
            <a:r>
              <a:rPr sz="1969" spc="-35" dirty="0">
                <a:latin typeface="Georgia"/>
                <a:cs typeface="Georgia"/>
              </a:rPr>
              <a:t> </a:t>
            </a:r>
            <a:r>
              <a:rPr sz="1969" dirty="0">
                <a:latin typeface="Georgia"/>
                <a:cs typeface="Georgia"/>
              </a:rPr>
              <a:t>conditioned</a:t>
            </a:r>
            <a:r>
              <a:rPr sz="1969" spc="-35" dirty="0">
                <a:latin typeface="Georgia"/>
                <a:cs typeface="Georgia"/>
              </a:rPr>
              <a:t> </a:t>
            </a:r>
            <a:r>
              <a:rPr sz="1969" dirty="0">
                <a:latin typeface="Georgia"/>
                <a:cs typeface="Georgia"/>
              </a:rPr>
              <a:t>on</a:t>
            </a:r>
            <a:r>
              <a:rPr sz="1969" spc="-32" dirty="0">
                <a:latin typeface="Georgia"/>
                <a:cs typeface="Georgia"/>
              </a:rPr>
              <a:t> </a:t>
            </a:r>
            <a:r>
              <a:rPr sz="1969" dirty="0">
                <a:latin typeface="Georgia"/>
                <a:cs typeface="Georgia"/>
              </a:rPr>
              <a:t>its</a:t>
            </a:r>
            <a:r>
              <a:rPr sz="1969" spc="-32" dirty="0">
                <a:latin typeface="Georgia"/>
                <a:cs typeface="Georgia"/>
              </a:rPr>
              <a:t> </a:t>
            </a:r>
            <a:r>
              <a:rPr sz="1969" b="1" spc="-7" dirty="0">
                <a:latin typeface="Georgia"/>
                <a:cs typeface="Georgia"/>
              </a:rPr>
              <a:t>context</a:t>
            </a:r>
            <a:r>
              <a:rPr sz="1969" spc="-7" dirty="0">
                <a:latin typeface="Georgia"/>
                <a:cs typeface="Georgia"/>
              </a:rPr>
              <a:t>!</a:t>
            </a:r>
            <a:endParaRPr sz="1969">
              <a:latin typeface="Georgia"/>
              <a:cs typeface="Georgia"/>
            </a:endParaRPr>
          </a:p>
          <a:p>
            <a:pPr marL="8929">
              <a:lnSpc>
                <a:spcPct val="100000"/>
              </a:lnSpc>
              <a:spcBef>
                <a:spcPts val="1328"/>
              </a:spcBef>
            </a:pPr>
            <a:r>
              <a:rPr sz="1934" dirty="0">
                <a:latin typeface="Georgia"/>
                <a:cs typeface="Georgia"/>
              </a:rPr>
              <a:t>=</a:t>
            </a:r>
            <a:r>
              <a:rPr sz="1934" spc="4" dirty="0">
                <a:latin typeface="Georgia"/>
                <a:cs typeface="Georgia"/>
              </a:rPr>
              <a:t> </a:t>
            </a:r>
            <a:r>
              <a:rPr sz="1934" dirty="0">
                <a:latin typeface="Georgia"/>
                <a:cs typeface="Georgia"/>
              </a:rPr>
              <a:t>representation</a:t>
            </a:r>
            <a:r>
              <a:rPr sz="1934" spc="11" dirty="0">
                <a:latin typeface="Georgia"/>
                <a:cs typeface="Georgia"/>
              </a:rPr>
              <a:t> </a:t>
            </a:r>
            <a:r>
              <a:rPr sz="1934" dirty="0">
                <a:latin typeface="Georgia"/>
                <a:cs typeface="Georgia"/>
              </a:rPr>
              <a:t>for</a:t>
            </a:r>
            <a:r>
              <a:rPr sz="1934" spc="11" dirty="0">
                <a:latin typeface="Georgia"/>
                <a:cs typeface="Georgia"/>
              </a:rPr>
              <a:t> </a:t>
            </a:r>
            <a:r>
              <a:rPr sz="1934" dirty="0">
                <a:latin typeface="Georgia"/>
                <a:cs typeface="Georgia"/>
              </a:rPr>
              <a:t>each</a:t>
            </a:r>
            <a:r>
              <a:rPr sz="1934" spc="11" dirty="0">
                <a:latin typeface="Georgia"/>
                <a:cs typeface="Georgia"/>
              </a:rPr>
              <a:t> </a:t>
            </a:r>
            <a:r>
              <a:rPr sz="1934" dirty="0">
                <a:latin typeface="Georgia"/>
                <a:cs typeface="Georgia"/>
              </a:rPr>
              <a:t>token</a:t>
            </a:r>
            <a:r>
              <a:rPr sz="1934" spc="11" dirty="0">
                <a:latin typeface="Georgia"/>
                <a:cs typeface="Georgia"/>
              </a:rPr>
              <a:t> </a:t>
            </a:r>
            <a:r>
              <a:rPr sz="1934" dirty="0">
                <a:latin typeface="Georgia"/>
                <a:cs typeface="Georgia"/>
              </a:rPr>
              <a:t>is</a:t>
            </a:r>
            <a:r>
              <a:rPr sz="1934" spc="11" dirty="0">
                <a:latin typeface="Georgia"/>
                <a:cs typeface="Georgia"/>
              </a:rPr>
              <a:t> </a:t>
            </a:r>
            <a:r>
              <a:rPr sz="1934" dirty="0">
                <a:latin typeface="Georgia"/>
                <a:cs typeface="Georgia"/>
              </a:rPr>
              <a:t>a</a:t>
            </a:r>
            <a:r>
              <a:rPr sz="1934" spc="11" dirty="0">
                <a:latin typeface="Georgia"/>
                <a:cs typeface="Georgia"/>
              </a:rPr>
              <a:t> </a:t>
            </a:r>
            <a:r>
              <a:rPr sz="1934" dirty="0">
                <a:latin typeface="Georgia"/>
                <a:cs typeface="Georgia"/>
              </a:rPr>
              <a:t>function</a:t>
            </a:r>
            <a:r>
              <a:rPr sz="1934" spc="14" dirty="0">
                <a:latin typeface="Georgia"/>
                <a:cs typeface="Georgia"/>
              </a:rPr>
              <a:t> </a:t>
            </a:r>
            <a:r>
              <a:rPr sz="1934" dirty="0">
                <a:latin typeface="Georgia"/>
                <a:cs typeface="Georgia"/>
              </a:rPr>
              <a:t>of</a:t>
            </a:r>
            <a:r>
              <a:rPr sz="1934" spc="11" dirty="0">
                <a:latin typeface="Georgia"/>
                <a:cs typeface="Georgia"/>
              </a:rPr>
              <a:t> </a:t>
            </a:r>
            <a:r>
              <a:rPr sz="1934" dirty="0">
                <a:latin typeface="Georgia"/>
                <a:cs typeface="Georgia"/>
              </a:rPr>
              <a:t>the</a:t>
            </a:r>
            <a:r>
              <a:rPr sz="1934" spc="11" dirty="0">
                <a:latin typeface="Georgia"/>
                <a:cs typeface="Georgia"/>
              </a:rPr>
              <a:t> </a:t>
            </a:r>
            <a:r>
              <a:rPr sz="1934" dirty="0">
                <a:latin typeface="Georgia"/>
                <a:cs typeface="Georgia"/>
              </a:rPr>
              <a:t>entire</a:t>
            </a:r>
            <a:r>
              <a:rPr sz="1934" spc="11" dirty="0">
                <a:latin typeface="Georgia"/>
                <a:cs typeface="Georgia"/>
              </a:rPr>
              <a:t> </a:t>
            </a:r>
            <a:r>
              <a:rPr sz="1934" dirty="0">
                <a:latin typeface="Georgia"/>
                <a:cs typeface="Georgia"/>
              </a:rPr>
              <a:t>input</a:t>
            </a:r>
            <a:r>
              <a:rPr sz="1934" spc="11" dirty="0">
                <a:latin typeface="Georgia"/>
                <a:cs typeface="Georgia"/>
              </a:rPr>
              <a:t> </a:t>
            </a:r>
            <a:r>
              <a:rPr sz="1934" spc="-7" dirty="0">
                <a:latin typeface="Georgia"/>
                <a:cs typeface="Georgia"/>
              </a:rPr>
              <a:t>sentence</a:t>
            </a:r>
            <a:endParaRPr sz="1934">
              <a:latin typeface="Georgia"/>
              <a:cs typeface="Georgia"/>
            </a:endParaRPr>
          </a:p>
        </p:txBody>
      </p:sp>
      <p:pic>
        <p:nvPicPr>
          <p:cNvPr id="4" name="object 4"/>
          <p:cNvPicPr/>
          <p:nvPr/>
        </p:nvPicPr>
        <p:blipFill>
          <a:blip r:embed="rId2" cstate="print"/>
          <a:stretch>
            <a:fillRect/>
          </a:stretch>
        </p:blipFill>
        <p:spPr>
          <a:xfrm>
            <a:off x="4158682" y="3122520"/>
            <a:ext cx="330363" cy="950413"/>
          </a:xfrm>
          <a:prstGeom prst="rect">
            <a:avLst/>
          </a:prstGeom>
        </p:spPr>
      </p:pic>
      <p:pic>
        <p:nvPicPr>
          <p:cNvPr id="5" name="object 5"/>
          <p:cNvPicPr/>
          <p:nvPr/>
        </p:nvPicPr>
        <p:blipFill>
          <a:blip r:embed="rId2" cstate="print"/>
          <a:stretch>
            <a:fillRect/>
          </a:stretch>
        </p:blipFill>
        <p:spPr>
          <a:xfrm>
            <a:off x="4890295" y="3122520"/>
            <a:ext cx="330363" cy="950413"/>
          </a:xfrm>
          <a:prstGeom prst="rect">
            <a:avLst/>
          </a:prstGeom>
        </p:spPr>
      </p:pic>
      <p:pic>
        <p:nvPicPr>
          <p:cNvPr id="6" name="object 6"/>
          <p:cNvPicPr/>
          <p:nvPr/>
        </p:nvPicPr>
        <p:blipFill>
          <a:blip r:embed="rId2" cstate="print"/>
          <a:stretch>
            <a:fillRect/>
          </a:stretch>
        </p:blipFill>
        <p:spPr>
          <a:xfrm>
            <a:off x="5630840" y="3122520"/>
            <a:ext cx="330363" cy="950413"/>
          </a:xfrm>
          <a:prstGeom prst="rect">
            <a:avLst/>
          </a:prstGeom>
        </p:spPr>
      </p:pic>
      <p:pic>
        <p:nvPicPr>
          <p:cNvPr id="7" name="object 7"/>
          <p:cNvPicPr/>
          <p:nvPr/>
        </p:nvPicPr>
        <p:blipFill>
          <a:blip r:embed="rId2" cstate="print"/>
          <a:stretch>
            <a:fillRect/>
          </a:stretch>
        </p:blipFill>
        <p:spPr>
          <a:xfrm>
            <a:off x="6380313" y="3122520"/>
            <a:ext cx="330363" cy="950413"/>
          </a:xfrm>
          <a:prstGeom prst="rect">
            <a:avLst/>
          </a:prstGeom>
        </p:spPr>
      </p:pic>
      <p:pic>
        <p:nvPicPr>
          <p:cNvPr id="8" name="object 8"/>
          <p:cNvPicPr/>
          <p:nvPr/>
        </p:nvPicPr>
        <p:blipFill>
          <a:blip r:embed="rId2" cstate="print"/>
          <a:stretch>
            <a:fillRect/>
          </a:stretch>
        </p:blipFill>
        <p:spPr>
          <a:xfrm>
            <a:off x="7152445" y="3122520"/>
            <a:ext cx="330363" cy="950413"/>
          </a:xfrm>
          <a:prstGeom prst="rect">
            <a:avLst/>
          </a:prstGeom>
        </p:spPr>
      </p:pic>
      <p:pic>
        <p:nvPicPr>
          <p:cNvPr id="9" name="object 9"/>
          <p:cNvPicPr/>
          <p:nvPr/>
        </p:nvPicPr>
        <p:blipFill>
          <a:blip r:embed="rId2" cstate="print"/>
          <a:stretch>
            <a:fillRect/>
          </a:stretch>
        </p:blipFill>
        <p:spPr>
          <a:xfrm>
            <a:off x="7906334" y="3122520"/>
            <a:ext cx="330363" cy="950413"/>
          </a:xfrm>
          <a:prstGeom prst="rect">
            <a:avLst/>
          </a:prstGeom>
        </p:spPr>
      </p:pic>
      <p:sp>
        <p:nvSpPr>
          <p:cNvPr id="10" name="object 10"/>
          <p:cNvSpPr txBox="1"/>
          <p:nvPr/>
        </p:nvSpPr>
        <p:spPr>
          <a:xfrm>
            <a:off x="4854774" y="5018484"/>
            <a:ext cx="3250406" cy="242888"/>
          </a:xfrm>
          <a:prstGeom prst="rect">
            <a:avLst/>
          </a:prstGeom>
        </p:spPr>
        <p:txBody>
          <a:bodyPr vert="horz" wrap="square" lIns="0" tIns="8930" rIns="0" bIns="0" rtlCol="0">
            <a:spAutoFit/>
          </a:bodyPr>
          <a:lstStyle/>
          <a:p>
            <a:pPr marL="8929">
              <a:lnSpc>
                <a:spcPct val="100000"/>
              </a:lnSpc>
              <a:spcBef>
                <a:spcPts val="70"/>
              </a:spcBef>
              <a:tabLst>
                <a:tab pos="803197" algn="l"/>
                <a:tab pos="1455040" algn="l"/>
                <a:tab pos="2231896" algn="l"/>
                <a:tab pos="3178409" algn="l"/>
              </a:tabLst>
            </a:pPr>
            <a:r>
              <a:rPr sz="1336" spc="-7" dirty="0">
                <a:latin typeface="Georgia"/>
                <a:cs typeface="Georgia"/>
              </a:rPr>
              <a:t>movie</a:t>
            </a:r>
            <a:r>
              <a:rPr sz="1336" dirty="0">
                <a:latin typeface="Georgia"/>
                <a:cs typeface="Georgia"/>
              </a:rPr>
              <a:t>	</a:t>
            </a:r>
            <a:r>
              <a:rPr sz="2215" spc="-26" baseline="-2645" dirty="0">
                <a:latin typeface="Georgia"/>
                <a:cs typeface="Georgia"/>
              </a:rPr>
              <a:t>was</a:t>
            </a:r>
            <a:r>
              <a:rPr sz="2215" baseline="-2645" dirty="0">
                <a:latin typeface="Georgia"/>
                <a:cs typeface="Georgia"/>
              </a:rPr>
              <a:t>	</a:t>
            </a:r>
            <a:r>
              <a:rPr sz="1301" spc="-7" dirty="0">
                <a:latin typeface="Georgia"/>
                <a:cs typeface="Georgia"/>
              </a:rPr>
              <a:t>terribly</a:t>
            </a:r>
            <a:r>
              <a:rPr sz="1301" dirty="0">
                <a:latin typeface="Georgia"/>
                <a:cs typeface="Georgia"/>
              </a:rPr>
              <a:t>	</a:t>
            </a:r>
            <a:r>
              <a:rPr sz="1336" spc="-7" dirty="0">
                <a:latin typeface="Georgia"/>
                <a:cs typeface="Georgia"/>
              </a:rPr>
              <a:t>exciting</a:t>
            </a:r>
            <a:r>
              <a:rPr sz="1336" dirty="0">
                <a:latin typeface="Georgia"/>
                <a:cs typeface="Georgia"/>
              </a:rPr>
              <a:t>	</a:t>
            </a:r>
            <a:r>
              <a:rPr sz="2215" spc="-53" baseline="-2645" dirty="0">
                <a:latin typeface="Georgia"/>
                <a:cs typeface="Georgia"/>
              </a:rPr>
              <a:t>!</a:t>
            </a:r>
            <a:endParaRPr sz="2215" baseline="-2645">
              <a:latin typeface="Georgia"/>
              <a:cs typeface="Georgia"/>
            </a:endParaRPr>
          </a:p>
        </p:txBody>
      </p:sp>
      <p:grpSp>
        <p:nvGrpSpPr>
          <p:cNvPr id="11" name="object 11"/>
          <p:cNvGrpSpPr/>
          <p:nvPr/>
        </p:nvGrpSpPr>
        <p:grpSpPr>
          <a:xfrm>
            <a:off x="4260659" y="4115548"/>
            <a:ext cx="117872" cy="229493"/>
            <a:chOff x="3892138" y="5853224"/>
            <a:chExt cx="167640" cy="326390"/>
          </a:xfrm>
        </p:grpSpPr>
        <p:sp>
          <p:nvSpPr>
            <p:cNvPr id="12" name="object 12"/>
            <p:cNvSpPr/>
            <p:nvPr/>
          </p:nvSpPr>
          <p:spPr>
            <a:xfrm>
              <a:off x="3975958" y="60018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13" name="object 13"/>
            <p:cNvSpPr/>
            <p:nvPr/>
          </p:nvSpPr>
          <p:spPr>
            <a:xfrm>
              <a:off x="3892138" y="5853224"/>
              <a:ext cx="167640" cy="167640"/>
            </a:xfrm>
            <a:custGeom>
              <a:avLst/>
              <a:gdLst/>
              <a:ahLst/>
              <a:cxnLst/>
              <a:rect l="l" t="t" r="r" b="b"/>
              <a:pathLst>
                <a:path w="167639" h="167639">
                  <a:moveTo>
                    <a:pt x="83820" y="0"/>
                  </a:moveTo>
                  <a:lnTo>
                    <a:pt x="0" y="167639"/>
                  </a:lnTo>
                  <a:lnTo>
                    <a:pt x="167639" y="167639"/>
                  </a:lnTo>
                  <a:lnTo>
                    <a:pt x="83820" y="0"/>
                  </a:lnTo>
                  <a:close/>
                </a:path>
              </a:pathLst>
            </a:custGeom>
            <a:solidFill>
              <a:srgbClr val="919191"/>
            </a:solidFill>
          </p:spPr>
          <p:txBody>
            <a:bodyPr wrap="square" lIns="0" tIns="0" rIns="0" bIns="0" rtlCol="0"/>
            <a:lstStyle/>
            <a:p>
              <a:endParaRPr/>
            </a:p>
          </p:txBody>
        </p:sp>
      </p:grpSp>
      <p:sp>
        <p:nvSpPr>
          <p:cNvPr id="14" name="object 14"/>
          <p:cNvSpPr txBox="1"/>
          <p:nvPr/>
        </p:nvSpPr>
        <p:spPr>
          <a:xfrm>
            <a:off x="4256485" y="5036344"/>
            <a:ext cx="282625" cy="242888"/>
          </a:xfrm>
          <a:prstGeom prst="rect">
            <a:avLst/>
          </a:prstGeom>
        </p:spPr>
        <p:txBody>
          <a:bodyPr vert="horz" wrap="square" lIns="0" tIns="8930" rIns="0" bIns="0" rtlCol="0">
            <a:spAutoFit/>
          </a:bodyPr>
          <a:lstStyle/>
          <a:p>
            <a:pPr marL="8929">
              <a:lnSpc>
                <a:spcPct val="100000"/>
              </a:lnSpc>
              <a:spcBef>
                <a:spcPts val="70"/>
              </a:spcBef>
            </a:pPr>
            <a:r>
              <a:rPr sz="1477" spc="-18" dirty="0">
                <a:latin typeface="Georgia"/>
                <a:cs typeface="Georgia"/>
              </a:rPr>
              <a:t>the</a:t>
            </a:r>
            <a:endParaRPr sz="1477">
              <a:latin typeface="Georgia"/>
              <a:cs typeface="Georgia"/>
            </a:endParaRPr>
          </a:p>
        </p:txBody>
      </p:sp>
      <p:grpSp>
        <p:nvGrpSpPr>
          <p:cNvPr id="15" name="object 15"/>
          <p:cNvGrpSpPr/>
          <p:nvPr/>
        </p:nvGrpSpPr>
        <p:grpSpPr>
          <a:xfrm>
            <a:off x="4117710" y="4097689"/>
            <a:ext cx="4197400" cy="939403"/>
            <a:chOff x="3688832" y="5827824"/>
            <a:chExt cx="5969635" cy="1336040"/>
          </a:xfrm>
        </p:grpSpPr>
        <p:sp>
          <p:nvSpPr>
            <p:cNvPr id="16" name="object 16"/>
            <p:cNvSpPr/>
            <p:nvPr/>
          </p:nvSpPr>
          <p:spPr>
            <a:xfrm>
              <a:off x="5016477" y="60018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17" name="object 17"/>
            <p:cNvSpPr/>
            <p:nvPr/>
          </p:nvSpPr>
          <p:spPr>
            <a:xfrm>
              <a:off x="4932657" y="5853224"/>
              <a:ext cx="167640" cy="167640"/>
            </a:xfrm>
            <a:custGeom>
              <a:avLst/>
              <a:gdLst/>
              <a:ahLst/>
              <a:cxnLst/>
              <a:rect l="l" t="t" r="r" b="b"/>
              <a:pathLst>
                <a:path w="167639" h="167639">
                  <a:moveTo>
                    <a:pt x="83820" y="0"/>
                  </a:moveTo>
                  <a:lnTo>
                    <a:pt x="0" y="167639"/>
                  </a:lnTo>
                  <a:lnTo>
                    <a:pt x="167640" y="167639"/>
                  </a:lnTo>
                  <a:lnTo>
                    <a:pt x="83820" y="0"/>
                  </a:lnTo>
                  <a:close/>
                </a:path>
              </a:pathLst>
            </a:custGeom>
            <a:solidFill>
              <a:srgbClr val="919191"/>
            </a:solidFill>
          </p:spPr>
          <p:txBody>
            <a:bodyPr wrap="square" lIns="0" tIns="0" rIns="0" bIns="0" rtlCol="0"/>
            <a:lstStyle/>
            <a:p>
              <a:endParaRPr/>
            </a:p>
          </p:txBody>
        </p:sp>
        <p:sp>
          <p:nvSpPr>
            <p:cNvPr id="18" name="object 18"/>
            <p:cNvSpPr/>
            <p:nvPr/>
          </p:nvSpPr>
          <p:spPr>
            <a:xfrm>
              <a:off x="6076044" y="59891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19" name="object 19"/>
            <p:cNvSpPr/>
            <p:nvPr/>
          </p:nvSpPr>
          <p:spPr>
            <a:xfrm>
              <a:off x="5992224" y="5840524"/>
              <a:ext cx="167640" cy="167640"/>
            </a:xfrm>
            <a:custGeom>
              <a:avLst/>
              <a:gdLst/>
              <a:ahLst/>
              <a:cxnLst/>
              <a:rect l="l" t="t" r="r" b="b"/>
              <a:pathLst>
                <a:path w="167639" h="167639">
                  <a:moveTo>
                    <a:pt x="83819" y="0"/>
                  </a:moveTo>
                  <a:lnTo>
                    <a:pt x="0" y="167639"/>
                  </a:lnTo>
                  <a:lnTo>
                    <a:pt x="167639" y="167639"/>
                  </a:lnTo>
                  <a:lnTo>
                    <a:pt x="83819" y="0"/>
                  </a:lnTo>
                  <a:close/>
                </a:path>
              </a:pathLst>
            </a:custGeom>
            <a:solidFill>
              <a:srgbClr val="919191"/>
            </a:solidFill>
          </p:spPr>
          <p:txBody>
            <a:bodyPr wrap="square" lIns="0" tIns="0" rIns="0" bIns="0" rtlCol="0"/>
            <a:lstStyle/>
            <a:p>
              <a:endParaRPr/>
            </a:p>
          </p:txBody>
        </p:sp>
        <p:sp>
          <p:nvSpPr>
            <p:cNvPr id="20" name="object 20"/>
            <p:cNvSpPr/>
            <p:nvPr/>
          </p:nvSpPr>
          <p:spPr>
            <a:xfrm>
              <a:off x="7161214" y="59764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21" name="object 21"/>
            <p:cNvSpPr/>
            <p:nvPr/>
          </p:nvSpPr>
          <p:spPr>
            <a:xfrm>
              <a:off x="7077394" y="5827824"/>
              <a:ext cx="167640" cy="167640"/>
            </a:xfrm>
            <a:custGeom>
              <a:avLst/>
              <a:gdLst/>
              <a:ahLst/>
              <a:cxnLst/>
              <a:rect l="l" t="t" r="r" b="b"/>
              <a:pathLst>
                <a:path w="167640" h="167639">
                  <a:moveTo>
                    <a:pt x="83819" y="0"/>
                  </a:moveTo>
                  <a:lnTo>
                    <a:pt x="0" y="167639"/>
                  </a:lnTo>
                  <a:lnTo>
                    <a:pt x="167639" y="167639"/>
                  </a:lnTo>
                  <a:lnTo>
                    <a:pt x="83819" y="0"/>
                  </a:lnTo>
                  <a:close/>
                </a:path>
              </a:pathLst>
            </a:custGeom>
            <a:solidFill>
              <a:srgbClr val="919191"/>
            </a:solidFill>
          </p:spPr>
          <p:txBody>
            <a:bodyPr wrap="square" lIns="0" tIns="0" rIns="0" bIns="0" rtlCol="0"/>
            <a:lstStyle/>
            <a:p>
              <a:endParaRPr/>
            </a:p>
          </p:txBody>
        </p:sp>
        <p:sp>
          <p:nvSpPr>
            <p:cNvPr id="22" name="object 22"/>
            <p:cNvSpPr/>
            <p:nvPr/>
          </p:nvSpPr>
          <p:spPr>
            <a:xfrm>
              <a:off x="8233756" y="59891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23" name="object 23"/>
            <p:cNvSpPr/>
            <p:nvPr/>
          </p:nvSpPr>
          <p:spPr>
            <a:xfrm>
              <a:off x="8149936" y="5840524"/>
              <a:ext cx="167640" cy="167640"/>
            </a:xfrm>
            <a:custGeom>
              <a:avLst/>
              <a:gdLst/>
              <a:ahLst/>
              <a:cxnLst/>
              <a:rect l="l" t="t" r="r" b="b"/>
              <a:pathLst>
                <a:path w="167640" h="167639">
                  <a:moveTo>
                    <a:pt x="83820" y="0"/>
                  </a:moveTo>
                  <a:lnTo>
                    <a:pt x="0" y="167639"/>
                  </a:lnTo>
                  <a:lnTo>
                    <a:pt x="167639" y="167639"/>
                  </a:lnTo>
                  <a:lnTo>
                    <a:pt x="83820" y="0"/>
                  </a:lnTo>
                  <a:close/>
                </a:path>
              </a:pathLst>
            </a:custGeom>
            <a:solidFill>
              <a:srgbClr val="919191"/>
            </a:solidFill>
          </p:spPr>
          <p:txBody>
            <a:bodyPr wrap="square" lIns="0" tIns="0" rIns="0" bIns="0" rtlCol="0"/>
            <a:lstStyle/>
            <a:p>
              <a:endParaRPr/>
            </a:p>
          </p:txBody>
        </p:sp>
        <p:sp>
          <p:nvSpPr>
            <p:cNvPr id="24" name="object 24"/>
            <p:cNvSpPr/>
            <p:nvPr/>
          </p:nvSpPr>
          <p:spPr>
            <a:xfrm>
              <a:off x="9306299" y="5989114"/>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25" name="object 25"/>
            <p:cNvSpPr/>
            <p:nvPr/>
          </p:nvSpPr>
          <p:spPr>
            <a:xfrm>
              <a:off x="9222479" y="5840524"/>
              <a:ext cx="167640" cy="167640"/>
            </a:xfrm>
            <a:custGeom>
              <a:avLst/>
              <a:gdLst/>
              <a:ahLst/>
              <a:cxnLst/>
              <a:rect l="l" t="t" r="r" b="b"/>
              <a:pathLst>
                <a:path w="167640" h="167639">
                  <a:moveTo>
                    <a:pt x="83820" y="0"/>
                  </a:moveTo>
                  <a:lnTo>
                    <a:pt x="0" y="167639"/>
                  </a:lnTo>
                  <a:lnTo>
                    <a:pt x="167640" y="167639"/>
                  </a:lnTo>
                  <a:lnTo>
                    <a:pt x="83820" y="0"/>
                  </a:lnTo>
                  <a:close/>
                </a:path>
              </a:pathLst>
            </a:custGeom>
            <a:solidFill>
              <a:srgbClr val="919191"/>
            </a:solidFill>
          </p:spPr>
          <p:txBody>
            <a:bodyPr wrap="square" lIns="0" tIns="0" rIns="0" bIns="0" rtlCol="0"/>
            <a:lstStyle/>
            <a:p>
              <a:endParaRPr/>
            </a:p>
          </p:txBody>
        </p:sp>
        <p:sp>
          <p:nvSpPr>
            <p:cNvPr id="26" name="object 26"/>
            <p:cNvSpPr/>
            <p:nvPr/>
          </p:nvSpPr>
          <p:spPr>
            <a:xfrm>
              <a:off x="3707882" y="6171837"/>
              <a:ext cx="5931535" cy="664210"/>
            </a:xfrm>
            <a:custGeom>
              <a:avLst/>
              <a:gdLst/>
              <a:ahLst/>
              <a:cxnLst/>
              <a:rect l="l" t="t" r="r" b="b"/>
              <a:pathLst>
                <a:path w="5931534" h="664209">
                  <a:moveTo>
                    <a:pt x="5640035" y="0"/>
                  </a:moveTo>
                  <a:lnTo>
                    <a:pt x="292505" y="0"/>
                  </a:lnTo>
                  <a:lnTo>
                    <a:pt x="236162" y="222"/>
                  </a:lnTo>
                  <a:lnTo>
                    <a:pt x="191494" y="1783"/>
                  </a:lnTo>
                  <a:lnTo>
                    <a:pt x="120299" y="14269"/>
                  </a:lnTo>
                  <a:lnTo>
                    <a:pt x="85466" y="31474"/>
                  </a:lnTo>
                  <a:lnTo>
                    <a:pt x="55532" y="55531"/>
                  </a:lnTo>
                  <a:lnTo>
                    <a:pt x="31474" y="85465"/>
                  </a:lnTo>
                  <a:lnTo>
                    <a:pt x="14270" y="120299"/>
                  </a:lnTo>
                  <a:lnTo>
                    <a:pt x="1783" y="191332"/>
                  </a:lnTo>
                  <a:lnTo>
                    <a:pt x="222" y="235615"/>
                  </a:lnTo>
                  <a:lnTo>
                    <a:pt x="0" y="291209"/>
                  </a:lnTo>
                  <a:lnTo>
                    <a:pt x="5" y="372493"/>
                  </a:lnTo>
                  <a:lnTo>
                    <a:pt x="222" y="427542"/>
                  </a:lnTo>
                  <a:lnTo>
                    <a:pt x="1783" y="472209"/>
                  </a:lnTo>
                  <a:lnTo>
                    <a:pt x="14270" y="543405"/>
                  </a:lnTo>
                  <a:lnTo>
                    <a:pt x="31474" y="578238"/>
                  </a:lnTo>
                  <a:lnTo>
                    <a:pt x="55532" y="608172"/>
                  </a:lnTo>
                  <a:lnTo>
                    <a:pt x="85466" y="632229"/>
                  </a:lnTo>
                  <a:lnTo>
                    <a:pt x="120299" y="649433"/>
                  </a:lnTo>
                  <a:lnTo>
                    <a:pt x="191332" y="661920"/>
                  </a:lnTo>
                  <a:lnTo>
                    <a:pt x="235616" y="663481"/>
                  </a:lnTo>
                  <a:lnTo>
                    <a:pt x="291211" y="663704"/>
                  </a:lnTo>
                  <a:lnTo>
                    <a:pt x="5638741" y="663704"/>
                  </a:lnTo>
                  <a:lnTo>
                    <a:pt x="5695084" y="663481"/>
                  </a:lnTo>
                  <a:lnTo>
                    <a:pt x="5739751" y="661920"/>
                  </a:lnTo>
                  <a:lnTo>
                    <a:pt x="5810947" y="649433"/>
                  </a:lnTo>
                  <a:lnTo>
                    <a:pt x="5845780" y="632229"/>
                  </a:lnTo>
                  <a:lnTo>
                    <a:pt x="5875714" y="608172"/>
                  </a:lnTo>
                  <a:lnTo>
                    <a:pt x="5899771" y="578238"/>
                  </a:lnTo>
                  <a:lnTo>
                    <a:pt x="5916975" y="543405"/>
                  </a:lnTo>
                  <a:lnTo>
                    <a:pt x="5929462" y="472371"/>
                  </a:lnTo>
                  <a:lnTo>
                    <a:pt x="5931023" y="428088"/>
                  </a:lnTo>
                  <a:lnTo>
                    <a:pt x="5931246" y="372493"/>
                  </a:lnTo>
                  <a:lnTo>
                    <a:pt x="5931241" y="291209"/>
                  </a:lnTo>
                  <a:lnTo>
                    <a:pt x="5931023" y="236161"/>
                  </a:lnTo>
                  <a:lnTo>
                    <a:pt x="5929462" y="191494"/>
                  </a:lnTo>
                  <a:lnTo>
                    <a:pt x="5916975" y="120299"/>
                  </a:lnTo>
                  <a:lnTo>
                    <a:pt x="5899771" y="85465"/>
                  </a:lnTo>
                  <a:lnTo>
                    <a:pt x="5875714" y="55531"/>
                  </a:lnTo>
                  <a:lnTo>
                    <a:pt x="5845780" y="31474"/>
                  </a:lnTo>
                  <a:lnTo>
                    <a:pt x="5810947" y="14269"/>
                  </a:lnTo>
                  <a:lnTo>
                    <a:pt x="5739913" y="1783"/>
                  </a:lnTo>
                  <a:lnTo>
                    <a:pt x="5695630" y="222"/>
                  </a:lnTo>
                  <a:lnTo>
                    <a:pt x="5640035" y="0"/>
                  </a:lnTo>
                  <a:close/>
                </a:path>
              </a:pathLst>
            </a:custGeom>
            <a:solidFill>
              <a:srgbClr val="EBEBEB"/>
            </a:solidFill>
          </p:spPr>
          <p:txBody>
            <a:bodyPr wrap="square" lIns="0" tIns="0" rIns="0" bIns="0" rtlCol="0"/>
            <a:lstStyle/>
            <a:p>
              <a:endParaRPr/>
            </a:p>
          </p:txBody>
        </p:sp>
        <p:sp>
          <p:nvSpPr>
            <p:cNvPr id="27" name="object 27"/>
            <p:cNvSpPr/>
            <p:nvPr/>
          </p:nvSpPr>
          <p:spPr>
            <a:xfrm>
              <a:off x="3707882" y="6171837"/>
              <a:ext cx="5931535" cy="664210"/>
            </a:xfrm>
            <a:custGeom>
              <a:avLst/>
              <a:gdLst/>
              <a:ahLst/>
              <a:cxnLst/>
              <a:rect l="l" t="t" r="r" b="b"/>
              <a:pathLst>
                <a:path w="5931534" h="664209">
                  <a:moveTo>
                    <a:pt x="291210" y="0"/>
                  </a:moveTo>
                  <a:lnTo>
                    <a:pt x="5640035" y="0"/>
                  </a:lnTo>
                  <a:lnTo>
                    <a:pt x="5695629" y="222"/>
                  </a:lnTo>
                  <a:lnTo>
                    <a:pt x="5739913" y="1783"/>
                  </a:lnTo>
                  <a:lnTo>
                    <a:pt x="5810945" y="14270"/>
                  </a:lnTo>
                  <a:lnTo>
                    <a:pt x="5845779" y="31474"/>
                  </a:lnTo>
                  <a:lnTo>
                    <a:pt x="5875714" y="55532"/>
                  </a:lnTo>
                  <a:lnTo>
                    <a:pt x="5899771" y="85466"/>
                  </a:lnTo>
                  <a:lnTo>
                    <a:pt x="5916975" y="120299"/>
                  </a:lnTo>
                  <a:lnTo>
                    <a:pt x="5929462" y="191494"/>
                  </a:lnTo>
                  <a:lnTo>
                    <a:pt x="5931023" y="236162"/>
                  </a:lnTo>
                  <a:lnTo>
                    <a:pt x="5931246" y="292505"/>
                  </a:lnTo>
                  <a:lnTo>
                    <a:pt x="5931246" y="372494"/>
                  </a:lnTo>
                  <a:lnTo>
                    <a:pt x="5931023" y="428088"/>
                  </a:lnTo>
                  <a:lnTo>
                    <a:pt x="5929462" y="472372"/>
                  </a:lnTo>
                  <a:lnTo>
                    <a:pt x="5916975" y="543405"/>
                  </a:lnTo>
                  <a:lnTo>
                    <a:pt x="5899771" y="578238"/>
                  </a:lnTo>
                  <a:lnTo>
                    <a:pt x="5875714" y="608172"/>
                  </a:lnTo>
                  <a:lnTo>
                    <a:pt x="5845779" y="632230"/>
                  </a:lnTo>
                  <a:lnTo>
                    <a:pt x="5810945" y="649434"/>
                  </a:lnTo>
                  <a:lnTo>
                    <a:pt x="5739751" y="661920"/>
                  </a:lnTo>
                  <a:lnTo>
                    <a:pt x="5695083" y="663481"/>
                  </a:lnTo>
                  <a:lnTo>
                    <a:pt x="5638740" y="663704"/>
                  </a:lnTo>
                  <a:lnTo>
                    <a:pt x="291210" y="663704"/>
                  </a:lnTo>
                  <a:lnTo>
                    <a:pt x="235616" y="663481"/>
                  </a:lnTo>
                  <a:lnTo>
                    <a:pt x="191332" y="661920"/>
                  </a:lnTo>
                  <a:lnTo>
                    <a:pt x="120299" y="649434"/>
                  </a:lnTo>
                  <a:lnTo>
                    <a:pt x="85466" y="632230"/>
                  </a:lnTo>
                  <a:lnTo>
                    <a:pt x="55532" y="608172"/>
                  </a:lnTo>
                  <a:lnTo>
                    <a:pt x="31474" y="578238"/>
                  </a:lnTo>
                  <a:lnTo>
                    <a:pt x="14270" y="543405"/>
                  </a:lnTo>
                  <a:lnTo>
                    <a:pt x="1783" y="472210"/>
                  </a:lnTo>
                  <a:lnTo>
                    <a:pt x="222" y="427542"/>
                  </a:lnTo>
                  <a:lnTo>
                    <a:pt x="0" y="371199"/>
                  </a:lnTo>
                  <a:lnTo>
                    <a:pt x="0" y="291210"/>
                  </a:lnTo>
                  <a:lnTo>
                    <a:pt x="222" y="235615"/>
                  </a:lnTo>
                  <a:lnTo>
                    <a:pt x="1783" y="191332"/>
                  </a:lnTo>
                  <a:lnTo>
                    <a:pt x="14270" y="120299"/>
                  </a:lnTo>
                  <a:lnTo>
                    <a:pt x="31474" y="85466"/>
                  </a:lnTo>
                  <a:lnTo>
                    <a:pt x="55532" y="55532"/>
                  </a:lnTo>
                  <a:lnTo>
                    <a:pt x="85466" y="31474"/>
                  </a:lnTo>
                  <a:lnTo>
                    <a:pt x="120299" y="14270"/>
                  </a:lnTo>
                  <a:lnTo>
                    <a:pt x="191494" y="1783"/>
                  </a:lnTo>
                  <a:lnTo>
                    <a:pt x="236162" y="222"/>
                  </a:lnTo>
                  <a:lnTo>
                    <a:pt x="292505" y="0"/>
                  </a:lnTo>
                  <a:lnTo>
                    <a:pt x="291210" y="0"/>
                  </a:lnTo>
                  <a:close/>
                </a:path>
              </a:pathLst>
            </a:custGeom>
            <a:ln w="38100">
              <a:solidFill>
                <a:srgbClr val="919191"/>
              </a:solidFill>
            </a:ln>
          </p:spPr>
          <p:txBody>
            <a:bodyPr wrap="square" lIns="0" tIns="0" rIns="0" bIns="0" rtlCol="0"/>
            <a:lstStyle/>
            <a:p>
              <a:endParaRPr/>
            </a:p>
          </p:txBody>
        </p:sp>
        <p:sp>
          <p:nvSpPr>
            <p:cNvPr id="28" name="object 28"/>
            <p:cNvSpPr/>
            <p:nvPr/>
          </p:nvSpPr>
          <p:spPr>
            <a:xfrm>
              <a:off x="3982937" y="69922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29" name="object 29"/>
            <p:cNvSpPr/>
            <p:nvPr/>
          </p:nvSpPr>
          <p:spPr>
            <a:xfrm>
              <a:off x="3899117" y="6843625"/>
              <a:ext cx="167640" cy="167640"/>
            </a:xfrm>
            <a:custGeom>
              <a:avLst/>
              <a:gdLst/>
              <a:ahLst/>
              <a:cxnLst/>
              <a:rect l="l" t="t" r="r" b="b"/>
              <a:pathLst>
                <a:path w="167639" h="167640">
                  <a:moveTo>
                    <a:pt x="83819" y="0"/>
                  </a:moveTo>
                  <a:lnTo>
                    <a:pt x="0" y="167639"/>
                  </a:lnTo>
                  <a:lnTo>
                    <a:pt x="167639" y="167639"/>
                  </a:lnTo>
                  <a:lnTo>
                    <a:pt x="83819" y="0"/>
                  </a:lnTo>
                  <a:close/>
                </a:path>
              </a:pathLst>
            </a:custGeom>
            <a:solidFill>
              <a:srgbClr val="919191"/>
            </a:solidFill>
          </p:spPr>
          <p:txBody>
            <a:bodyPr wrap="square" lIns="0" tIns="0" rIns="0" bIns="0" rtlCol="0"/>
            <a:lstStyle/>
            <a:p>
              <a:endParaRPr/>
            </a:p>
          </p:txBody>
        </p:sp>
        <p:sp>
          <p:nvSpPr>
            <p:cNvPr id="30" name="object 30"/>
            <p:cNvSpPr/>
            <p:nvPr/>
          </p:nvSpPr>
          <p:spPr>
            <a:xfrm>
              <a:off x="5023454" y="70049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31" name="object 31"/>
            <p:cNvSpPr/>
            <p:nvPr/>
          </p:nvSpPr>
          <p:spPr>
            <a:xfrm>
              <a:off x="4939634" y="6856325"/>
              <a:ext cx="167640" cy="167640"/>
            </a:xfrm>
            <a:custGeom>
              <a:avLst/>
              <a:gdLst/>
              <a:ahLst/>
              <a:cxnLst/>
              <a:rect l="l" t="t" r="r" b="b"/>
              <a:pathLst>
                <a:path w="167639" h="167640">
                  <a:moveTo>
                    <a:pt x="83819" y="0"/>
                  </a:moveTo>
                  <a:lnTo>
                    <a:pt x="0" y="167639"/>
                  </a:lnTo>
                  <a:lnTo>
                    <a:pt x="167639" y="167639"/>
                  </a:lnTo>
                  <a:lnTo>
                    <a:pt x="83819" y="0"/>
                  </a:lnTo>
                  <a:close/>
                </a:path>
              </a:pathLst>
            </a:custGeom>
            <a:solidFill>
              <a:srgbClr val="919191"/>
            </a:solidFill>
          </p:spPr>
          <p:txBody>
            <a:bodyPr wrap="square" lIns="0" tIns="0" rIns="0" bIns="0" rtlCol="0"/>
            <a:lstStyle/>
            <a:p>
              <a:endParaRPr/>
            </a:p>
          </p:txBody>
        </p:sp>
        <p:sp>
          <p:nvSpPr>
            <p:cNvPr id="32" name="object 32"/>
            <p:cNvSpPr/>
            <p:nvPr/>
          </p:nvSpPr>
          <p:spPr>
            <a:xfrm>
              <a:off x="6083023" y="69922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33" name="object 33"/>
            <p:cNvSpPr/>
            <p:nvPr/>
          </p:nvSpPr>
          <p:spPr>
            <a:xfrm>
              <a:off x="5999203" y="6843625"/>
              <a:ext cx="167640" cy="167640"/>
            </a:xfrm>
            <a:custGeom>
              <a:avLst/>
              <a:gdLst/>
              <a:ahLst/>
              <a:cxnLst/>
              <a:rect l="l" t="t" r="r" b="b"/>
              <a:pathLst>
                <a:path w="167639" h="167640">
                  <a:moveTo>
                    <a:pt x="83820" y="0"/>
                  </a:moveTo>
                  <a:lnTo>
                    <a:pt x="0" y="167639"/>
                  </a:lnTo>
                  <a:lnTo>
                    <a:pt x="167639" y="167639"/>
                  </a:lnTo>
                  <a:lnTo>
                    <a:pt x="83820" y="0"/>
                  </a:lnTo>
                  <a:close/>
                </a:path>
              </a:pathLst>
            </a:custGeom>
            <a:solidFill>
              <a:srgbClr val="919191"/>
            </a:solidFill>
          </p:spPr>
          <p:txBody>
            <a:bodyPr wrap="square" lIns="0" tIns="0" rIns="0" bIns="0" rtlCol="0"/>
            <a:lstStyle/>
            <a:p>
              <a:endParaRPr/>
            </a:p>
          </p:txBody>
        </p:sp>
        <p:sp>
          <p:nvSpPr>
            <p:cNvPr id="34" name="object 34"/>
            <p:cNvSpPr/>
            <p:nvPr/>
          </p:nvSpPr>
          <p:spPr>
            <a:xfrm>
              <a:off x="7168192" y="69795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35" name="object 35"/>
            <p:cNvSpPr/>
            <p:nvPr/>
          </p:nvSpPr>
          <p:spPr>
            <a:xfrm>
              <a:off x="7084372" y="6830925"/>
              <a:ext cx="167640" cy="167640"/>
            </a:xfrm>
            <a:custGeom>
              <a:avLst/>
              <a:gdLst/>
              <a:ahLst/>
              <a:cxnLst/>
              <a:rect l="l" t="t" r="r" b="b"/>
              <a:pathLst>
                <a:path w="167640" h="167640">
                  <a:moveTo>
                    <a:pt x="83820" y="0"/>
                  </a:moveTo>
                  <a:lnTo>
                    <a:pt x="0" y="167639"/>
                  </a:lnTo>
                  <a:lnTo>
                    <a:pt x="167639" y="167639"/>
                  </a:lnTo>
                  <a:lnTo>
                    <a:pt x="83820" y="0"/>
                  </a:lnTo>
                  <a:close/>
                </a:path>
              </a:pathLst>
            </a:custGeom>
            <a:solidFill>
              <a:srgbClr val="919191"/>
            </a:solidFill>
          </p:spPr>
          <p:txBody>
            <a:bodyPr wrap="square" lIns="0" tIns="0" rIns="0" bIns="0" rtlCol="0"/>
            <a:lstStyle/>
            <a:p>
              <a:endParaRPr/>
            </a:p>
          </p:txBody>
        </p:sp>
        <p:sp>
          <p:nvSpPr>
            <p:cNvPr id="36" name="object 36"/>
            <p:cNvSpPr/>
            <p:nvPr/>
          </p:nvSpPr>
          <p:spPr>
            <a:xfrm>
              <a:off x="8240733" y="69922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37" name="object 37"/>
            <p:cNvSpPr/>
            <p:nvPr/>
          </p:nvSpPr>
          <p:spPr>
            <a:xfrm>
              <a:off x="8156914" y="6843625"/>
              <a:ext cx="167640" cy="167640"/>
            </a:xfrm>
            <a:custGeom>
              <a:avLst/>
              <a:gdLst/>
              <a:ahLst/>
              <a:cxnLst/>
              <a:rect l="l" t="t" r="r" b="b"/>
              <a:pathLst>
                <a:path w="167640" h="167640">
                  <a:moveTo>
                    <a:pt x="83820" y="0"/>
                  </a:moveTo>
                  <a:lnTo>
                    <a:pt x="0" y="167639"/>
                  </a:lnTo>
                  <a:lnTo>
                    <a:pt x="167640" y="167639"/>
                  </a:lnTo>
                  <a:lnTo>
                    <a:pt x="83820" y="0"/>
                  </a:lnTo>
                  <a:close/>
                </a:path>
              </a:pathLst>
            </a:custGeom>
            <a:solidFill>
              <a:srgbClr val="919191"/>
            </a:solidFill>
          </p:spPr>
          <p:txBody>
            <a:bodyPr wrap="square" lIns="0" tIns="0" rIns="0" bIns="0" rtlCol="0"/>
            <a:lstStyle/>
            <a:p>
              <a:endParaRPr/>
            </a:p>
          </p:txBody>
        </p:sp>
        <p:sp>
          <p:nvSpPr>
            <p:cNvPr id="38" name="object 38"/>
            <p:cNvSpPr/>
            <p:nvPr/>
          </p:nvSpPr>
          <p:spPr>
            <a:xfrm>
              <a:off x="9313275" y="6979516"/>
              <a:ext cx="0" cy="158750"/>
            </a:xfrm>
            <a:custGeom>
              <a:avLst/>
              <a:gdLst/>
              <a:ahLst/>
              <a:cxnLst/>
              <a:rect l="l" t="t" r="r" b="b"/>
              <a:pathLst>
                <a:path h="158750">
                  <a:moveTo>
                    <a:pt x="0" y="158433"/>
                  </a:moveTo>
                  <a:lnTo>
                    <a:pt x="0" y="19049"/>
                  </a:lnTo>
                  <a:lnTo>
                    <a:pt x="0" y="0"/>
                  </a:lnTo>
                </a:path>
              </a:pathLst>
            </a:custGeom>
            <a:ln w="38100">
              <a:solidFill>
                <a:srgbClr val="919191"/>
              </a:solidFill>
            </a:ln>
          </p:spPr>
          <p:txBody>
            <a:bodyPr wrap="square" lIns="0" tIns="0" rIns="0" bIns="0" rtlCol="0"/>
            <a:lstStyle/>
            <a:p>
              <a:endParaRPr/>
            </a:p>
          </p:txBody>
        </p:sp>
        <p:sp>
          <p:nvSpPr>
            <p:cNvPr id="39" name="object 39"/>
            <p:cNvSpPr/>
            <p:nvPr/>
          </p:nvSpPr>
          <p:spPr>
            <a:xfrm>
              <a:off x="9229455" y="6830925"/>
              <a:ext cx="167640" cy="167640"/>
            </a:xfrm>
            <a:custGeom>
              <a:avLst/>
              <a:gdLst/>
              <a:ahLst/>
              <a:cxnLst/>
              <a:rect l="l" t="t" r="r" b="b"/>
              <a:pathLst>
                <a:path w="167640" h="167640">
                  <a:moveTo>
                    <a:pt x="83820" y="0"/>
                  </a:moveTo>
                  <a:lnTo>
                    <a:pt x="0" y="167639"/>
                  </a:lnTo>
                  <a:lnTo>
                    <a:pt x="167640" y="167639"/>
                  </a:lnTo>
                  <a:lnTo>
                    <a:pt x="83820" y="0"/>
                  </a:lnTo>
                  <a:close/>
                </a:path>
              </a:pathLst>
            </a:custGeom>
            <a:solidFill>
              <a:srgbClr val="919191"/>
            </a:solidFill>
          </p:spPr>
          <p:txBody>
            <a:bodyPr wrap="square" lIns="0" tIns="0" rIns="0" bIns="0" rtlCol="0"/>
            <a:lstStyle/>
            <a:p>
              <a:endParaRPr/>
            </a:p>
          </p:txBody>
        </p:sp>
      </p:grpSp>
      <p:sp>
        <p:nvSpPr>
          <p:cNvPr id="40" name="object 40"/>
          <p:cNvSpPr txBox="1"/>
          <p:nvPr/>
        </p:nvSpPr>
        <p:spPr>
          <a:xfrm>
            <a:off x="4372571" y="4404836"/>
            <a:ext cx="3665190" cy="315217"/>
          </a:xfrm>
          <a:prstGeom prst="rect">
            <a:avLst/>
          </a:prstGeom>
        </p:spPr>
        <p:txBody>
          <a:bodyPr vert="horz" wrap="square" lIns="0" tIns="10716" rIns="0" bIns="0" rtlCol="0">
            <a:spAutoFit/>
          </a:bodyPr>
          <a:lstStyle/>
          <a:p>
            <a:pPr marL="8929">
              <a:lnSpc>
                <a:spcPct val="100000"/>
              </a:lnSpc>
              <a:spcBef>
                <a:spcPts val="84"/>
              </a:spcBef>
            </a:pPr>
            <a:r>
              <a:rPr sz="1934" dirty="0">
                <a:latin typeface="Georgia"/>
                <a:cs typeface="Georgia"/>
              </a:rPr>
              <a:t>Contextualized</a:t>
            </a:r>
            <a:r>
              <a:rPr sz="1934" spc="11" dirty="0">
                <a:latin typeface="Georgia"/>
                <a:cs typeface="Georgia"/>
              </a:rPr>
              <a:t> </a:t>
            </a:r>
            <a:r>
              <a:rPr sz="1934" dirty="0">
                <a:latin typeface="Georgia"/>
                <a:cs typeface="Georgia"/>
              </a:rPr>
              <a:t>word</a:t>
            </a:r>
            <a:r>
              <a:rPr sz="1934" spc="21" dirty="0">
                <a:latin typeface="Georgia"/>
                <a:cs typeface="Georgia"/>
              </a:rPr>
              <a:t> </a:t>
            </a:r>
            <a:r>
              <a:rPr sz="1934" spc="-7" dirty="0">
                <a:latin typeface="Georgia"/>
                <a:cs typeface="Georgia"/>
              </a:rPr>
              <a:t>embeddings</a:t>
            </a:r>
            <a:endParaRPr sz="1934">
              <a:latin typeface="Georgia"/>
              <a:cs typeface="Georgia"/>
            </a:endParaRPr>
          </a:p>
        </p:txBody>
      </p:sp>
      <p:sp>
        <p:nvSpPr>
          <p:cNvPr id="41" name="object 41"/>
          <p:cNvSpPr txBox="1"/>
          <p:nvPr/>
        </p:nvSpPr>
        <p:spPr>
          <a:xfrm>
            <a:off x="4087565" y="5574680"/>
            <a:ext cx="4257675" cy="349597"/>
          </a:xfrm>
          <a:prstGeom prst="rect">
            <a:avLst/>
          </a:prstGeom>
        </p:spPr>
        <p:txBody>
          <a:bodyPr vert="horz" wrap="square" lIns="0" tIns="8037" rIns="0" bIns="0" rtlCol="0">
            <a:spAutoFit/>
          </a:bodyPr>
          <a:lstStyle/>
          <a:p>
            <a:pPr marL="26788">
              <a:lnSpc>
                <a:spcPct val="100000"/>
              </a:lnSpc>
              <a:spcBef>
                <a:spcPts val="63"/>
              </a:spcBef>
            </a:pPr>
            <a:r>
              <a:rPr sz="2180" i="1" dirty="0">
                <a:latin typeface="Times New Roman"/>
                <a:cs typeface="Times New Roman"/>
              </a:rPr>
              <a:t>g </a:t>
            </a:r>
            <a:r>
              <a:rPr sz="2180" dirty="0">
                <a:latin typeface="Cambria"/>
                <a:cs typeface="Cambria"/>
              </a:rPr>
              <a:t>:</a:t>
            </a:r>
            <a:r>
              <a:rPr sz="2180" spc="109" dirty="0">
                <a:latin typeface="Cambria"/>
                <a:cs typeface="Cambria"/>
              </a:rPr>
              <a:t> </a:t>
            </a:r>
            <a:r>
              <a:rPr sz="2180" spc="-56" dirty="0">
                <a:latin typeface="Cambria"/>
                <a:cs typeface="Cambria"/>
              </a:rPr>
              <a:t>(</a:t>
            </a:r>
            <a:r>
              <a:rPr sz="2180" i="1" spc="-56" dirty="0">
                <a:latin typeface="Times New Roman"/>
                <a:cs typeface="Times New Roman"/>
              </a:rPr>
              <a:t>w</a:t>
            </a:r>
            <a:r>
              <a:rPr sz="2320" spc="-84" baseline="-18939" dirty="0">
                <a:latin typeface="Cambria"/>
                <a:cs typeface="Cambria"/>
              </a:rPr>
              <a:t>1</a:t>
            </a:r>
            <a:r>
              <a:rPr sz="2180" spc="-56" dirty="0">
                <a:latin typeface="Cambria"/>
                <a:cs typeface="Cambria"/>
              </a:rPr>
              <a:t>,</a:t>
            </a:r>
            <a:r>
              <a:rPr sz="2180" spc="-120" dirty="0">
                <a:latin typeface="Cambria"/>
                <a:cs typeface="Cambria"/>
              </a:rPr>
              <a:t> </a:t>
            </a:r>
            <a:r>
              <a:rPr sz="2180" i="1" spc="-28" dirty="0">
                <a:latin typeface="Times New Roman"/>
                <a:cs typeface="Times New Roman"/>
              </a:rPr>
              <a:t>w</a:t>
            </a:r>
            <a:r>
              <a:rPr sz="2320" spc="-42" baseline="-18939" dirty="0">
                <a:latin typeface="Cambria"/>
                <a:cs typeface="Cambria"/>
              </a:rPr>
              <a:t>2</a:t>
            </a:r>
            <a:r>
              <a:rPr sz="2180" spc="-28" dirty="0">
                <a:latin typeface="Cambria"/>
                <a:cs typeface="Cambria"/>
              </a:rPr>
              <a:t>,</a:t>
            </a:r>
            <a:r>
              <a:rPr sz="2180" spc="-120" dirty="0">
                <a:latin typeface="Cambria"/>
                <a:cs typeface="Cambria"/>
              </a:rPr>
              <a:t> </a:t>
            </a:r>
            <a:r>
              <a:rPr sz="2180" spc="305" dirty="0">
                <a:latin typeface="Cambria"/>
                <a:cs typeface="Cambria"/>
              </a:rPr>
              <a:t>…,</a:t>
            </a:r>
            <a:r>
              <a:rPr sz="2180" spc="-120" dirty="0">
                <a:latin typeface="Cambria"/>
                <a:cs typeface="Cambria"/>
              </a:rPr>
              <a:t> </a:t>
            </a:r>
            <a:r>
              <a:rPr sz="2180" i="1" dirty="0">
                <a:latin typeface="Times New Roman"/>
                <a:cs typeface="Times New Roman"/>
              </a:rPr>
              <a:t>w</a:t>
            </a:r>
            <a:r>
              <a:rPr sz="2320" i="1" baseline="-18939" dirty="0">
                <a:latin typeface="Times New Roman"/>
                <a:cs typeface="Times New Roman"/>
              </a:rPr>
              <a:t>n</a:t>
            </a:r>
            <a:r>
              <a:rPr sz="2180" dirty="0">
                <a:latin typeface="Cambria"/>
                <a:cs typeface="Cambria"/>
              </a:rPr>
              <a:t>)</a:t>
            </a:r>
            <a:r>
              <a:rPr sz="2180" spc="109" dirty="0">
                <a:latin typeface="Cambria"/>
                <a:cs typeface="Cambria"/>
              </a:rPr>
              <a:t> </a:t>
            </a:r>
            <a:r>
              <a:rPr sz="2180" spc="844" dirty="0">
                <a:latin typeface="Cambria"/>
                <a:cs typeface="Cambria"/>
              </a:rPr>
              <a:t>⟶</a:t>
            </a:r>
            <a:r>
              <a:rPr sz="2180" spc="109" dirty="0">
                <a:latin typeface="Cambria"/>
                <a:cs typeface="Cambria"/>
              </a:rPr>
              <a:t> </a:t>
            </a:r>
            <a:r>
              <a:rPr sz="2180" b="1" spc="-7" dirty="0">
                <a:latin typeface="Times New Roman"/>
                <a:cs typeface="Times New Roman"/>
              </a:rPr>
              <a:t>x</a:t>
            </a:r>
            <a:r>
              <a:rPr sz="2320" spc="-11" baseline="-18939" dirty="0">
                <a:latin typeface="Cambria"/>
                <a:cs typeface="Cambria"/>
              </a:rPr>
              <a:t>1</a:t>
            </a:r>
            <a:r>
              <a:rPr sz="2180" spc="-7" dirty="0">
                <a:latin typeface="Cambria"/>
                <a:cs typeface="Cambria"/>
              </a:rPr>
              <a:t>,</a:t>
            </a:r>
            <a:r>
              <a:rPr sz="2180" spc="-120" dirty="0">
                <a:latin typeface="Cambria"/>
                <a:cs typeface="Cambria"/>
              </a:rPr>
              <a:t> </a:t>
            </a:r>
            <a:r>
              <a:rPr sz="2180" spc="305" dirty="0">
                <a:latin typeface="Cambria"/>
                <a:cs typeface="Cambria"/>
              </a:rPr>
              <a:t>…,</a:t>
            </a:r>
            <a:r>
              <a:rPr sz="2180" spc="-120" dirty="0">
                <a:latin typeface="Cambria"/>
                <a:cs typeface="Cambria"/>
              </a:rPr>
              <a:t> </a:t>
            </a:r>
            <a:r>
              <a:rPr sz="2180" b="1" dirty="0">
                <a:latin typeface="Times New Roman"/>
                <a:cs typeface="Times New Roman"/>
              </a:rPr>
              <a:t>x</a:t>
            </a:r>
            <a:r>
              <a:rPr sz="2320" i="1" baseline="-18939" dirty="0">
                <a:latin typeface="Times New Roman"/>
                <a:cs typeface="Times New Roman"/>
              </a:rPr>
              <a:t>n</a:t>
            </a:r>
            <a:r>
              <a:rPr sz="2320" i="1" spc="300" baseline="-18939" dirty="0">
                <a:latin typeface="Times New Roman"/>
                <a:cs typeface="Times New Roman"/>
              </a:rPr>
              <a:t> </a:t>
            </a:r>
            <a:r>
              <a:rPr sz="2180" spc="120" dirty="0">
                <a:latin typeface="Cambria"/>
                <a:cs typeface="Cambria"/>
              </a:rPr>
              <a:t>∈</a:t>
            </a:r>
            <a:r>
              <a:rPr sz="2180" spc="109" dirty="0">
                <a:latin typeface="Cambria"/>
                <a:cs typeface="Cambria"/>
              </a:rPr>
              <a:t> </a:t>
            </a:r>
            <a:r>
              <a:rPr sz="2180" spc="-18" dirty="0">
                <a:latin typeface="Cambria"/>
                <a:cs typeface="Cambria"/>
              </a:rPr>
              <a:t>ℝ</a:t>
            </a:r>
            <a:r>
              <a:rPr sz="2320" i="1" spc="-26" baseline="29040" dirty="0">
                <a:latin typeface="Times New Roman"/>
                <a:cs typeface="Times New Roman"/>
              </a:rPr>
              <a:t>d</a:t>
            </a:r>
            <a:endParaRPr sz="2320" baseline="2904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2055">
              <a:lnSpc>
                <a:spcPct val="100000"/>
              </a:lnSpc>
              <a:spcBef>
                <a:spcPts val="70"/>
              </a:spcBef>
              <a:tabLst>
                <a:tab pos="2894009" algn="l"/>
                <a:tab pos="3974463" algn="l"/>
              </a:tabLst>
            </a:pPr>
            <a:r>
              <a:rPr sz="3516" spc="-46" dirty="0"/>
              <a:t>Contextualized</a:t>
            </a:r>
            <a:r>
              <a:rPr sz="3516" dirty="0"/>
              <a:t>	</a:t>
            </a:r>
            <a:r>
              <a:rPr sz="3516" spc="-14" dirty="0"/>
              <a:t>word</a:t>
            </a:r>
            <a:r>
              <a:rPr sz="3516" dirty="0"/>
              <a:t>	</a:t>
            </a:r>
            <a:r>
              <a:rPr sz="3516" spc="-257" dirty="0"/>
              <a:t>embeddings</a:t>
            </a:r>
            <a:endParaRPr sz="3516"/>
          </a:p>
        </p:txBody>
      </p:sp>
      <p:sp>
        <p:nvSpPr>
          <p:cNvPr id="3" name="object 3"/>
          <p:cNvSpPr txBox="1"/>
          <p:nvPr/>
        </p:nvSpPr>
        <p:spPr>
          <a:xfrm>
            <a:off x="2265164" y="1687711"/>
            <a:ext cx="6685211" cy="2870313"/>
          </a:xfrm>
          <a:prstGeom prst="rect">
            <a:avLst/>
          </a:prstGeom>
        </p:spPr>
        <p:txBody>
          <a:bodyPr vert="horz" wrap="square" lIns="0" tIns="8930" rIns="0" bIns="0" rtlCol="0" anchor="t">
            <a:spAutoFit/>
          </a:bodyPr>
          <a:lstStyle/>
          <a:p>
            <a:pPr marL="35560">
              <a:lnSpc>
                <a:spcPct val="100000"/>
              </a:lnSpc>
              <a:spcBef>
                <a:spcPts val="70"/>
              </a:spcBef>
            </a:pPr>
            <a:r>
              <a:rPr sz="1969" dirty="0">
                <a:latin typeface="Georgia"/>
                <a:cs typeface="Georgia"/>
              </a:rPr>
              <a:t>Compute</a:t>
            </a:r>
            <a:r>
              <a:rPr sz="1969" spc="-32" dirty="0">
                <a:latin typeface="Georgia"/>
                <a:cs typeface="Georgia"/>
              </a:rPr>
              <a:t> </a:t>
            </a:r>
            <a:r>
              <a:rPr sz="1969" dirty="0">
                <a:latin typeface="Georgia"/>
                <a:cs typeface="Georgia"/>
              </a:rPr>
              <a:t>contextual</a:t>
            </a:r>
            <a:r>
              <a:rPr sz="1969" spc="-28" dirty="0">
                <a:latin typeface="Georgia"/>
                <a:cs typeface="Georgia"/>
              </a:rPr>
              <a:t> </a:t>
            </a:r>
            <a:r>
              <a:rPr sz="1969" spc="-7" dirty="0">
                <a:latin typeface="Georgia"/>
                <a:cs typeface="Georgia"/>
              </a:rPr>
              <a:t>vector:</a:t>
            </a:r>
            <a:endParaRPr lang="en-US" sz="1969">
              <a:latin typeface="Georgia"/>
              <a:cs typeface="Georgia"/>
            </a:endParaRPr>
          </a:p>
          <a:p>
            <a:pPr marL="2000885">
              <a:spcBef>
                <a:spcPts val="2064"/>
              </a:spcBef>
              <a:tabLst>
                <a:tab pos="2338601" algn="l"/>
                <a:tab pos="3267256" algn="l"/>
              </a:tabLst>
            </a:pPr>
            <a:r>
              <a:rPr sz="2050" b="1" spc="32" dirty="0">
                <a:latin typeface="Trebuchet MS"/>
                <a:cs typeface="Trebuchet MS"/>
              </a:rPr>
              <a:t>c</a:t>
            </a:r>
            <a:r>
              <a:rPr sz="2150" i="1" spc="47" baseline="-12195" dirty="0">
                <a:latin typeface="Georgia"/>
                <a:cs typeface="Georgia"/>
              </a:rPr>
              <a:t>k</a:t>
            </a:r>
            <a:r>
              <a:rPr sz="2150" i="1" baseline="-12195" dirty="0">
                <a:latin typeface="Georgia"/>
                <a:cs typeface="Georgia"/>
              </a:rPr>
              <a:t>	</a:t>
            </a:r>
            <a:r>
              <a:rPr sz="2050" spc="510" dirty="0">
                <a:latin typeface="Trebuchet MS"/>
                <a:cs typeface="Trebuchet MS"/>
              </a:rPr>
              <a:t>=</a:t>
            </a:r>
            <a:r>
              <a:rPr sz="2050" spc="-49" dirty="0">
                <a:latin typeface="Trebuchet MS"/>
                <a:cs typeface="Trebuchet MS"/>
              </a:rPr>
              <a:t> </a:t>
            </a:r>
            <a:r>
              <a:rPr sz="2050" i="1" spc="320" dirty="0">
                <a:latin typeface="Georgia"/>
                <a:cs typeface="Georgia"/>
              </a:rPr>
              <a:t>f</a:t>
            </a:r>
            <a:r>
              <a:rPr sz="2050" i="1" spc="-274" dirty="0">
                <a:latin typeface="Georgia"/>
                <a:cs typeface="Georgia"/>
              </a:rPr>
              <a:t> </a:t>
            </a:r>
            <a:r>
              <a:rPr sz="2050" spc="-18" dirty="0">
                <a:latin typeface="Trebuchet MS"/>
                <a:cs typeface="Trebuchet MS"/>
              </a:rPr>
              <a:t>(</a:t>
            </a:r>
            <a:r>
              <a:rPr sz="2050" i="1" spc="-18" dirty="0">
                <a:latin typeface="Georgia"/>
                <a:cs typeface="Georgia"/>
              </a:rPr>
              <a:t>w</a:t>
            </a:r>
            <a:r>
              <a:rPr sz="2150" i="1" spc="-26" baseline="-12195" dirty="0">
                <a:latin typeface="Georgia"/>
                <a:cs typeface="Georgia"/>
              </a:rPr>
              <a:t>k</a:t>
            </a:r>
            <a:r>
              <a:rPr sz="2150" i="1" baseline="-12195" dirty="0">
                <a:latin typeface="Georgia"/>
                <a:cs typeface="Georgia"/>
              </a:rPr>
              <a:t>	</a:t>
            </a:r>
            <a:r>
              <a:rPr sz="2050" i="1" spc="35" dirty="0">
                <a:latin typeface="Arial"/>
                <a:cs typeface="Arial"/>
              </a:rPr>
              <a:t>|</a:t>
            </a:r>
            <a:r>
              <a:rPr sz="2050" i="1" spc="21" dirty="0">
                <a:latin typeface="Arial"/>
                <a:cs typeface="Arial"/>
              </a:rPr>
              <a:t> </a:t>
            </a:r>
            <a:r>
              <a:rPr sz="2050" i="1" spc="-42" dirty="0">
                <a:latin typeface="Georgia"/>
                <a:cs typeface="Georgia"/>
              </a:rPr>
              <a:t>w</a:t>
            </a:r>
            <a:r>
              <a:rPr sz="2150" spc="-63" baseline="-12195" dirty="0">
                <a:latin typeface="Adobe Heiti Std R"/>
                <a:cs typeface="Adobe Heiti Std R"/>
              </a:rPr>
              <a:t>1</a:t>
            </a:r>
            <a:r>
              <a:rPr sz="2050" i="1" spc="-42" dirty="0">
                <a:latin typeface="Georgia"/>
                <a:cs typeface="Georgia"/>
              </a:rPr>
              <a:t>,</a:t>
            </a:r>
            <a:r>
              <a:rPr sz="2050" i="1" spc="-141" dirty="0">
                <a:latin typeface="Georgia"/>
                <a:cs typeface="Georgia"/>
              </a:rPr>
              <a:t> </a:t>
            </a:r>
            <a:r>
              <a:rPr sz="2050" i="1" spc="60" dirty="0">
                <a:latin typeface="Georgia"/>
                <a:cs typeface="Georgia"/>
              </a:rPr>
              <a:t>w</a:t>
            </a:r>
            <a:r>
              <a:rPr sz="2150" spc="89" baseline="-12195" dirty="0">
                <a:latin typeface="Adobe Heiti Std R"/>
                <a:cs typeface="Adobe Heiti Std R"/>
              </a:rPr>
              <a:t>2</a:t>
            </a:r>
            <a:r>
              <a:rPr sz="2050" i="1" spc="60" dirty="0">
                <a:latin typeface="Georgia"/>
                <a:cs typeface="Georgia"/>
              </a:rPr>
              <a:t>,.</a:t>
            </a:r>
            <a:r>
              <a:rPr sz="2050" i="1" spc="-143" dirty="0">
                <a:latin typeface="Georgia"/>
                <a:cs typeface="Georgia"/>
              </a:rPr>
              <a:t> </a:t>
            </a:r>
            <a:r>
              <a:rPr sz="2050" i="1" spc="239" dirty="0">
                <a:latin typeface="Georgia"/>
                <a:cs typeface="Georgia"/>
              </a:rPr>
              <a:t>..,</a:t>
            </a:r>
            <a:r>
              <a:rPr sz="2050" i="1" spc="-141" dirty="0">
                <a:latin typeface="Georgia"/>
                <a:cs typeface="Georgia"/>
              </a:rPr>
              <a:t> </a:t>
            </a:r>
            <a:r>
              <a:rPr sz="2050" i="1" dirty="0" err="1">
                <a:latin typeface="Georgia"/>
                <a:cs typeface="Georgia"/>
              </a:rPr>
              <a:t>w</a:t>
            </a:r>
            <a:r>
              <a:rPr sz="2150" i="1" baseline="-12195" dirty="0" err="1">
                <a:latin typeface="Georgia"/>
                <a:cs typeface="Georgia"/>
              </a:rPr>
              <a:t>n</a:t>
            </a:r>
            <a:r>
              <a:rPr sz="2050" dirty="0">
                <a:latin typeface="Trebuchet MS"/>
                <a:cs typeface="Trebuchet MS"/>
              </a:rPr>
              <a:t>)</a:t>
            </a:r>
            <a:r>
              <a:rPr lang="en-US" sz="2050" spc="-28" dirty="0">
                <a:latin typeface="Trebuchet MS"/>
                <a:cs typeface="Trebuchet MS"/>
              </a:rPr>
              <a:t> </a:t>
            </a:r>
            <a:r>
              <a:rPr lang="en-US" sz="2050" spc="-28" dirty="0">
                <a:latin typeface="Trebuchet MS"/>
                <a:cs typeface="Arial"/>
              </a:rPr>
              <a:t> </a:t>
            </a:r>
            <a:r>
              <a:rPr lang="en-US" sz="2050" i="1" spc="21" dirty="0">
                <a:latin typeface="Arial"/>
                <a:cs typeface="Arial"/>
              </a:rPr>
              <a:t>    </a:t>
            </a:r>
            <a:r>
              <a:rPr sz="2050" spc="-18" dirty="0">
                <a:latin typeface="Arial"/>
                <a:cs typeface="Arial"/>
              </a:rPr>
              <a:t>R</a:t>
            </a:r>
            <a:r>
              <a:rPr sz="2150" i="1" spc="-26" baseline="32520" dirty="0">
                <a:latin typeface="Georgia"/>
                <a:cs typeface="Georgia"/>
              </a:rPr>
              <a:t>d</a:t>
            </a:r>
            <a:endParaRPr sz="2150" baseline="32520" dirty="0">
              <a:latin typeface="Georgia"/>
              <a:cs typeface="Georgia"/>
            </a:endParaRPr>
          </a:p>
          <a:p>
            <a:pPr>
              <a:lnSpc>
                <a:spcPct val="100000"/>
              </a:lnSpc>
            </a:pPr>
            <a:endParaRPr sz="2074">
              <a:latin typeface="Georgia"/>
              <a:cs typeface="Georgia"/>
            </a:endParaRPr>
          </a:p>
          <a:p>
            <a:pPr>
              <a:lnSpc>
                <a:spcPct val="100000"/>
              </a:lnSpc>
              <a:spcBef>
                <a:spcPts val="229"/>
              </a:spcBef>
            </a:pPr>
            <a:endParaRPr sz="2074">
              <a:latin typeface="Georgia"/>
              <a:cs typeface="Georgia"/>
            </a:endParaRPr>
          </a:p>
          <a:p>
            <a:pPr marL="1617345">
              <a:lnSpc>
                <a:spcPct val="100000"/>
              </a:lnSpc>
            </a:pPr>
            <a:r>
              <a:rPr sz="1758" i="1" spc="369" dirty="0">
                <a:latin typeface="Times New Roman"/>
                <a:cs typeface="Times New Roman"/>
              </a:rPr>
              <a:t>f</a:t>
            </a:r>
            <a:r>
              <a:rPr sz="1758" i="1" spc="-239" dirty="0">
                <a:latin typeface="Times New Roman"/>
                <a:cs typeface="Times New Roman"/>
              </a:rPr>
              <a:t> </a:t>
            </a:r>
            <a:r>
              <a:rPr sz="1758" spc="53" dirty="0">
                <a:latin typeface="Times New Roman"/>
                <a:cs typeface="Times New Roman"/>
              </a:rPr>
              <a:t>(</a:t>
            </a:r>
            <a:r>
              <a:rPr sz="1758" spc="53" dirty="0">
                <a:solidFill>
                  <a:srgbClr val="FF0000"/>
                </a:solidFill>
                <a:latin typeface="Times New Roman"/>
                <a:cs typeface="Times New Roman"/>
              </a:rPr>
              <a:t>play</a:t>
            </a:r>
            <a:r>
              <a:rPr sz="1758" spc="80" dirty="0">
                <a:solidFill>
                  <a:srgbClr val="FF0000"/>
                </a:solidFill>
                <a:latin typeface="Times New Roman"/>
                <a:cs typeface="Times New Roman"/>
              </a:rPr>
              <a:t> </a:t>
            </a:r>
            <a:r>
              <a:rPr sz="1758" i="1" dirty="0">
                <a:latin typeface="Arial"/>
                <a:cs typeface="Arial"/>
              </a:rPr>
              <a:t>|</a:t>
            </a:r>
            <a:r>
              <a:rPr sz="1758" i="1" spc="32" dirty="0">
                <a:latin typeface="Arial"/>
                <a:cs typeface="Arial"/>
              </a:rPr>
              <a:t> </a:t>
            </a:r>
            <a:r>
              <a:rPr sz="1758" spc="53" dirty="0">
                <a:latin typeface="Times New Roman"/>
                <a:cs typeface="Times New Roman"/>
              </a:rPr>
              <a:t>Elmo</a:t>
            </a:r>
            <a:r>
              <a:rPr sz="1758" spc="179" dirty="0">
                <a:latin typeface="Times New Roman"/>
                <a:cs typeface="Times New Roman"/>
              </a:rPr>
              <a:t> </a:t>
            </a:r>
            <a:r>
              <a:rPr sz="1758" spc="98" dirty="0">
                <a:latin typeface="Times New Roman"/>
                <a:cs typeface="Times New Roman"/>
              </a:rPr>
              <a:t>and</a:t>
            </a:r>
            <a:r>
              <a:rPr sz="1758" spc="186" dirty="0">
                <a:latin typeface="Times New Roman"/>
                <a:cs typeface="Times New Roman"/>
              </a:rPr>
              <a:t> </a:t>
            </a:r>
            <a:r>
              <a:rPr sz="1758" dirty="0">
                <a:latin typeface="Times New Roman"/>
                <a:cs typeface="Times New Roman"/>
              </a:rPr>
              <a:t>Cookie</a:t>
            </a:r>
            <a:r>
              <a:rPr sz="1758" spc="183" dirty="0">
                <a:latin typeface="Times New Roman"/>
                <a:cs typeface="Times New Roman"/>
              </a:rPr>
              <a:t> </a:t>
            </a:r>
            <a:r>
              <a:rPr sz="1758" spc="63" dirty="0">
                <a:latin typeface="Times New Roman"/>
                <a:cs typeface="Times New Roman"/>
              </a:rPr>
              <a:t>Monster</a:t>
            </a:r>
            <a:r>
              <a:rPr sz="1758" spc="183" dirty="0">
                <a:latin typeface="Times New Roman"/>
                <a:cs typeface="Times New Roman"/>
              </a:rPr>
              <a:t> </a:t>
            </a:r>
            <a:r>
              <a:rPr sz="1758" spc="46" dirty="0">
                <a:solidFill>
                  <a:srgbClr val="FF0000"/>
                </a:solidFill>
                <a:latin typeface="Times New Roman"/>
                <a:cs typeface="Times New Roman"/>
              </a:rPr>
              <a:t>play</a:t>
            </a:r>
            <a:r>
              <a:rPr sz="1758" spc="183" dirty="0">
                <a:solidFill>
                  <a:srgbClr val="FF0000"/>
                </a:solidFill>
                <a:latin typeface="Times New Roman"/>
                <a:cs typeface="Times New Roman"/>
              </a:rPr>
              <a:t> </a:t>
            </a:r>
            <a:r>
              <a:rPr sz="1758" spc="91" dirty="0">
                <a:latin typeface="Times New Roman"/>
                <a:cs typeface="Times New Roman"/>
              </a:rPr>
              <a:t>a</a:t>
            </a:r>
            <a:r>
              <a:rPr sz="1758" spc="183" dirty="0">
                <a:latin typeface="Times New Roman"/>
                <a:cs typeface="Times New Roman"/>
              </a:rPr>
              <a:t> </a:t>
            </a:r>
            <a:r>
              <a:rPr sz="1758" spc="46" dirty="0">
                <a:latin typeface="Times New Roman"/>
                <a:cs typeface="Times New Roman"/>
              </a:rPr>
              <a:t>game)</a:t>
            </a:r>
            <a:endParaRPr sz="1758">
              <a:latin typeface="Times New Roman"/>
              <a:cs typeface="Times New Roman"/>
            </a:endParaRPr>
          </a:p>
          <a:p>
            <a:pPr marL="1640205" algn="ctr">
              <a:lnSpc>
                <a:spcPct val="100000"/>
              </a:lnSpc>
              <a:spcBef>
                <a:spcPts val="1308"/>
              </a:spcBef>
            </a:pPr>
            <a:r>
              <a:rPr sz="2496" i="1" spc="-949" dirty="0">
                <a:latin typeface="Calibri"/>
                <a:cs typeface="Calibri"/>
              </a:rPr>
              <a:t>6</a:t>
            </a:r>
            <a:r>
              <a:rPr sz="2496" spc="305" dirty="0">
                <a:latin typeface="Trebuchet MS"/>
                <a:cs typeface="Trebuchet MS"/>
              </a:rPr>
              <a:t>=</a:t>
            </a:r>
            <a:endParaRPr sz="2496">
              <a:latin typeface="Trebuchet MS"/>
              <a:cs typeface="Trebuchet MS"/>
            </a:endParaRPr>
          </a:p>
          <a:p>
            <a:pPr marL="1428750">
              <a:lnSpc>
                <a:spcPct val="100000"/>
              </a:lnSpc>
              <a:spcBef>
                <a:spcPts val="1487"/>
              </a:spcBef>
            </a:pPr>
            <a:r>
              <a:rPr sz="1898" i="1" spc="394" dirty="0">
                <a:latin typeface="Times New Roman"/>
                <a:cs typeface="Times New Roman"/>
              </a:rPr>
              <a:t>f</a:t>
            </a:r>
            <a:r>
              <a:rPr sz="1898" i="1" spc="-271" dirty="0">
                <a:latin typeface="Times New Roman"/>
                <a:cs typeface="Times New Roman"/>
              </a:rPr>
              <a:t> </a:t>
            </a:r>
            <a:r>
              <a:rPr sz="1898" dirty="0">
                <a:latin typeface="Cambria"/>
                <a:cs typeface="Cambria"/>
              </a:rPr>
              <a:t>(</a:t>
            </a:r>
            <a:r>
              <a:rPr sz="1898" dirty="0">
                <a:solidFill>
                  <a:srgbClr val="FF0000"/>
                </a:solidFill>
                <a:latin typeface="Cambria"/>
                <a:cs typeface="Cambria"/>
              </a:rPr>
              <a:t>play</a:t>
            </a:r>
            <a:r>
              <a:rPr sz="1898" spc="67" dirty="0">
                <a:solidFill>
                  <a:srgbClr val="FF0000"/>
                </a:solidFill>
                <a:latin typeface="Cambria"/>
                <a:cs typeface="Cambria"/>
              </a:rPr>
              <a:t> </a:t>
            </a:r>
            <a:r>
              <a:rPr sz="1898" i="1" dirty="0">
                <a:latin typeface="Arial"/>
                <a:cs typeface="Arial"/>
              </a:rPr>
              <a:t>|</a:t>
            </a:r>
            <a:r>
              <a:rPr sz="1898" i="1" spc="-28" dirty="0">
                <a:latin typeface="Arial"/>
                <a:cs typeface="Arial"/>
              </a:rPr>
              <a:t> </a:t>
            </a:r>
            <a:r>
              <a:rPr sz="1898" spc="49" dirty="0">
                <a:latin typeface="Cambria"/>
                <a:cs typeface="Cambria"/>
              </a:rPr>
              <a:t>The</a:t>
            </a:r>
            <a:r>
              <a:rPr sz="1898" spc="183" dirty="0">
                <a:latin typeface="Cambria"/>
                <a:cs typeface="Cambria"/>
              </a:rPr>
              <a:t> </a:t>
            </a:r>
            <a:r>
              <a:rPr sz="1898" dirty="0">
                <a:latin typeface="Cambria"/>
                <a:cs typeface="Cambria"/>
              </a:rPr>
              <a:t>Broadway</a:t>
            </a:r>
            <a:r>
              <a:rPr sz="1898" spc="186" dirty="0">
                <a:latin typeface="Cambria"/>
                <a:cs typeface="Cambria"/>
              </a:rPr>
              <a:t> </a:t>
            </a:r>
            <a:r>
              <a:rPr sz="1898" dirty="0">
                <a:solidFill>
                  <a:srgbClr val="FF0000"/>
                </a:solidFill>
                <a:latin typeface="Cambria"/>
                <a:cs typeface="Cambria"/>
              </a:rPr>
              <a:t>play</a:t>
            </a:r>
            <a:r>
              <a:rPr sz="1898" spc="186" dirty="0">
                <a:solidFill>
                  <a:srgbClr val="FF0000"/>
                </a:solidFill>
                <a:latin typeface="Cambria"/>
                <a:cs typeface="Cambria"/>
              </a:rPr>
              <a:t> </a:t>
            </a:r>
            <a:r>
              <a:rPr sz="1898" spc="-18" dirty="0">
                <a:latin typeface="Cambria"/>
                <a:cs typeface="Cambria"/>
              </a:rPr>
              <a:t>premiered</a:t>
            </a:r>
            <a:r>
              <a:rPr sz="1898" spc="183" dirty="0">
                <a:latin typeface="Cambria"/>
                <a:cs typeface="Cambria"/>
              </a:rPr>
              <a:t> </a:t>
            </a:r>
            <a:r>
              <a:rPr sz="1898" spc="-7" dirty="0">
                <a:latin typeface="Cambria"/>
                <a:cs typeface="Cambria"/>
              </a:rPr>
              <a:t>yesterday)</a:t>
            </a:r>
            <a:endParaRPr sz="1898">
              <a:latin typeface="Cambria"/>
              <a:ea typeface="Cambria"/>
              <a:cs typeface="Cambria"/>
            </a:endParaRPr>
          </a:p>
        </p:txBody>
      </p:sp>
      <p:pic>
        <p:nvPicPr>
          <p:cNvPr id="5" name="Picture 4">
            <a:extLst>
              <a:ext uri="{FF2B5EF4-FFF2-40B4-BE49-F238E27FC236}">
                <a16:creationId xmlns:a16="http://schemas.microsoft.com/office/drawing/2014/main" id="{85E32A23-69E7-F095-511C-E0D0C1B60D30}"/>
              </a:ext>
            </a:extLst>
          </p:cNvPr>
          <p:cNvPicPr>
            <a:picLocks noChangeAspect="1"/>
          </p:cNvPicPr>
          <p:nvPr/>
        </p:nvPicPr>
        <p:blipFill>
          <a:blip r:embed="rId2"/>
          <a:stretch>
            <a:fillRect/>
          </a:stretch>
        </p:blipFill>
        <p:spPr>
          <a:xfrm>
            <a:off x="7494153" y="2206017"/>
            <a:ext cx="314325" cy="4000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2055">
              <a:lnSpc>
                <a:spcPct val="100000"/>
              </a:lnSpc>
              <a:spcBef>
                <a:spcPts val="70"/>
              </a:spcBef>
              <a:tabLst>
                <a:tab pos="2894009" algn="l"/>
                <a:tab pos="3974463" algn="l"/>
              </a:tabLst>
            </a:pPr>
            <a:r>
              <a:rPr sz="3516" spc="-46" dirty="0"/>
              <a:t>Contextualized</a:t>
            </a:r>
            <a:r>
              <a:rPr sz="3516" dirty="0"/>
              <a:t>	</a:t>
            </a:r>
            <a:r>
              <a:rPr sz="3516" spc="-14" dirty="0"/>
              <a:t>word</a:t>
            </a:r>
            <a:r>
              <a:rPr sz="3516" dirty="0"/>
              <a:t>	</a:t>
            </a:r>
            <a:r>
              <a:rPr sz="3516" spc="-257" dirty="0"/>
              <a:t>embeddings</a:t>
            </a:r>
            <a:endParaRPr sz="3516"/>
          </a:p>
        </p:txBody>
      </p:sp>
      <p:pic>
        <p:nvPicPr>
          <p:cNvPr id="3" name="object 3"/>
          <p:cNvPicPr/>
          <p:nvPr/>
        </p:nvPicPr>
        <p:blipFill>
          <a:blip r:embed="rId2" cstate="print"/>
          <a:stretch>
            <a:fillRect/>
          </a:stretch>
        </p:blipFill>
        <p:spPr>
          <a:xfrm>
            <a:off x="2104031" y="2351381"/>
            <a:ext cx="7961859" cy="2359557"/>
          </a:xfrm>
          <a:prstGeom prst="rect">
            <a:avLst/>
          </a:prstGeom>
        </p:spPr>
      </p:pic>
      <p:sp>
        <p:nvSpPr>
          <p:cNvPr id="4" name="object 4"/>
          <p:cNvSpPr txBox="1"/>
          <p:nvPr/>
        </p:nvSpPr>
        <p:spPr>
          <a:xfrm>
            <a:off x="3318867" y="6438305"/>
            <a:ext cx="5417641" cy="253603"/>
          </a:xfrm>
          <a:prstGeom prst="rect">
            <a:avLst/>
          </a:prstGeom>
        </p:spPr>
        <p:txBody>
          <a:bodyPr vert="horz" wrap="square" lIns="0" tIns="8930" rIns="0" bIns="0" rtlCol="0">
            <a:spAutoFit/>
          </a:bodyPr>
          <a:lstStyle/>
          <a:p>
            <a:pPr marL="8929">
              <a:lnSpc>
                <a:spcPct val="100000"/>
              </a:lnSpc>
              <a:spcBef>
                <a:spcPts val="70"/>
              </a:spcBef>
            </a:pPr>
            <a:r>
              <a:rPr sz="1547" dirty="0">
                <a:solidFill>
                  <a:srgbClr val="011993"/>
                </a:solidFill>
                <a:latin typeface="Georgia"/>
                <a:cs typeface="Georgia"/>
              </a:rPr>
              <a:t>(Peters</a:t>
            </a:r>
            <a:r>
              <a:rPr sz="1547" spc="-28" dirty="0">
                <a:solidFill>
                  <a:srgbClr val="011993"/>
                </a:solidFill>
                <a:latin typeface="Georgia"/>
                <a:cs typeface="Georgia"/>
              </a:rPr>
              <a:t> </a:t>
            </a:r>
            <a:r>
              <a:rPr sz="1547" dirty="0">
                <a:solidFill>
                  <a:srgbClr val="011993"/>
                </a:solidFill>
                <a:latin typeface="Georgia"/>
                <a:cs typeface="Georgia"/>
              </a:rPr>
              <a:t>et</a:t>
            </a:r>
            <a:r>
              <a:rPr sz="1547" spc="-25" dirty="0">
                <a:solidFill>
                  <a:srgbClr val="011993"/>
                </a:solidFill>
                <a:latin typeface="Georgia"/>
                <a:cs typeface="Georgia"/>
              </a:rPr>
              <a:t> </a:t>
            </a:r>
            <a:r>
              <a:rPr sz="1547" dirty="0">
                <a:solidFill>
                  <a:srgbClr val="011993"/>
                </a:solidFill>
                <a:latin typeface="Georgia"/>
                <a:cs typeface="Georgia"/>
              </a:rPr>
              <a:t>al,</a:t>
            </a:r>
            <a:r>
              <a:rPr sz="1547" spc="-28" dirty="0">
                <a:solidFill>
                  <a:srgbClr val="011993"/>
                </a:solidFill>
                <a:latin typeface="Georgia"/>
                <a:cs typeface="Georgia"/>
              </a:rPr>
              <a:t> </a:t>
            </a:r>
            <a:r>
              <a:rPr sz="1547" dirty="0">
                <a:solidFill>
                  <a:srgbClr val="011993"/>
                </a:solidFill>
                <a:latin typeface="Georgia"/>
                <a:cs typeface="Georgia"/>
              </a:rPr>
              <a:t>2018):</a:t>
            </a:r>
            <a:r>
              <a:rPr sz="1547" spc="-21" dirty="0">
                <a:solidFill>
                  <a:srgbClr val="011993"/>
                </a:solidFill>
                <a:latin typeface="Georgia"/>
                <a:cs typeface="Georgia"/>
              </a:rPr>
              <a:t> </a:t>
            </a:r>
            <a:r>
              <a:rPr sz="1547" dirty="0">
                <a:solidFill>
                  <a:srgbClr val="011993"/>
                </a:solidFill>
                <a:latin typeface="Georgia"/>
                <a:cs typeface="Georgia"/>
              </a:rPr>
              <a:t>Deep</a:t>
            </a:r>
            <a:r>
              <a:rPr sz="1547" spc="-25" dirty="0">
                <a:solidFill>
                  <a:srgbClr val="011993"/>
                </a:solidFill>
                <a:latin typeface="Georgia"/>
                <a:cs typeface="Georgia"/>
              </a:rPr>
              <a:t> </a:t>
            </a:r>
            <a:r>
              <a:rPr sz="1547" dirty="0">
                <a:solidFill>
                  <a:srgbClr val="011993"/>
                </a:solidFill>
                <a:latin typeface="Georgia"/>
                <a:cs typeface="Georgia"/>
              </a:rPr>
              <a:t>contextualized</a:t>
            </a:r>
            <a:r>
              <a:rPr sz="1547" spc="-25" dirty="0">
                <a:solidFill>
                  <a:srgbClr val="011993"/>
                </a:solidFill>
                <a:latin typeface="Georgia"/>
                <a:cs typeface="Georgia"/>
              </a:rPr>
              <a:t> </a:t>
            </a:r>
            <a:r>
              <a:rPr sz="1547" dirty="0">
                <a:solidFill>
                  <a:srgbClr val="011993"/>
                </a:solidFill>
                <a:latin typeface="Georgia"/>
                <a:cs typeface="Georgia"/>
              </a:rPr>
              <a:t>word</a:t>
            </a:r>
            <a:r>
              <a:rPr sz="1547" spc="-28" dirty="0">
                <a:solidFill>
                  <a:srgbClr val="011993"/>
                </a:solidFill>
                <a:latin typeface="Georgia"/>
                <a:cs typeface="Georgia"/>
              </a:rPr>
              <a:t> </a:t>
            </a:r>
            <a:r>
              <a:rPr sz="1547" spc="-7" dirty="0">
                <a:solidFill>
                  <a:srgbClr val="011993"/>
                </a:solidFill>
                <a:latin typeface="Georgia"/>
                <a:cs typeface="Georgia"/>
              </a:rPr>
              <a:t>representations</a:t>
            </a:r>
            <a:endParaRPr sz="1547">
              <a:latin typeface="Georgia"/>
              <a:cs typeface="Georgi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00883" y="2571750"/>
            <a:ext cx="7565678" cy="2541746"/>
          </a:xfrm>
          <a:prstGeom prst="rect">
            <a:avLst/>
          </a:prstGeom>
        </p:spPr>
        <p:txBody>
          <a:bodyPr vert="horz" wrap="square" lIns="0" tIns="19645" rIns="0" bIns="0" rtlCol="0">
            <a:spAutoFit/>
          </a:bodyPr>
          <a:lstStyle/>
          <a:p>
            <a:pPr marL="8929" marR="3572">
              <a:lnSpc>
                <a:spcPts val="2180"/>
              </a:lnSpc>
              <a:spcBef>
                <a:spcPts val="154"/>
              </a:spcBef>
            </a:pPr>
            <a:r>
              <a:rPr sz="1828" dirty="0">
                <a:latin typeface="Cambria"/>
                <a:cs typeface="Cambria"/>
              </a:rPr>
              <a:t>“With</a:t>
            </a:r>
            <a:r>
              <a:rPr sz="1828" spc="98" dirty="0">
                <a:latin typeface="Cambria"/>
                <a:cs typeface="Cambria"/>
              </a:rPr>
              <a:t> </a:t>
            </a:r>
            <a:r>
              <a:rPr sz="1828" dirty="0">
                <a:latin typeface="Cambria"/>
                <a:cs typeface="Cambria"/>
              </a:rPr>
              <a:t>hindsight,</a:t>
            </a:r>
            <a:r>
              <a:rPr sz="1828" spc="102" dirty="0">
                <a:latin typeface="Cambria"/>
                <a:cs typeface="Cambria"/>
              </a:rPr>
              <a:t> </a:t>
            </a:r>
            <a:r>
              <a:rPr sz="1828" dirty="0">
                <a:latin typeface="Cambria"/>
                <a:cs typeface="Cambria"/>
              </a:rPr>
              <a:t>we</a:t>
            </a:r>
            <a:r>
              <a:rPr sz="1828" spc="98" dirty="0">
                <a:latin typeface="Cambria"/>
                <a:cs typeface="Cambria"/>
              </a:rPr>
              <a:t> </a:t>
            </a:r>
            <a:r>
              <a:rPr sz="1828" dirty="0">
                <a:latin typeface="Cambria"/>
                <a:cs typeface="Cambria"/>
              </a:rPr>
              <a:t>can</a:t>
            </a:r>
            <a:r>
              <a:rPr sz="1828" spc="102" dirty="0">
                <a:latin typeface="Cambria"/>
                <a:cs typeface="Cambria"/>
              </a:rPr>
              <a:t> </a:t>
            </a:r>
            <a:r>
              <a:rPr sz="1828" dirty="0">
                <a:latin typeface="Cambria"/>
                <a:cs typeface="Cambria"/>
              </a:rPr>
              <a:t>now</a:t>
            </a:r>
            <a:r>
              <a:rPr sz="1828" spc="98" dirty="0">
                <a:latin typeface="Cambria"/>
                <a:cs typeface="Cambria"/>
              </a:rPr>
              <a:t> </a:t>
            </a:r>
            <a:r>
              <a:rPr sz="1828" dirty="0">
                <a:latin typeface="Cambria"/>
                <a:cs typeface="Cambria"/>
              </a:rPr>
              <a:t>see</a:t>
            </a:r>
            <a:r>
              <a:rPr sz="1828" spc="102" dirty="0">
                <a:latin typeface="Cambria"/>
                <a:cs typeface="Cambria"/>
              </a:rPr>
              <a:t> </a:t>
            </a:r>
            <a:r>
              <a:rPr sz="1828" dirty="0">
                <a:latin typeface="Cambria"/>
                <a:cs typeface="Cambria"/>
              </a:rPr>
              <a:t>that</a:t>
            </a:r>
            <a:r>
              <a:rPr sz="1828" spc="102" dirty="0">
                <a:latin typeface="Cambria"/>
                <a:cs typeface="Cambria"/>
              </a:rPr>
              <a:t> </a:t>
            </a:r>
            <a:r>
              <a:rPr sz="1828" dirty="0">
                <a:latin typeface="Cambria"/>
                <a:cs typeface="Cambria"/>
              </a:rPr>
              <a:t>by</a:t>
            </a:r>
            <a:r>
              <a:rPr sz="1828" spc="98" dirty="0">
                <a:latin typeface="Cambria"/>
                <a:cs typeface="Cambria"/>
              </a:rPr>
              <a:t> </a:t>
            </a:r>
            <a:r>
              <a:rPr sz="1828" dirty="0">
                <a:latin typeface="Cambria"/>
                <a:cs typeface="Cambria"/>
              </a:rPr>
              <a:t>representing</a:t>
            </a:r>
            <a:r>
              <a:rPr sz="1828" spc="102" dirty="0">
                <a:latin typeface="Cambria"/>
                <a:cs typeface="Cambria"/>
              </a:rPr>
              <a:t> </a:t>
            </a:r>
            <a:r>
              <a:rPr sz="1828" dirty="0">
                <a:latin typeface="Cambria"/>
                <a:cs typeface="Cambria"/>
              </a:rPr>
              <a:t>word</a:t>
            </a:r>
            <a:r>
              <a:rPr sz="1828" spc="98" dirty="0">
                <a:latin typeface="Cambria"/>
                <a:cs typeface="Cambria"/>
              </a:rPr>
              <a:t> </a:t>
            </a:r>
            <a:r>
              <a:rPr sz="1828" spc="-7" dirty="0">
                <a:latin typeface="Cambria"/>
                <a:cs typeface="Cambria"/>
              </a:rPr>
              <a:t>types </a:t>
            </a:r>
            <a:r>
              <a:rPr sz="1828" dirty="0">
                <a:latin typeface="Cambria"/>
                <a:cs typeface="Cambria"/>
              </a:rPr>
              <a:t>independent</a:t>
            </a:r>
            <a:r>
              <a:rPr sz="1828" spc="105" dirty="0">
                <a:latin typeface="Cambria"/>
                <a:cs typeface="Cambria"/>
              </a:rPr>
              <a:t> </a:t>
            </a:r>
            <a:r>
              <a:rPr sz="1828" dirty="0">
                <a:latin typeface="Cambria"/>
                <a:cs typeface="Cambria"/>
              </a:rPr>
              <a:t>of</a:t>
            </a:r>
            <a:r>
              <a:rPr sz="1828" spc="109" dirty="0">
                <a:latin typeface="Cambria"/>
                <a:cs typeface="Cambria"/>
              </a:rPr>
              <a:t> </a:t>
            </a:r>
            <a:r>
              <a:rPr sz="1828" dirty="0">
                <a:latin typeface="Cambria"/>
                <a:cs typeface="Cambria"/>
              </a:rPr>
              <a:t>context,</a:t>
            </a:r>
            <a:r>
              <a:rPr sz="1828" spc="109" dirty="0">
                <a:latin typeface="Cambria"/>
                <a:cs typeface="Cambria"/>
              </a:rPr>
              <a:t> </a:t>
            </a:r>
            <a:r>
              <a:rPr sz="1828" u="sng" dirty="0">
                <a:uFill>
                  <a:solidFill>
                    <a:srgbClr val="000000"/>
                  </a:solidFill>
                </a:uFill>
                <a:latin typeface="Cambria"/>
                <a:cs typeface="Cambria"/>
              </a:rPr>
              <a:t>we</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were</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solving</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a</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problem</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that</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was</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harder</a:t>
            </a:r>
            <a:r>
              <a:rPr sz="1828" u="sng" spc="109" dirty="0">
                <a:uFill>
                  <a:solidFill>
                    <a:srgbClr val="000000"/>
                  </a:solidFill>
                </a:uFill>
                <a:latin typeface="Cambria"/>
                <a:cs typeface="Cambria"/>
              </a:rPr>
              <a:t> </a:t>
            </a:r>
            <a:r>
              <a:rPr sz="1828" u="sng" spc="-14" dirty="0">
                <a:uFill>
                  <a:solidFill>
                    <a:srgbClr val="000000"/>
                  </a:solidFill>
                </a:uFill>
                <a:latin typeface="Cambria"/>
                <a:cs typeface="Cambria"/>
              </a:rPr>
              <a:t>than</a:t>
            </a:r>
            <a:r>
              <a:rPr sz="1828" u="none" spc="457" dirty="0">
                <a:latin typeface="Cambria"/>
                <a:cs typeface="Cambria"/>
              </a:rPr>
              <a:t> </a:t>
            </a:r>
            <a:r>
              <a:rPr sz="1828" u="sng" dirty="0">
                <a:uFill>
                  <a:solidFill>
                    <a:srgbClr val="000000"/>
                  </a:solidFill>
                </a:uFill>
                <a:latin typeface="Cambria"/>
                <a:cs typeface="Cambria"/>
              </a:rPr>
              <a:t>it</a:t>
            </a:r>
            <a:r>
              <a:rPr sz="1828" u="sng" spc="105" dirty="0">
                <a:uFill>
                  <a:solidFill>
                    <a:srgbClr val="000000"/>
                  </a:solidFill>
                </a:uFill>
                <a:latin typeface="Cambria"/>
                <a:cs typeface="Cambria"/>
              </a:rPr>
              <a:t> </a:t>
            </a:r>
            <a:r>
              <a:rPr sz="1828" u="sng" dirty="0">
                <a:uFill>
                  <a:solidFill>
                    <a:srgbClr val="000000"/>
                  </a:solidFill>
                </a:uFill>
                <a:latin typeface="Cambria"/>
                <a:cs typeface="Cambria"/>
              </a:rPr>
              <a:t>needed</a:t>
            </a:r>
            <a:r>
              <a:rPr sz="1828" u="sng" spc="109" dirty="0">
                <a:uFill>
                  <a:solidFill>
                    <a:srgbClr val="000000"/>
                  </a:solidFill>
                </a:uFill>
                <a:latin typeface="Cambria"/>
                <a:cs typeface="Cambria"/>
              </a:rPr>
              <a:t> </a:t>
            </a:r>
            <a:r>
              <a:rPr sz="1828" u="sng" dirty="0">
                <a:uFill>
                  <a:solidFill>
                    <a:srgbClr val="000000"/>
                  </a:solidFill>
                </a:uFill>
                <a:latin typeface="Cambria"/>
                <a:cs typeface="Cambria"/>
              </a:rPr>
              <a:t>to</a:t>
            </a:r>
            <a:r>
              <a:rPr sz="1828" u="sng" spc="105" dirty="0">
                <a:uFill>
                  <a:solidFill>
                    <a:srgbClr val="000000"/>
                  </a:solidFill>
                </a:uFill>
                <a:latin typeface="Cambria"/>
                <a:cs typeface="Cambria"/>
              </a:rPr>
              <a:t> </a:t>
            </a:r>
            <a:r>
              <a:rPr sz="1828" u="sng" spc="39" dirty="0">
                <a:uFill>
                  <a:solidFill>
                    <a:srgbClr val="000000"/>
                  </a:solidFill>
                </a:uFill>
                <a:latin typeface="Cambria"/>
                <a:cs typeface="Cambria"/>
              </a:rPr>
              <a:t>be</a:t>
            </a:r>
            <a:r>
              <a:rPr sz="1828" u="none" spc="39" dirty="0">
                <a:latin typeface="Cambria"/>
                <a:cs typeface="Cambria"/>
              </a:rPr>
              <a:t>.</a:t>
            </a:r>
            <a:r>
              <a:rPr sz="1828" u="none" spc="109" dirty="0">
                <a:latin typeface="Cambria"/>
                <a:cs typeface="Cambria"/>
              </a:rPr>
              <a:t> </a:t>
            </a:r>
            <a:r>
              <a:rPr sz="1828" u="none" dirty="0">
                <a:latin typeface="Cambria"/>
                <a:cs typeface="Cambria"/>
              </a:rPr>
              <a:t>Because</a:t>
            </a:r>
            <a:r>
              <a:rPr sz="1828" u="none" spc="105" dirty="0">
                <a:latin typeface="Cambria"/>
                <a:cs typeface="Cambria"/>
              </a:rPr>
              <a:t> </a:t>
            </a:r>
            <a:r>
              <a:rPr sz="1828" u="none" dirty="0">
                <a:latin typeface="Cambria"/>
                <a:cs typeface="Cambria"/>
              </a:rPr>
              <a:t>words</a:t>
            </a:r>
            <a:r>
              <a:rPr sz="1828" u="none" spc="109" dirty="0">
                <a:latin typeface="Cambria"/>
                <a:cs typeface="Cambria"/>
              </a:rPr>
              <a:t> </a:t>
            </a:r>
            <a:r>
              <a:rPr sz="1828" u="none" dirty="0">
                <a:latin typeface="Cambria"/>
                <a:cs typeface="Cambria"/>
              </a:rPr>
              <a:t>mean</a:t>
            </a:r>
            <a:r>
              <a:rPr sz="1828" u="none" spc="105" dirty="0">
                <a:latin typeface="Cambria"/>
                <a:cs typeface="Cambria"/>
              </a:rPr>
              <a:t> </a:t>
            </a:r>
            <a:r>
              <a:rPr sz="1828" u="none" dirty="0">
                <a:latin typeface="Cambria"/>
                <a:cs typeface="Cambria"/>
              </a:rPr>
              <a:t>different</a:t>
            </a:r>
            <a:r>
              <a:rPr sz="1828" u="none" spc="109" dirty="0">
                <a:latin typeface="Cambria"/>
                <a:cs typeface="Cambria"/>
              </a:rPr>
              <a:t> </a:t>
            </a:r>
            <a:r>
              <a:rPr sz="1828" u="none" dirty="0">
                <a:latin typeface="Cambria"/>
                <a:cs typeface="Cambria"/>
              </a:rPr>
              <a:t>things</a:t>
            </a:r>
            <a:r>
              <a:rPr sz="1828" u="none" spc="105" dirty="0">
                <a:latin typeface="Cambria"/>
                <a:cs typeface="Cambria"/>
              </a:rPr>
              <a:t> </a:t>
            </a:r>
            <a:r>
              <a:rPr sz="1828" u="none" dirty="0">
                <a:latin typeface="Cambria"/>
                <a:cs typeface="Cambria"/>
              </a:rPr>
              <a:t>in</a:t>
            </a:r>
            <a:r>
              <a:rPr sz="1828" u="none" spc="109" dirty="0">
                <a:latin typeface="Cambria"/>
                <a:cs typeface="Cambria"/>
              </a:rPr>
              <a:t> </a:t>
            </a:r>
            <a:r>
              <a:rPr sz="1828" u="none" dirty="0">
                <a:latin typeface="Cambria"/>
                <a:cs typeface="Cambria"/>
              </a:rPr>
              <a:t>different</a:t>
            </a:r>
            <a:r>
              <a:rPr sz="1828" u="none" spc="105" dirty="0">
                <a:latin typeface="Cambria"/>
                <a:cs typeface="Cambria"/>
              </a:rPr>
              <a:t> </a:t>
            </a:r>
            <a:r>
              <a:rPr sz="1828" u="none" spc="-7" dirty="0">
                <a:latin typeface="Cambria"/>
                <a:cs typeface="Cambria"/>
              </a:rPr>
              <a:t>contexts, </a:t>
            </a:r>
            <a:r>
              <a:rPr sz="1828" u="none" dirty="0">
                <a:latin typeface="Cambria"/>
                <a:cs typeface="Cambria"/>
              </a:rPr>
              <a:t>we</a:t>
            </a:r>
            <a:r>
              <a:rPr sz="1828" u="none" spc="80" dirty="0">
                <a:latin typeface="Cambria"/>
                <a:cs typeface="Cambria"/>
              </a:rPr>
              <a:t> </a:t>
            </a:r>
            <a:r>
              <a:rPr sz="1828" u="none" dirty="0">
                <a:latin typeface="Cambria"/>
                <a:cs typeface="Cambria"/>
              </a:rPr>
              <a:t>were</a:t>
            </a:r>
            <a:r>
              <a:rPr sz="1828" u="none" spc="80" dirty="0">
                <a:latin typeface="Cambria"/>
                <a:cs typeface="Cambria"/>
              </a:rPr>
              <a:t> </a:t>
            </a:r>
            <a:r>
              <a:rPr sz="1828" u="none" dirty="0">
                <a:latin typeface="Cambria"/>
                <a:cs typeface="Cambria"/>
              </a:rPr>
              <a:t>requiring</a:t>
            </a:r>
            <a:r>
              <a:rPr sz="1828" u="none" spc="80" dirty="0">
                <a:latin typeface="Cambria"/>
                <a:cs typeface="Cambria"/>
              </a:rPr>
              <a:t> </a:t>
            </a:r>
            <a:r>
              <a:rPr sz="1828" u="none" dirty="0">
                <a:latin typeface="Cambria"/>
                <a:cs typeface="Cambria"/>
              </a:rPr>
              <a:t>that</a:t>
            </a:r>
            <a:r>
              <a:rPr sz="1828" u="none" spc="84" dirty="0">
                <a:latin typeface="Cambria"/>
                <a:cs typeface="Cambria"/>
              </a:rPr>
              <a:t> </a:t>
            </a:r>
            <a:r>
              <a:rPr sz="1828" u="none" dirty="0">
                <a:latin typeface="Cambria"/>
                <a:cs typeface="Cambria"/>
              </a:rPr>
              <a:t>type</a:t>
            </a:r>
            <a:r>
              <a:rPr sz="1828" u="none" spc="80" dirty="0">
                <a:latin typeface="Cambria"/>
                <a:cs typeface="Cambria"/>
              </a:rPr>
              <a:t> </a:t>
            </a:r>
            <a:r>
              <a:rPr sz="1828" u="none" spc="-7" dirty="0">
                <a:latin typeface="Cambria"/>
                <a:cs typeface="Cambria"/>
              </a:rPr>
              <a:t>representations</a:t>
            </a:r>
            <a:r>
              <a:rPr sz="1828" u="none" spc="80" dirty="0">
                <a:latin typeface="Cambria"/>
                <a:cs typeface="Cambria"/>
              </a:rPr>
              <a:t> </a:t>
            </a:r>
            <a:r>
              <a:rPr sz="1828" u="none" dirty="0">
                <a:latin typeface="Cambria"/>
                <a:cs typeface="Cambria"/>
              </a:rPr>
              <a:t>capture</a:t>
            </a:r>
            <a:r>
              <a:rPr sz="1828" u="none" spc="84" dirty="0">
                <a:latin typeface="Cambria"/>
                <a:cs typeface="Cambria"/>
              </a:rPr>
              <a:t> </a:t>
            </a:r>
            <a:r>
              <a:rPr sz="1828" u="none" dirty="0">
                <a:latin typeface="Cambria"/>
                <a:cs typeface="Cambria"/>
              </a:rPr>
              <a:t>all</a:t>
            </a:r>
            <a:r>
              <a:rPr sz="1828" u="none" spc="80" dirty="0">
                <a:latin typeface="Cambria"/>
                <a:cs typeface="Cambria"/>
              </a:rPr>
              <a:t> </a:t>
            </a:r>
            <a:r>
              <a:rPr sz="1828" u="none" dirty="0">
                <a:latin typeface="Cambria"/>
                <a:cs typeface="Cambria"/>
              </a:rPr>
              <a:t>of</a:t>
            </a:r>
            <a:r>
              <a:rPr sz="1828" u="none" spc="80" dirty="0">
                <a:latin typeface="Cambria"/>
                <a:cs typeface="Cambria"/>
              </a:rPr>
              <a:t> </a:t>
            </a:r>
            <a:r>
              <a:rPr sz="1828" u="none" dirty="0">
                <a:latin typeface="Cambria"/>
                <a:cs typeface="Cambria"/>
              </a:rPr>
              <a:t>the</a:t>
            </a:r>
            <a:r>
              <a:rPr sz="1828" u="none" spc="84" dirty="0">
                <a:latin typeface="Cambria"/>
                <a:cs typeface="Cambria"/>
              </a:rPr>
              <a:t> </a:t>
            </a:r>
            <a:r>
              <a:rPr sz="1828" u="none" spc="-7" dirty="0">
                <a:latin typeface="Cambria"/>
                <a:cs typeface="Cambria"/>
              </a:rPr>
              <a:t>possibilities. </a:t>
            </a:r>
            <a:r>
              <a:rPr sz="1828" u="none" dirty="0">
                <a:latin typeface="Cambria"/>
                <a:cs typeface="Cambria"/>
              </a:rPr>
              <a:t>Moving</a:t>
            </a:r>
            <a:r>
              <a:rPr sz="1828" u="none" spc="95" dirty="0">
                <a:latin typeface="Cambria"/>
                <a:cs typeface="Cambria"/>
              </a:rPr>
              <a:t> </a:t>
            </a:r>
            <a:r>
              <a:rPr sz="1828" u="none" dirty="0">
                <a:latin typeface="Cambria"/>
                <a:cs typeface="Cambria"/>
              </a:rPr>
              <a:t>to</a:t>
            </a:r>
            <a:r>
              <a:rPr sz="1828" u="none" spc="98" dirty="0">
                <a:latin typeface="Cambria"/>
                <a:cs typeface="Cambria"/>
              </a:rPr>
              <a:t> </a:t>
            </a:r>
            <a:r>
              <a:rPr sz="1828" u="sng" dirty="0">
                <a:uFill>
                  <a:solidFill>
                    <a:srgbClr val="000000"/>
                  </a:solidFill>
                </a:uFill>
                <a:latin typeface="Cambria"/>
                <a:cs typeface="Cambria"/>
              </a:rPr>
              <a:t>word</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token</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vectors</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simplifies</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things,</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asking</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the</a:t>
            </a:r>
            <a:r>
              <a:rPr sz="1828" u="sng" spc="95" dirty="0">
                <a:uFill>
                  <a:solidFill>
                    <a:srgbClr val="000000"/>
                  </a:solidFill>
                </a:uFill>
                <a:latin typeface="Cambria"/>
                <a:cs typeface="Cambria"/>
              </a:rPr>
              <a:t> </a:t>
            </a:r>
            <a:r>
              <a:rPr sz="1828" u="sng" dirty="0">
                <a:uFill>
                  <a:solidFill>
                    <a:srgbClr val="000000"/>
                  </a:solidFill>
                </a:uFill>
                <a:latin typeface="Cambria"/>
                <a:cs typeface="Cambria"/>
              </a:rPr>
              <a:t>word</a:t>
            </a:r>
            <a:r>
              <a:rPr sz="1828" u="sng" spc="95" dirty="0">
                <a:uFill>
                  <a:solidFill>
                    <a:srgbClr val="000000"/>
                  </a:solidFill>
                </a:uFill>
                <a:latin typeface="Cambria"/>
                <a:cs typeface="Cambria"/>
              </a:rPr>
              <a:t> </a:t>
            </a:r>
            <a:r>
              <a:rPr sz="1828" u="sng" spc="-7" dirty="0">
                <a:uFill>
                  <a:solidFill>
                    <a:srgbClr val="000000"/>
                  </a:solidFill>
                </a:uFill>
                <a:latin typeface="Cambria"/>
                <a:cs typeface="Cambria"/>
              </a:rPr>
              <a:t>token</a:t>
            </a:r>
            <a:r>
              <a:rPr sz="1828" u="none" spc="-7" dirty="0">
                <a:latin typeface="Cambria"/>
                <a:cs typeface="Cambria"/>
              </a:rPr>
              <a:t> </a:t>
            </a:r>
            <a:r>
              <a:rPr sz="1828" u="sng" dirty="0">
                <a:uFill>
                  <a:solidFill>
                    <a:srgbClr val="000000"/>
                  </a:solidFill>
                </a:uFill>
                <a:latin typeface="Cambria"/>
                <a:cs typeface="Cambria"/>
              </a:rPr>
              <a:t>representation</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to</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capture</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only</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what</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a</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word</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means</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in</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this</a:t>
            </a:r>
            <a:r>
              <a:rPr sz="1828" u="sng" spc="84" dirty="0">
                <a:uFill>
                  <a:solidFill>
                    <a:srgbClr val="000000"/>
                  </a:solidFill>
                </a:uFill>
                <a:latin typeface="Cambria"/>
                <a:cs typeface="Cambria"/>
              </a:rPr>
              <a:t> </a:t>
            </a:r>
            <a:r>
              <a:rPr sz="1828" u="sng" dirty="0">
                <a:uFill>
                  <a:solidFill>
                    <a:srgbClr val="000000"/>
                  </a:solidFill>
                </a:uFill>
                <a:latin typeface="Cambria"/>
                <a:cs typeface="Cambria"/>
              </a:rPr>
              <a:t>context</a:t>
            </a:r>
            <a:r>
              <a:rPr sz="1828" u="none" dirty="0">
                <a:latin typeface="Cambria"/>
                <a:cs typeface="Cambria"/>
              </a:rPr>
              <a:t>.</a:t>
            </a:r>
            <a:r>
              <a:rPr sz="1828" u="none" spc="84" dirty="0">
                <a:latin typeface="Cambria"/>
                <a:cs typeface="Cambria"/>
              </a:rPr>
              <a:t> </a:t>
            </a:r>
            <a:r>
              <a:rPr sz="1828" u="none" spc="-7" dirty="0">
                <a:latin typeface="Cambria"/>
                <a:cs typeface="Cambria"/>
              </a:rPr>
              <a:t>For</a:t>
            </a:r>
            <a:r>
              <a:rPr sz="1828" u="none" spc="88" dirty="0">
                <a:latin typeface="Cambria"/>
                <a:cs typeface="Cambria"/>
              </a:rPr>
              <a:t> </a:t>
            </a:r>
            <a:r>
              <a:rPr sz="1828" u="none" spc="-18" dirty="0">
                <a:latin typeface="Cambria"/>
                <a:cs typeface="Cambria"/>
              </a:rPr>
              <a:t>the </a:t>
            </a:r>
            <a:r>
              <a:rPr sz="1828" u="none" dirty="0">
                <a:latin typeface="Cambria"/>
                <a:cs typeface="Cambria"/>
              </a:rPr>
              <a:t>same</a:t>
            </a:r>
            <a:r>
              <a:rPr sz="1828" u="none" spc="95" dirty="0">
                <a:latin typeface="Cambria"/>
                <a:cs typeface="Cambria"/>
              </a:rPr>
              <a:t> </a:t>
            </a:r>
            <a:r>
              <a:rPr sz="1828" u="none" dirty="0">
                <a:latin typeface="Cambria"/>
                <a:cs typeface="Cambria"/>
              </a:rPr>
              <a:t>reasons</a:t>
            </a:r>
            <a:r>
              <a:rPr sz="1828" u="none" spc="98" dirty="0">
                <a:latin typeface="Cambria"/>
                <a:cs typeface="Cambria"/>
              </a:rPr>
              <a:t> </a:t>
            </a:r>
            <a:r>
              <a:rPr sz="1828" u="none" dirty="0">
                <a:latin typeface="Cambria"/>
                <a:cs typeface="Cambria"/>
              </a:rPr>
              <a:t>that</a:t>
            </a:r>
            <a:r>
              <a:rPr sz="1828" u="none" spc="98" dirty="0">
                <a:latin typeface="Cambria"/>
                <a:cs typeface="Cambria"/>
              </a:rPr>
              <a:t> </a:t>
            </a:r>
            <a:r>
              <a:rPr sz="1828" u="none" dirty="0">
                <a:latin typeface="Cambria"/>
                <a:cs typeface="Cambria"/>
              </a:rPr>
              <a:t>the</a:t>
            </a:r>
            <a:r>
              <a:rPr sz="1828" u="none" spc="98" dirty="0">
                <a:latin typeface="Cambria"/>
                <a:cs typeface="Cambria"/>
              </a:rPr>
              <a:t> </a:t>
            </a:r>
            <a:r>
              <a:rPr sz="1828" u="none" dirty="0">
                <a:latin typeface="Cambria"/>
                <a:cs typeface="Cambria"/>
              </a:rPr>
              <a:t>collection</a:t>
            </a:r>
            <a:r>
              <a:rPr sz="1828" u="none" spc="95" dirty="0">
                <a:latin typeface="Cambria"/>
                <a:cs typeface="Cambria"/>
              </a:rPr>
              <a:t> </a:t>
            </a:r>
            <a:r>
              <a:rPr sz="1828" u="none" dirty="0">
                <a:latin typeface="Cambria"/>
                <a:cs typeface="Cambria"/>
              </a:rPr>
              <a:t>of</a:t>
            </a:r>
            <a:r>
              <a:rPr sz="1828" u="none" spc="98" dirty="0">
                <a:latin typeface="Cambria"/>
                <a:cs typeface="Cambria"/>
              </a:rPr>
              <a:t> </a:t>
            </a:r>
            <a:r>
              <a:rPr sz="1828" u="none" dirty="0">
                <a:latin typeface="Cambria"/>
                <a:cs typeface="Cambria"/>
              </a:rPr>
              <a:t>contexts</a:t>
            </a:r>
            <a:r>
              <a:rPr sz="1828" u="none" spc="98" dirty="0">
                <a:latin typeface="Cambria"/>
                <a:cs typeface="Cambria"/>
              </a:rPr>
              <a:t> </a:t>
            </a:r>
            <a:r>
              <a:rPr sz="1828" u="none" dirty="0">
                <a:latin typeface="Cambria"/>
                <a:cs typeface="Cambria"/>
              </a:rPr>
              <a:t>a</a:t>
            </a:r>
            <a:r>
              <a:rPr sz="1828" u="none" spc="98" dirty="0">
                <a:latin typeface="Cambria"/>
                <a:cs typeface="Cambria"/>
              </a:rPr>
              <a:t> </a:t>
            </a:r>
            <a:r>
              <a:rPr sz="1828" u="none" dirty="0">
                <a:latin typeface="Cambria"/>
                <a:cs typeface="Cambria"/>
              </a:rPr>
              <a:t>word</a:t>
            </a:r>
            <a:r>
              <a:rPr sz="1828" u="none" spc="98" dirty="0">
                <a:latin typeface="Cambria"/>
                <a:cs typeface="Cambria"/>
              </a:rPr>
              <a:t> </a:t>
            </a:r>
            <a:r>
              <a:rPr sz="1828" u="none" dirty="0">
                <a:latin typeface="Cambria"/>
                <a:cs typeface="Cambria"/>
              </a:rPr>
              <a:t>type</a:t>
            </a:r>
            <a:r>
              <a:rPr sz="1828" u="none" spc="95" dirty="0">
                <a:latin typeface="Cambria"/>
                <a:cs typeface="Cambria"/>
              </a:rPr>
              <a:t> </a:t>
            </a:r>
            <a:r>
              <a:rPr sz="1828" u="none" dirty="0">
                <a:latin typeface="Cambria"/>
                <a:cs typeface="Cambria"/>
              </a:rPr>
              <a:t>is</a:t>
            </a:r>
            <a:r>
              <a:rPr sz="1828" u="none" spc="98" dirty="0">
                <a:latin typeface="Cambria"/>
                <a:cs typeface="Cambria"/>
              </a:rPr>
              <a:t> </a:t>
            </a:r>
            <a:r>
              <a:rPr sz="1828" u="none" dirty="0">
                <a:latin typeface="Cambria"/>
                <a:cs typeface="Cambria"/>
              </a:rPr>
              <a:t>found</a:t>
            </a:r>
            <a:r>
              <a:rPr sz="1828" u="none" spc="98" dirty="0">
                <a:latin typeface="Cambria"/>
                <a:cs typeface="Cambria"/>
              </a:rPr>
              <a:t> </a:t>
            </a:r>
            <a:r>
              <a:rPr sz="1828" u="none" spc="-18" dirty="0">
                <a:latin typeface="Cambria"/>
                <a:cs typeface="Cambria"/>
              </a:rPr>
              <a:t>in </a:t>
            </a:r>
            <a:r>
              <a:rPr sz="1828" u="none" dirty="0">
                <a:latin typeface="Cambria"/>
                <a:cs typeface="Cambria"/>
              </a:rPr>
              <a:t>provide</a:t>
            </a:r>
            <a:r>
              <a:rPr sz="1828" u="none" spc="109" dirty="0">
                <a:latin typeface="Cambria"/>
                <a:cs typeface="Cambria"/>
              </a:rPr>
              <a:t> </a:t>
            </a:r>
            <a:r>
              <a:rPr sz="1828" u="none" dirty="0">
                <a:latin typeface="Cambria"/>
                <a:cs typeface="Cambria"/>
              </a:rPr>
              <a:t>clues</a:t>
            </a:r>
            <a:r>
              <a:rPr sz="1828" u="none" spc="109" dirty="0">
                <a:latin typeface="Cambria"/>
                <a:cs typeface="Cambria"/>
              </a:rPr>
              <a:t> </a:t>
            </a:r>
            <a:r>
              <a:rPr sz="1828" u="none" dirty="0">
                <a:latin typeface="Cambria"/>
                <a:cs typeface="Cambria"/>
              </a:rPr>
              <a:t>about</a:t>
            </a:r>
            <a:r>
              <a:rPr sz="1828" u="none" spc="112" dirty="0">
                <a:latin typeface="Cambria"/>
                <a:cs typeface="Cambria"/>
              </a:rPr>
              <a:t> </a:t>
            </a:r>
            <a:r>
              <a:rPr sz="1828" u="none" dirty="0">
                <a:latin typeface="Cambria"/>
                <a:cs typeface="Cambria"/>
              </a:rPr>
              <a:t>its</a:t>
            </a:r>
            <a:r>
              <a:rPr sz="1828" u="none" spc="109" dirty="0">
                <a:latin typeface="Cambria"/>
                <a:cs typeface="Cambria"/>
              </a:rPr>
              <a:t> </a:t>
            </a:r>
            <a:r>
              <a:rPr sz="1828" u="none" dirty="0">
                <a:latin typeface="Cambria"/>
                <a:cs typeface="Cambria"/>
              </a:rPr>
              <a:t>meaning(s),</a:t>
            </a:r>
            <a:r>
              <a:rPr sz="1828" u="none" spc="112" dirty="0">
                <a:latin typeface="Cambria"/>
                <a:cs typeface="Cambria"/>
              </a:rPr>
              <a:t> </a:t>
            </a:r>
            <a:r>
              <a:rPr sz="1828" u="none" dirty="0">
                <a:latin typeface="Cambria"/>
                <a:cs typeface="Cambria"/>
              </a:rPr>
              <a:t>a</a:t>
            </a:r>
            <a:r>
              <a:rPr sz="1828" u="none" spc="109" dirty="0">
                <a:latin typeface="Cambria"/>
                <a:cs typeface="Cambria"/>
              </a:rPr>
              <a:t> </a:t>
            </a:r>
            <a:r>
              <a:rPr sz="1828" u="none" dirty="0">
                <a:latin typeface="Cambria"/>
                <a:cs typeface="Cambria"/>
              </a:rPr>
              <a:t>particular</a:t>
            </a:r>
            <a:r>
              <a:rPr sz="1828" u="none" spc="109" dirty="0">
                <a:latin typeface="Cambria"/>
                <a:cs typeface="Cambria"/>
              </a:rPr>
              <a:t> </a:t>
            </a:r>
            <a:r>
              <a:rPr sz="1828" u="none" dirty="0">
                <a:latin typeface="Cambria"/>
                <a:cs typeface="Cambria"/>
              </a:rPr>
              <a:t>token’s</a:t>
            </a:r>
            <a:r>
              <a:rPr sz="1828" u="none" spc="112" dirty="0">
                <a:latin typeface="Cambria"/>
                <a:cs typeface="Cambria"/>
              </a:rPr>
              <a:t> </a:t>
            </a:r>
            <a:r>
              <a:rPr sz="1828" u="none" dirty="0">
                <a:latin typeface="Cambria"/>
                <a:cs typeface="Cambria"/>
              </a:rPr>
              <a:t>context</a:t>
            </a:r>
            <a:r>
              <a:rPr sz="1828" u="none" spc="109" dirty="0">
                <a:latin typeface="Cambria"/>
                <a:cs typeface="Cambria"/>
              </a:rPr>
              <a:t> </a:t>
            </a:r>
            <a:r>
              <a:rPr sz="1828" u="none" spc="-7" dirty="0">
                <a:latin typeface="Cambria"/>
                <a:cs typeface="Cambria"/>
              </a:rPr>
              <a:t>provides </a:t>
            </a:r>
            <a:r>
              <a:rPr sz="1828" u="none" dirty="0">
                <a:latin typeface="Cambria"/>
                <a:cs typeface="Cambria"/>
              </a:rPr>
              <a:t>clues</a:t>
            </a:r>
            <a:r>
              <a:rPr sz="1828" u="none" spc="80" dirty="0">
                <a:latin typeface="Cambria"/>
                <a:cs typeface="Cambria"/>
              </a:rPr>
              <a:t> </a:t>
            </a:r>
            <a:r>
              <a:rPr sz="1828" u="none" dirty="0">
                <a:latin typeface="Cambria"/>
                <a:cs typeface="Cambria"/>
              </a:rPr>
              <a:t>about</a:t>
            </a:r>
            <a:r>
              <a:rPr sz="1828" u="none" spc="80" dirty="0">
                <a:latin typeface="Cambria"/>
                <a:cs typeface="Cambria"/>
              </a:rPr>
              <a:t> </a:t>
            </a:r>
            <a:r>
              <a:rPr sz="1828" u="none" dirty="0">
                <a:latin typeface="Cambria"/>
                <a:cs typeface="Cambria"/>
              </a:rPr>
              <a:t>its</a:t>
            </a:r>
            <a:r>
              <a:rPr sz="1828" u="none" spc="80" dirty="0">
                <a:latin typeface="Cambria"/>
                <a:cs typeface="Cambria"/>
              </a:rPr>
              <a:t> </a:t>
            </a:r>
            <a:r>
              <a:rPr sz="1828" u="none" dirty="0">
                <a:latin typeface="Cambria"/>
                <a:cs typeface="Cambria"/>
              </a:rPr>
              <a:t>specific</a:t>
            </a:r>
            <a:r>
              <a:rPr sz="1828" u="none" spc="80" dirty="0">
                <a:latin typeface="Cambria"/>
                <a:cs typeface="Cambria"/>
              </a:rPr>
              <a:t> </a:t>
            </a:r>
            <a:r>
              <a:rPr sz="1828" u="none" spc="-7" dirty="0">
                <a:latin typeface="Cambria"/>
                <a:cs typeface="Cambria"/>
              </a:rPr>
              <a:t>meaning.”</a:t>
            </a:r>
            <a:endParaRPr sz="1828">
              <a:latin typeface="Cambria"/>
              <a:cs typeface="Cambria"/>
            </a:endParaRPr>
          </a:p>
        </p:txBody>
      </p:sp>
      <p:sp>
        <p:nvSpPr>
          <p:cNvPr id="3" name="object 3"/>
          <p:cNvSpPr txBox="1">
            <a:spLocks noGrp="1"/>
          </p:cNvSpPr>
          <p:nvPr>
            <p:ph type="title"/>
          </p:nvPr>
        </p:nvSpPr>
        <p:spPr>
          <a:xfrm>
            <a:off x="2336602" y="1401961"/>
            <a:ext cx="7739807" cy="700088"/>
          </a:xfrm>
          <a:prstGeom prst="rect">
            <a:avLst/>
          </a:prstGeom>
        </p:spPr>
        <p:txBody>
          <a:bodyPr vert="horz" wrap="square" lIns="0" tIns="8930" rIns="0" bIns="0" rtlCol="0">
            <a:spAutoFit/>
          </a:bodyPr>
          <a:lstStyle/>
          <a:p>
            <a:pPr marL="8929">
              <a:lnSpc>
                <a:spcPts val="2686"/>
              </a:lnSpc>
              <a:spcBef>
                <a:spcPts val="70"/>
              </a:spcBef>
            </a:pPr>
            <a:r>
              <a:rPr sz="2250" dirty="0"/>
              <a:t>Noah</a:t>
            </a:r>
            <a:r>
              <a:rPr sz="2250" spc="32" dirty="0"/>
              <a:t> </a:t>
            </a:r>
            <a:r>
              <a:rPr sz="2250" dirty="0"/>
              <a:t>Smith.</a:t>
            </a:r>
            <a:r>
              <a:rPr sz="2250" spc="32" dirty="0"/>
              <a:t> </a:t>
            </a:r>
            <a:r>
              <a:rPr sz="2250" spc="-7" dirty="0"/>
              <a:t>2019.</a:t>
            </a:r>
            <a:endParaRPr sz="2250"/>
          </a:p>
          <a:p>
            <a:pPr marL="8929">
              <a:lnSpc>
                <a:spcPts val="2686"/>
              </a:lnSpc>
            </a:pPr>
            <a:r>
              <a:rPr sz="2250" dirty="0"/>
              <a:t>Contextual</a:t>
            </a:r>
            <a:r>
              <a:rPr sz="2250" spc="-7" dirty="0"/>
              <a:t> </a:t>
            </a:r>
            <a:r>
              <a:rPr sz="2250" dirty="0"/>
              <a:t>Word</a:t>
            </a:r>
            <a:r>
              <a:rPr sz="2250" spc="-4" dirty="0"/>
              <a:t> </a:t>
            </a:r>
            <a:r>
              <a:rPr sz="2250" dirty="0"/>
              <a:t>Representations:</a:t>
            </a:r>
            <a:r>
              <a:rPr sz="2250" spc="-4" dirty="0"/>
              <a:t> </a:t>
            </a:r>
            <a:r>
              <a:rPr sz="2250" dirty="0"/>
              <a:t>A</a:t>
            </a:r>
            <a:r>
              <a:rPr sz="2250" spc="-4" dirty="0"/>
              <a:t> </a:t>
            </a:r>
            <a:r>
              <a:rPr sz="2250" dirty="0"/>
              <a:t>Contextual</a:t>
            </a:r>
            <a:r>
              <a:rPr sz="2250" spc="-4" dirty="0"/>
              <a:t> </a:t>
            </a:r>
            <a:r>
              <a:rPr sz="2250" spc="-7" dirty="0"/>
              <a:t>Introduction</a:t>
            </a:r>
            <a:endParaRPr sz="225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512278">
              <a:lnSpc>
                <a:spcPct val="100000"/>
              </a:lnSpc>
              <a:spcBef>
                <a:spcPts val="70"/>
              </a:spcBef>
            </a:pPr>
            <a:r>
              <a:rPr spc="-165" dirty="0"/>
              <a:t>Co</a:t>
            </a:r>
            <a:r>
              <a:rPr spc="-593" dirty="0"/>
              <a:t>V</a:t>
            </a:r>
            <a:r>
              <a:rPr spc="-165" dirty="0"/>
              <a:t>e</a:t>
            </a:r>
          </a:p>
        </p:txBody>
      </p:sp>
      <p:sp>
        <p:nvSpPr>
          <p:cNvPr id="3" name="object 3"/>
          <p:cNvSpPr txBox="1"/>
          <p:nvPr/>
        </p:nvSpPr>
        <p:spPr>
          <a:xfrm>
            <a:off x="2211586" y="1580555"/>
            <a:ext cx="7187059" cy="1376511"/>
          </a:xfrm>
          <a:prstGeom prst="rect">
            <a:avLst/>
          </a:prstGeom>
        </p:spPr>
        <p:txBody>
          <a:bodyPr vert="horz" wrap="square" lIns="0" tIns="8930" rIns="0" bIns="0" rtlCol="0">
            <a:spAutoFit/>
          </a:bodyPr>
          <a:lstStyle/>
          <a:p>
            <a:pPr marL="8929">
              <a:lnSpc>
                <a:spcPct val="100000"/>
              </a:lnSpc>
              <a:spcBef>
                <a:spcPts val="70"/>
              </a:spcBef>
            </a:pPr>
            <a:r>
              <a:rPr sz="1969" b="1" dirty="0">
                <a:latin typeface="Georgia"/>
                <a:cs typeface="Georgia"/>
              </a:rPr>
              <a:t>Key</a:t>
            </a:r>
            <a:r>
              <a:rPr sz="1969" b="1" spc="-28" dirty="0">
                <a:latin typeface="Georgia"/>
                <a:cs typeface="Georgia"/>
              </a:rPr>
              <a:t> </a:t>
            </a:r>
            <a:r>
              <a:rPr sz="1969" b="1" spc="-14" dirty="0">
                <a:latin typeface="Georgia"/>
                <a:cs typeface="Georgia"/>
              </a:rPr>
              <a:t>idea</a:t>
            </a:r>
            <a:r>
              <a:rPr sz="1969" spc="-14" dirty="0">
                <a:latin typeface="Georgia"/>
                <a:cs typeface="Georgia"/>
              </a:rPr>
              <a:t>:</a:t>
            </a:r>
            <a:endParaRPr sz="1969">
              <a:latin typeface="Georgia"/>
              <a:cs typeface="Georgia"/>
            </a:endParaRPr>
          </a:p>
          <a:p>
            <a:pPr marL="285740" marR="3572" indent="-276810">
              <a:lnSpc>
                <a:spcPts val="2250"/>
              </a:lnSpc>
              <a:spcBef>
                <a:spcPts val="759"/>
              </a:spcBef>
              <a:buSzPct val="144642"/>
              <a:buChar char="•"/>
              <a:tabLst>
                <a:tab pos="285740" algn="l"/>
              </a:tabLst>
            </a:pPr>
            <a:r>
              <a:rPr sz="1969" dirty="0">
                <a:latin typeface="Georgia"/>
                <a:cs typeface="Georgia"/>
              </a:rPr>
              <a:t>Train</a:t>
            </a:r>
            <a:r>
              <a:rPr sz="1969" spc="-35" dirty="0">
                <a:latin typeface="Georgia"/>
                <a:cs typeface="Georgia"/>
              </a:rPr>
              <a:t> </a:t>
            </a:r>
            <a:r>
              <a:rPr sz="1969" dirty="0">
                <a:latin typeface="Georgia"/>
                <a:cs typeface="Georgia"/>
              </a:rPr>
              <a:t>a</a:t>
            </a:r>
            <a:r>
              <a:rPr sz="1969" spc="-28" dirty="0">
                <a:latin typeface="Georgia"/>
                <a:cs typeface="Georgia"/>
              </a:rPr>
              <a:t> </a:t>
            </a:r>
            <a:r>
              <a:rPr sz="1969" dirty="0">
                <a:latin typeface="Georgia"/>
                <a:cs typeface="Georgia"/>
              </a:rPr>
              <a:t>standard</a:t>
            </a:r>
            <a:r>
              <a:rPr sz="1969" spc="-32" dirty="0">
                <a:latin typeface="Georgia"/>
                <a:cs typeface="Georgia"/>
              </a:rPr>
              <a:t> </a:t>
            </a:r>
            <a:r>
              <a:rPr sz="1969" spc="-7" dirty="0">
                <a:latin typeface="Georgia"/>
                <a:cs typeface="Georgia"/>
              </a:rPr>
              <a:t>sequence-</a:t>
            </a:r>
            <a:r>
              <a:rPr sz="1969" spc="-14" dirty="0">
                <a:latin typeface="Georgia"/>
                <a:cs typeface="Georgia"/>
              </a:rPr>
              <a:t>to-</a:t>
            </a:r>
            <a:r>
              <a:rPr sz="1969" dirty="0">
                <a:latin typeface="Georgia"/>
                <a:cs typeface="Georgia"/>
              </a:rPr>
              <a:t>sequence</a:t>
            </a:r>
            <a:r>
              <a:rPr sz="1969" spc="-32" dirty="0">
                <a:latin typeface="Georgia"/>
                <a:cs typeface="Georgia"/>
              </a:rPr>
              <a:t> </a:t>
            </a:r>
            <a:r>
              <a:rPr sz="1969" dirty="0">
                <a:latin typeface="Georgia"/>
                <a:cs typeface="Georgia"/>
              </a:rPr>
              <a:t>(with</a:t>
            </a:r>
            <a:r>
              <a:rPr sz="1969" spc="-32" dirty="0">
                <a:latin typeface="Georgia"/>
                <a:cs typeface="Georgia"/>
              </a:rPr>
              <a:t> </a:t>
            </a:r>
            <a:r>
              <a:rPr sz="1969" dirty="0">
                <a:latin typeface="Georgia"/>
                <a:cs typeface="Georgia"/>
              </a:rPr>
              <a:t>attention)</a:t>
            </a:r>
            <a:r>
              <a:rPr sz="1969" spc="-28" dirty="0">
                <a:latin typeface="Georgia"/>
                <a:cs typeface="Georgia"/>
              </a:rPr>
              <a:t> </a:t>
            </a:r>
            <a:r>
              <a:rPr sz="1969" spc="-7" dirty="0">
                <a:latin typeface="Georgia"/>
                <a:cs typeface="Georgia"/>
              </a:rPr>
              <a:t>model </a:t>
            </a:r>
            <a:r>
              <a:rPr sz="1969" dirty="0">
                <a:latin typeface="Georgia"/>
                <a:cs typeface="Georgia"/>
              </a:rPr>
              <a:t>for</a:t>
            </a:r>
            <a:r>
              <a:rPr sz="1969" spc="-11" dirty="0">
                <a:latin typeface="Georgia"/>
                <a:cs typeface="Georgia"/>
              </a:rPr>
              <a:t> </a:t>
            </a:r>
            <a:r>
              <a:rPr sz="1969" spc="-7" dirty="0">
                <a:latin typeface="Georgia"/>
                <a:cs typeface="Georgia"/>
              </a:rPr>
              <a:t>English-to-</a:t>
            </a:r>
            <a:r>
              <a:rPr sz="1969" dirty="0">
                <a:latin typeface="Georgia"/>
                <a:cs typeface="Georgia"/>
              </a:rPr>
              <a:t>German</a:t>
            </a:r>
            <a:r>
              <a:rPr sz="1969" spc="-14" dirty="0">
                <a:latin typeface="Georgia"/>
                <a:cs typeface="Georgia"/>
              </a:rPr>
              <a:t> </a:t>
            </a:r>
            <a:r>
              <a:rPr sz="1969" spc="-7" dirty="0">
                <a:latin typeface="Georgia"/>
                <a:cs typeface="Georgia"/>
              </a:rPr>
              <a:t>translation.</a:t>
            </a:r>
            <a:endParaRPr sz="1969">
              <a:latin typeface="Georgia"/>
              <a:cs typeface="Georgia"/>
            </a:endParaRPr>
          </a:p>
          <a:p>
            <a:pPr marL="285293" indent="-276364">
              <a:lnSpc>
                <a:spcPct val="100000"/>
              </a:lnSpc>
              <a:spcBef>
                <a:spcPts val="534"/>
              </a:spcBef>
              <a:buSzPct val="144642"/>
              <a:buChar char="•"/>
              <a:tabLst>
                <a:tab pos="285293" algn="l"/>
              </a:tabLst>
            </a:pPr>
            <a:r>
              <a:rPr sz="1969" dirty="0">
                <a:latin typeface="Georgia"/>
                <a:cs typeface="Georgia"/>
              </a:rPr>
              <a:t>Take</a:t>
            </a:r>
            <a:r>
              <a:rPr sz="1969" spc="-35" dirty="0">
                <a:latin typeface="Georgia"/>
                <a:cs typeface="Georgia"/>
              </a:rPr>
              <a:t> </a:t>
            </a:r>
            <a:r>
              <a:rPr sz="1969" dirty="0">
                <a:latin typeface="Georgia"/>
                <a:cs typeface="Georgia"/>
              </a:rPr>
              <a:t>the</a:t>
            </a:r>
            <a:r>
              <a:rPr sz="1969" spc="-35" dirty="0">
                <a:latin typeface="Georgia"/>
                <a:cs typeface="Georgia"/>
              </a:rPr>
              <a:t> </a:t>
            </a:r>
            <a:r>
              <a:rPr sz="1969" dirty="0">
                <a:latin typeface="Georgia"/>
                <a:cs typeface="Georgia"/>
              </a:rPr>
              <a:t>encoder</a:t>
            </a:r>
            <a:r>
              <a:rPr sz="1969" spc="-35" dirty="0">
                <a:latin typeface="Georgia"/>
                <a:cs typeface="Georgia"/>
              </a:rPr>
              <a:t> </a:t>
            </a:r>
            <a:r>
              <a:rPr sz="1969" dirty="0">
                <a:latin typeface="Georgia"/>
                <a:cs typeface="Georgia"/>
              </a:rPr>
              <a:t>directly</a:t>
            </a:r>
            <a:r>
              <a:rPr sz="1969" spc="-32" dirty="0">
                <a:latin typeface="Georgia"/>
                <a:cs typeface="Georgia"/>
              </a:rPr>
              <a:t> </a:t>
            </a:r>
            <a:r>
              <a:rPr sz="1969" dirty="0">
                <a:latin typeface="Georgia"/>
                <a:cs typeface="Georgia"/>
              </a:rPr>
              <a:t>as</a:t>
            </a:r>
            <a:r>
              <a:rPr sz="1969" spc="-39" dirty="0">
                <a:latin typeface="Georgia"/>
                <a:cs typeface="Georgia"/>
              </a:rPr>
              <a:t> </a:t>
            </a:r>
            <a:r>
              <a:rPr sz="1969" dirty="0">
                <a:latin typeface="Georgia"/>
                <a:cs typeface="Georgia"/>
              </a:rPr>
              <a:t>contextualized</a:t>
            </a:r>
            <a:r>
              <a:rPr sz="1969" spc="-39" dirty="0">
                <a:latin typeface="Georgia"/>
                <a:cs typeface="Georgia"/>
              </a:rPr>
              <a:t> </a:t>
            </a:r>
            <a:r>
              <a:rPr sz="1969" dirty="0">
                <a:latin typeface="Georgia"/>
                <a:cs typeface="Georgia"/>
              </a:rPr>
              <a:t>word</a:t>
            </a:r>
            <a:r>
              <a:rPr sz="1969" spc="-35" dirty="0">
                <a:latin typeface="Georgia"/>
                <a:cs typeface="Georgia"/>
              </a:rPr>
              <a:t> </a:t>
            </a:r>
            <a:r>
              <a:rPr sz="1969" spc="-7" dirty="0">
                <a:latin typeface="Georgia"/>
                <a:cs typeface="Georgia"/>
              </a:rPr>
              <a:t>embeddings.</a:t>
            </a:r>
            <a:endParaRPr sz="1969">
              <a:latin typeface="Georgia"/>
              <a:cs typeface="Georgia"/>
            </a:endParaRPr>
          </a:p>
        </p:txBody>
      </p:sp>
      <p:pic>
        <p:nvPicPr>
          <p:cNvPr id="4" name="object 4"/>
          <p:cNvPicPr/>
          <p:nvPr/>
        </p:nvPicPr>
        <p:blipFill>
          <a:blip r:embed="rId2" cstate="print"/>
          <a:stretch>
            <a:fillRect/>
          </a:stretch>
        </p:blipFill>
        <p:spPr>
          <a:xfrm>
            <a:off x="2927842" y="3690171"/>
            <a:ext cx="6869865" cy="189001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5594" y="401836"/>
            <a:ext cx="6500366" cy="532209"/>
          </a:xfrm>
          <a:prstGeom prst="rect">
            <a:avLst/>
          </a:prstGeom>
        </p:spPr>
        <p:txBody>
          <a:bodyPr vert="horz" wrap="square" lIns="0" tIns="8930" rIns="0" bIns="0" rtlCol="0">
            <a:spAutoFit/>
          </a:bodyPr>
          <a:lstStyle/>
          <a:p>
            <a:pPr marL="8929">
              <a:lnSpc>
                <a:spcPct val="100000"/>
              </a:lnSpc>
              <a:spcBef>
                <a:spcPts val="70"/>
              </a:spcBef>
            </a:pPr>
            <a:r>
              <a:rPr sz="3375" spc="-278" dirty="0"/>
              <a:t>Sequence-</a:t>
            </a:r>
            <a:r>
              <a:rPr sz="3375" dirty="0"/>
              <a:t>to-</a:t>
            </a:r>
            <a:r>
              <a:rPr sz="3375" spc="-264" dirty="0"/>
              <a:t>sequence</a:t>
            </a:r>
            <a:r>
              <a:rPr sz="3375" spc="25" dirty="0"/>
              <a:t> </a:t>
            </a:r>
            <a:r>
              <a:rPr sz="3375" dirty="0"/>
              <a:t>with</a:t>
            </a:r>
            <a:r>
              <a:rPr sz="3375" spc="25" dirty="0"/>
              <a:t> </a:t>
            </a:r>
            <a:r>
              <a:rPr sz="3375" spc="-25" dirty="0"/>
              <a:t>attention</a:t>
            </a:r>
            <a:endParaRPr sz="3375"/>
          </a:p>
        </p:txBody>
      </p:sp>
      <p:grpSp>
        <p:nvGrpSpPr>
          <p:cNvPr id="3" name="object 3"/>
          <p:cNvGrpSpPr/>
          <p:nvPr/>
        </p:nvGrpSpPr>
        <p:grpSpPr>
          <a:xfrm>
            <a:off x="2016554" y="1414169"/>
            <a:ext cx="7938492" cy="5066258"/>
            <a:chOff x="700521" y="2011262"/>
            <a:chExt cx="11290300" cy="7205345"/>
          </a:xfrm>
        </p:grpSpPr>
        <p:pic>
          <p:nvPicPr>
            <p:cNvPr id="4" name="object 4"/>
            <p:cNvPicPr/>
            <p:nvPr/>
          </p:nvPicPr>
          <p:blipFill>
            <a:blip r:embed="rId2" cstate="print"/>
            <a:stretch>
              <a:fillRect/>
            </a:stretch>
          </p:blipFill>
          <p:spPr>
            <a:xfrm>
              <a:off x="700521" y="2011262"/>
              <a:ext cx="11290300" cy="7023100"/>
            </a:xfrm>
            <a:prstGeom prst="rect">
              <a:avLst/>
            </a:prstGeom>
          </p:spPr>
        </p:pic>
        <p:sp>
          <p:nvSpPr>
            <p:cNvPr id="5" name="object 5"/>
            <p:cNvSpPr/>
            <p:nvPr/>
          </p:nvSpPr>
          <p:spPr>
            <a:xfrm>
              <a:off x="909090" y="8559506"/>
              <a:ext cx="582930" cy="657225"/>
            </a:xfrm>
            <a:custGeom>
              <a:avLst/>
              <a:gdLst/>
              <a:ahLst/>
              <a:cxnLst/>
              <a:rect l="l" t="t" r="r" b="b"/>
              <a:pathLst>
                <a:path w="582930" h="657225">
                  <a:moveTo>
                    <a:pt x="582755" y="0"/>
                  </a:moveTo>
                  <a:lnTo>
                    <a:pt x="0" y="0"/>
                  </a:lnTo>
                  <a:lnTo>
                    <a:pt x="0" y="656778"/>
                  </a:lnTo>
                  <a:lnTo>
                    <a:pt x="582755" y="656778"/>
                  </a:lnTo>
                  <a:lnTo>
                    <a:pt x="582755" y="0"/>
                  </a:lnTo>
                  <a:close/>
                </a:path>
              </a:pathLst>
            </a:custGeom>
            <a:solidFill>
              <a:srgbClr val="FFFFFF"/>
            </a:solidFill>
          </p:spPr>
          <p:txBody>
            <a:bodyPr wrap="square" lIns="0" tIns="0" rIns="0" bIns="0" rtlCol="0"/>
            <a:lstStyle/>
            <a:p>
              <a:endParaRPr/>
            </a:p>
          </p:txBody>
        </p:sp>
      </p:grpSp>
      <p:sp>
        <p:nvSpPr>
          <p:cNvPr id="6" name="object 6"/>
          <p:cNvSpPr txBox="1"/>
          <p:nvPr/>
        </p:nvSpPr>
        <p:spPr>
          <a:xfrm>
            <a:off x="8185547" y="6393656"/>
            <a:ext cx="2363688" cy="275034"/>
          </a:xfrm>
          <a:prstGeom prst="rect">
            <a:avLst/>
          </a:prstGeom>
        </p:spPr>
        <p:txBody>
          <a:bodyPr vert="horz" wrap="square" lIns="0" tIns="8930" rIns="0" bIns="0" rtlCol="0">
            <a:spAutoFit/>
          </a:bodyPr>
          <a:lstStyle/>
          <a:p>
            <a:pPr marL="8929">
              <a:lnSpc>
                <a:spcPct val="100000"/>
              </a:lnSpc>
              <a:spcBef>
                <a:spcPts val="70"/>
              </a:spcBef>
            </a:pPr>
            <a:r>
              <a:rPr sz="1687" i="1" spc="-14" dirty="0">
                <a:latin typeface="Arial"/>
                <a:cs typeface="Arial"/>
              </a:rPr>
              <a:t>(slide</a:t>
            </a:r>
            <a:r>
              <a:rPr sz="1687" i="1" spc="4" dirty="0">
                <a:latin typeface="Arial"/>
                <a:cs typeface="Arial"/>
              </a:rPr>
              <a:t> </a:t>
            </a:r>
            <a:r>
              <a:rPr sz="1687" i="1" dirty="0">
                <a:latin typeface="Arial"/>
                <a:cs typeface="Arial"/>
              </a:rPr>
              <a:t>credit:</a:t>
            </a:r>
            <a:r>
              <a:rPr sz="1687" i="1" spc="4" dirty="0">
                <a:latin typeface="Arial"/>
                <a:cs typeface="Arial"/>
              </a:rPr>
              <a:t> </a:t>
            </a:r>
            <a:r>
              <a:rPr sz="1687" i="1" dirty="0">
                <a:latin typeface="Arial"/>
                <a:cs typeface="Arial"/>
              </a:rPr>
              <a:t>Abigail</a:t>
            </a:r>
            <a:r>
              <a:rPr sz="1687" i="1" spc="4" dirty="0">
                <a:latin typeface="Arial"/>
                <a:cs typeface="Arial"/>
              </a:rPr>
              <a:t> </a:t>
            </a:r>
            <a:r>
              <a:rPr sz="1687" i="1" spc="-32" dirty="0">
                <a:latin typeface="Arial"/>
                <a:cs typeface="Arial"/>
              </a:rPr>
              <a:t>See)</a:t>
            </a:r>
            <a:endParaRPr sz="1687">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8930" rIns="0" bIns="0" rtlCol="0">
            <a:spAutoFit/>
          </a:bodyPr>
          <a:lstStyle/>
          <a:p>
            <a:pPr marL="2026967">
              <a:lnSpc>
                <a:spcPct val="100000"/>
              </a:lnSpc>
              <a:spcBef>
                <a:spcPts val="70"/>
              </a:spcBef>
            </a:pPr>
            <a:r>
              <a:rPr spc="-165" dirty="0"/>
              <a:t>Co</a:t>
            </a:r>
            <a:r>
              <a:rPr spc="-593" dirty="0"/>
              <a:t>V</a:t>
            </a:r>
            <a:r>
              <a:rPr spc="-165" dirty="0"/>
              <a:t>e</a:t>
            </a:r>
          </a:p>
        </p:txBody>
      </p:sp>
      <p:pic>
        <p:nvPicPr>
          <p:cNvPr id="3" name="object 3"/>
          <p:cNvPicPr/>
          <p:nvPr/>
        </p:nvPicPr>
        <p:blipFill>
          <a:blip r:embed="rId2" cstate="print"/>
          <a:stretch>
            <a:fillRect/>
          </a:stretch>
        </p:blipFill>
        <p:spPr>
          <a:xfrm>
            <a:off x="2733711" y="1811184"/>
            <a:ext cx="7306466" cy="3235633"/>
          </a:xfrm>
          <a:prstGeom prst="rect">
            <a:avLst/>
          </a:prstGeom>
        </p:spPr>
      </p:pic>
      <p:sp>
        <p:nvSpPr>
          <p:cNvPr id="4" name="object 4"/>
          <p:cNvSpPr txBox="1"/>
          <p:nvPr/>
        </p:nvSpPr>
        <p:spPr>
          <a:xfrm>
            <a:off x="2488407" y="2062758"/>
            <a:ext cx="3733949" cy="360759"/>
          </a:xfrm>
          <a:prstGeom prst="rect">
            <a:avLst/>
          </a:prstGeom>
        </p:spPr>
        <p:txBody>
          <a:bodyPr vert="horz" wrap="square" lIns="0" tIns="8930" rIns="0" bIns="0" rtlCol="0">
            <a:spAutoFit/>
          </a:bodyPr>
          <a:lstStyle/>
          <a:p>
            <a:pPr marL="8929">
              <a:lnSpc>
                <a:spcPct val="100000"/>
              </a:lnSpc>
              <a:spcBef>
                <a:spcPts val="70"/>
              </a:spcBef>
              <a:tabLst>
                <a:tab pos="2294402" algn="l"/>
              </a:tabLst>
            </a:pPr>
            <a:r>
              <a:rPr sz="2250" spc="397" dirty="0">
                <a:solidFill>
                  <a:srgbClr val="941100"/>
                </a:solidFill>
                <a:latin typeface="Calibri"/>
                <a:cs typeface="Calibri"/>
              </a:rPr>
              <a:t>Bidirectional</a:t>
            </a:r>
            <a:r>
              <a:rPr sz="2250" dirty="0">
                <a:solidFill>
                  <a:srgbClr val="941100"/>
                </a:solidFill>
                <a:latin typeface="Calibri"/>
                <a:cs typeface="Calibri"/>
              </a:rPr>
              <a:t>	</a:t>
            </a:r>
            <a:r>
              <a:rPr sz="2250" spc="362" dirty="0">
                <a:solidFill>
                  <a:srgbClr val="941100"/>
                </a:solidFill>
                <a:latin typeface="Calibri"/>
                <a:cs typeface="Calibri"/>
              </a:rPr>
              <a:t>encoder!</a:t>
            </a:r>
            <a:endParaRPr sz="2250">
              <a:latin typeface="Calibri"/>
              <a:cs typeface="Calibri"/>
            </a:endParaRPr>
          </a:p>
        </p:txBody>
      </p:sp>
      <p:pic>
        <p:nvPicPr>
          <p:cNvPr id="5" name="object 5"/>
          <p:cNvPicPr/>
          <p:nvPr/>
        </p:nvPicPr>
        <p:blipFill>
          <a:blip r:embed="rId3" cstate="print"/>
          <a:stretch>
            <a:fillRect/>
          </a:stretch>
        </p:blipFill>
        <p:spPr>
          <a:xfrm>
            <a:off x="3015867" y="5677607"/>
            <a:ext cx="3018234" cy="223242"/>
          </a:xfrm>
          <a:prstGeom prst="rect">
            <a:avLst/>
          </a:prstGeom>
        </p:spPr>
      </p:pic>
      <p:pic>
        <p:nvPicPr>
          <p:cNvPr id="6" name="object 6"/>
          <p:cNvPicPr/>
          <p:nvPr/>
        </p:nvPicPr>
        <p:blipFill>
          <a:blip r:embed="rId4" cstate="print"/>
          <a:stretch>
            <a:fillRect/>
          </a:stretch>
        </p:blipFill>
        <p:spPr>
          <a:xfrm>
            <a:off x="6926310" y="5698393"/>
            <a:ext cx="2338514" cy="22837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19584" y="684176"/>
            <a:ext cx="3431040" cy="747681"/>
          </a:xfrm>
          <a:prstGeom prst="rect">
            <a:avLst/>
          </a:prstGeom>
        </p:spPr>
        <p:txBody>
          <a:bodyPr vert="horz" wrap="square" lIns="0" tIns="8930" rIns="0" bIns="0" rtlCol="0">
            <a:spAutoFit/>
          </a:bodyPr>
          <a:lstStyle/>
          <a:p>
            <a:pPr marL="8929">
              <a:lnSpc>
                <a:spcPct val="100000"/>
              </a:lnSpc>
              <a:spcBef>
                <a:spcPts val="70"/>
              </a:spcBef>
              <a:tabLst>
                <a:tab pos="1669792" algn="l"/>
              </a:tabLst>
            </a:pPr>
            <a:r>
              <a:rPr spc="-650" dirty="0"/>
              <a:t>T</a:t>
            </a:r>
            <a:r>
              <a:rPr spc="-165" dirty="0"/>
              <a:t>ra</a:t>
            </a:r>
            <a:r>
              <a:rPr spc="-172" dirty="0"/>
              <a:t>ini</a:t>
            </a:r>
            <a:r>
              <a:rPr spc="-165" dirty="0"/>
              <a:t>ng</a:t>
            </a:r>
            <a:r>
              <a:rPr dirty="0"/>
              <a:t>	</a:t>
            </a:r>
            <a:r>
              <a:rPr spc="-190" dirty="0"/>
              <a:t>details</a:t>
            </a:r>
          </a:p>
        </p:txBody>
      </p:sp>
      <p:sp>
        <p:nvSpPr>
          <p:cNvPr id="3" name="object 3"/>
          <p:cNvSpPr txBox="1"/>
          <p:nvPr/>
        </p:nvSpPr>
        <p:spPr>
          <a:xfrm>
            <a:off x="2220516" y="1902023"/>
            <a:ext cx="3281214" cy="317897"/>
          </a:xfrm>
          <a:prstGeom prst="rect">
            <a:avLst/>
          </a:prstGeom>
        </p:spPr>
        <p:txBody>
          <a:bodyPr vert="horz" wrap="square" lIns="0" tIns="8930" rIns="0" bIns="0" rtlCol="0">
            <a:spAutoFit/>
          </a:bodyPr>
          <a:lstStyle/>
          <a:p>
            <a:pPr marL="8929">
              <a:lnSpc>
                <a:spcPct val="100000"/>
              </a:lnSpc>
              <a:spcBef>
                <a:spcPts val="70"/>
              </a:spcBef>
            </a:pPr>
            <a:r>
              <a:rPr sz="1969" dirty="0">
                <a:latin typeface="Georgia"/>
                <a:cs typeface="Georgia"/>
              </a:rPr>
              <a:t>Machine</a:t>
            </a:r>
            <a:r>
              <a:rPr sz="1969" spc="-63" dirty="0">
                <a:latin typeface="Georgia"/>
                <a:cs typeface="Georgia"/>
              </a:rPr>
              <a:t> </a:t>
            </a:r>
            <a:r>
              <a:rPr sz="1969" dirty="0">
                <a:latin typeface="Georgia"/>
                <a:cs typeface="Georgia"/>
              </a:rPr>
              <a:t>Translation</a:t>
            </a:r>
            <a:r>
              <a:rPr sz="1969" spc="-67" dirty="0">
                <a:latin typeface="Georgia"/>
                <a:cs typeface="Georgia"/>
              </a:rPr>
              <a:t> </a:t>
            </a:r>
            <a:r>
              <a:rPr sz="1969" spc="-7" dirty="0">
                <a:latin typeface="Georgia"/>
                <a:cs typeface="Georgia"/>
              </a:rPr>
              <a:t>datasets</a:t>
            </a:r>
            <a:endParaRPr sz="1969">
              <a:latin typeface="Georgia"/>
              <a:cs typeface="Georgia"/>
            </a:endParaRPr>
          </a:p>
        </p:txBody>
      </p:sp>
      <p:sp>
        <p:nvSpPr>
          <p:cNvPr id="4" name="object 4"/>
          <p:cNvSpPr txBox="1"/>
          <p:nvPr/>
        </p:nvSpPr>
        <p:spPr>
          <a:xfrm>
            <a:off x="2533055" y="2200275"/>
            <a:ext cx="160288" cy="1215377"/>
          </a:xfrm>
          <a:prstGeom prst="rect">
            <a:avLst/>
          </a:prstGeom>
        </p:spPr>
        <p:txBody>
          <a:bodyPr vert="horz" wrap="square" lIns="0" tIns="9823" rIns="0" bIns="0" rtlCol="0">
            <a:spAutoFit/>
          </a:bodyPr>
          <a:lstStyle/>
          <a:p>
            <a:pPr marL="8929">
              <a:lnSpc>
                <a:spcPts val="3185"/>
              </a:lnSpc>
              <a:spcBef>
                <a:spcPts val="77"/>
              </a:spcBef>
            </a:pPr>
            <a:r>
              <a:rPr sz="2848" spc="-35" dirty="0">
                <a:latin typeface="Georgia"/>
                <a:cs typeface="Georgia"/>
              </a:rPr>
              <a:t>•</a:t>
            </a:r>
            <a:endParaRPr sz="2848">
              <a:latin typeface="Georgia"/>
              <a:cs typeface="Georgia"/>
            </a:endParaRPr>
          </a:p>
          <a:p>
            <a:pPr marL="8929">
              <a:lnSpc>
                <a:spcPts val="2953"/>
              </a:lnSpc>
            </a:pPr>
            <a:r>
              <a:rPr sz="2848" spc="-35" dirty="0">
                <a:latin typeface="Georgia"/>
                <a:cs typeface="Georgia"/>
              </a:rPr>
              <a:t>•</a:t>
            </a:r>
            <a:endParaRPr sz="2848">
              <a:latin typeface="Georgia"/>
              <a:cs typeface="Georgia"/>
            </a:endParaRPr>
          </a:p>
          <a:p>
            <a:pPr marL="8929">
              <a:lnSpc>
                <a:spcPts val="3185"/>
              </a:lnSpc>
            </a:pPr>
            <a:r>
              <a:rPr sz="2848" spc="-35" dirty="0">
                <a:latin typeface="Georgia"/>
                <a:cs typeface="Georgia"/>
              </a:rPr>
              <a:t>•</a:t>
            </a:r>
            <a:endParaRPr sz="2848">
              <a:latin typeface="Georgia"/>
              <a:cs typeface="Georgia"/>
            </a:endParaRPr>
          </a:p>
        </p:txBody>
      </p:sp>
      <p:sp>
        <p:nvSpPr>
          <p:cNvPr id="5" name="object 5"/>
          <p:cNvSpPr txBox="1"/>
          <p:nvPr/>
        </p:nvSpPr>
        <p:spPr>
          <a:xfrm>
            <a:off x="2845594" y="2202061"/>
            <a:ext cx="6186041" cy="1459158"/>
          </a:xfrm>
          <a:prstGeom prst="rect">
            <a:avLst/>
          </a:prstGeom>
        </p:spPr>
        <p:txBody>
          <a:bodyPr vert="horz" wrap="square" lIns="0" tIns="8930" rIns="0" bIns="0" rtlCol="0">
            <a:spAutoFit/>
          </a:bodyPr>
          <a:lstStyle/>
          <a:p>
            <a:pPr marL="8929" marR="1059916">
              <a:lnSpc>
                <a:spcPct val="125000"/>
              </a:lnSpc>
              <a:spcBef>
                <a:spcPts val="70"/>
              </a:spcBef>
            </a:pPr>
            <a:r>
              <a:rPr sz="1969" dirty="0">
                <a:latin typeface="Georgia"/>
                <a:cs typeface="Georgia"/>
              </a:rPr>
              <a:t>Small:</a:t>
            </a:r>
            <a:r>
              <a:rPr sz="1969" spc="-39" dirty="0">
                <a:latin typeface="Georgia"/>
                <a:cs typeface="Georgia"/>
              </a:rPr>
              <a:t> </a:t>
            </a:r>
            <a:r>
              <a:rPr sz="1969" dirty="0">
                <a:latin typeface="Georgia"/>
                <a:cs typeface="Georgia"/>
              </a:rPr>
              <a:t>30,000</a:t>
            </a:r>
            <a:r>
              <a:rPr sz="1969" spc="-35" dirty="0">
                <a:latin typeface="Georgia"/>
                <a:cs typeface="Georgia"/>
              </a:rPr>
              <a:t> </a:t>
            </a:r>
            <a:r>
              <a:rPr sz="1969" dirty="0">
                <a:latin typeface="Georgia"/>
                <a:cs typeface="Georgia"/>
              </a:rPr>
              <a:t>sentence</a:t>
            </a:r>
            <a:r>
              <a:rPr sz="1969" spc="-39" dirty="0">
                <a:latin typeface="Georgia"/>
                <a:cs typeface="Georgia"/>
              </a:rPr>
              <a:t> </a:t>
            </a:r>
            <a:r>
              <a:rPr sz="1969" dirty="0">
                <a:latin typeface="Georgia"/>
                <a:cs typeface="Georgia"/>
              </a:rPr>
              <a:t>pairs</a:t>
            </a:r>
            <a:r>
              <a:rPr sz="1969" spc="-39" dirty="0">
                <a:latin typeface="Georgia"/>
                <a:cs typeface="Georgia"/>
              </a:rPr>
              <a:t> </a:t>
            </a:r>
            <a:r>
              <a:rPr sz="1969" dirty="0">
                <a:latin typeface="Georgia"/>
                <a:cs typeface="Georgia"/>
              </a:rPr>
              <a:t>(Flickr</a:t>
            </a:r>
            <a:r>
              <a:rPr sz="1969" spc="-35" dirty="0">
                <a:latin typeface="Georgia"/>
                <a:cs typeface="Georgia"/>
              </a:rPr>
              <a:t> </a:t>
            </a:r>
            <a:r>
              <a:rPr sz="1969" spc="-7" dirty="0">
                <a:latin typeface="Georgia"/>
                <a:cs typeface="Georgia"/>
              </a:rPr>
              <a:t>captions) </a:t>
            </a:r>
            <a:r>
              <a:rPr sz="1969" dirty="0">
                <a:latin typeface="Georgia"/>
                <a:cs typeface="Georgia"/>
              </a:rPr>
              <a:t>Medium:</a:t>
            </a:r>
            <a:r>
              <a:rPr sz="1969" spc="-49" dirty="0">
                <a:latin typeface="Georgia"/>
                <a:cs typeface="Georgia"/>
              </a:rPr>
              <a:t> </a:t>
            </a:r>
            <a:r>
              <a:rPr sz="1969" dirty="0">
                <a:latin typeface="Georgia"/>
                <a:cs typeface="Georgia"/>
              </a:rPr>
              <a:t>209,772</a:t>
            </a:r>
            <a:r>
              <a:rPr sz="1969" spc="-46" dirty="0">
                <a:latin typeface="Georgia"/>
                <a:cs typeface="Georgia"/>
              </a:rPr>
              <a:t> </a:t>
            </a:r>
            <a:r>
              <a:rPr sz="1969" dirty="0">
                <a:latin typeface="Georgia"/>
                <a:cs typeface="Georgia"/>
              </a:rPr>
              <a:t>(TED</a:t>
            </a:r>
            <a:r>
              <a:rPr sz="1969" spc="-49" dirty="0">
                <a:latin typeface="Georgia"/>
                <a:cs typeface="Georgia"/>
              </a:rPr>
              <a:t> </a:t>
            </a:r>
            <a:r>
              <a:rPr sz="1969" spc="-7" dirty="0">
                <a:latin typeface="Georgia"/>
                <a:cs typeface="Georgia"/>
              </a:rPr>
              <a:t>presentations)</a:t>
            </a:r>
            <a:endParaRPr sz="1969">
              <a:latin typeface="Georgia"/>
              <a:cs typeface="Georgia"/>
            </a:endParaRPr>
          </a:p>
          <a:p>
            <a:pPr marL="8929" marR="3572">
              <a:lnSpc>
                <a:spcPts val="2250"/>
              </a:lnSpc>
              <a:spcBef>
                <a:spcPts val="759"/>
              </a:spcBef>
            </a:pPr>
            <a:r>
              <a:rPr sz="1969" dirty="0">
                <a:latin typeface="Georgia"/>
                <a:cs typeface="Georgia"/>
              </a:rPr>
              <a:t>Large:</a:t>
            </a:r>
            <a:r>
              <a:rPr sz="1969" spc="-32" dirty="0">
                <a:latin typeface="Georgia"/>
                <a:cs typeface="Georgia"/>
              </a:rPr>
              <a:t> </a:t>
            </a:r>
            <a:r>
              <a:rPr sz="1969" dirty="0">
                <a:latin typeface="Georgia"/>
                <a:cs typeface="Georgia"/>
              </a:rPr>
              <a:t>7M</a:t>
            </a:r>
            <a:r>
              <a:rPr sz="1969" spc="-32" dirty="0">
                <a:latin typeface="Georgia"/>
                <a:cs typeface="Georgia"/>
              </a:rPr>
              <a:t> </a:t>
            </a:r>
            <a:r>
              <a:rPr sz="1969" dirty="0">
                <a:latin typeface="Georgia"/>
                <a:cs typeface="Georgia"/>
              </a:rPr>
              <a:t>(Web</a:t>
            </a:r>
            <a:r>
              <a:rPr sz="1969" spc="-32" dirty="0">
                <a:latin typeface="Georgia"/>
                <a:cs typeface="Georgia"/>
              </a:rPr>
              <a:t> </a:t>
            </a:r>
            <a:r>
              <a:rPr sz="1969" dirty="0">
                <a:latin typeface="Georgia"/>
                <a:cs typeface="Georgia"/>
              </a:rPr>
              <a:t>crawl</a:t>
            </a:r>
            <a:r>
              <a:rPr sz="1969" spc="-32" dirty="0">
                <a:latin typeface="Georgia"/>
                <a:cs typeface="Georgia"/>
              </a:rPr>
              <a:t> </a:t>
            </a:r>
            <a:r>
              <a:rPr sz="1969" dirty="0">
                <a:latin typeface="Georgia"/>
                <a:cs typeface="Georgia"/>
              </a:rPr>
              <a:t>data,</a:t>
            </a:r>
            <a:r>
              <a:rPr sz="1969" spc="-35" dirty="0">
                <a:latin typeface="Georgia"/>
                <a:cs typeface="Georgia"/>
              </a:rPr>
              <a:t> </a:t>
            </a:r>
            <a:r>
              <a:rPr sz="1969" dirty="0">
                <a:latin typeface="Georgia"/>
                <a:cs typeface="Georgia"/>
              </a:rPr>
              <a:t>news,</a:t>
            </a:r>
            <a:r>
              <a:rPr sz="1969" spc="-32" dirty="0">
                <a:latin typeface="Georgia"/>
                <a:cs typeface="Georgia"/>
              </a:rPr>
              <a:t> </a:t>
            </a:r>
            <a:r>
              <a:rPr sz="1969" dirty="0">
                <a:latin typeface="Georgia"/>
                <a:cs typeface="Georgia"/>
              </a:rPr>
              <a:t>European</a:t>
            </a:r>
            <a:r>
              <a:rPr sz="1969" spc="-35" dirty="0">
                <a:latin typeface="Georgia"/>
                <a:cs typeface="Georgia"/>
              </a:rPr>
              <a:t> </a:t>
            </a:r>
            <a:r>
              <a:rPr sz="1969" spc="-7" dirty="0">
                <a:latin typeface="Georgia"/>
                <a:cs typeface="Georgia"/>
              </a:rPr>
              <a:t>Parliament proceedings…)</a:t>
            </a:r>
            <a:endParaRPr sz="1969">
              <a:latin typeface="Georgia"/>
              <a:cs typeface="Georgia"/>
            </a:endParaRPr>
          </a:p>
        </p:txBody>
      </p:sp>
      <p:sp>
        <p:nvSpPr>
          <p:cNvPr id="6" name="object 6"/>
          <p:cNvSpPr txBox="1"/>
          <p:nvPr/>
        </p:nvSpPr>
        <p:spPr>
          <a:xfrm>
            <a:off x="2515195" y="4161235"/>
            <a:ext cx="5008662" cy="715714"/>
          </a:xfrm>
          <a:prstGeom prst="rect">
            <a:avLst/>
          </a:prstGeom>
        </p:spPr>
        <p:txBody>
          <a:bodyPr vert="horz" wrap="square" lIns="0" tIns="8930" rIns="0" bIns="0" rtlCol="0">
            <a:spAutoFit/>
          </a:bodyPr>
          <a:lstStyle/>
          <a:p>
            <a:pPr marL="303152" indent="-276364">
              <a:lnSpc>
                <a:spcPct val="100000"/>
              </a:lnSpc>
              <a:spcBef>
                <a:spcPts val="70"/>
              </a:spcBef>
              <a:buSzPct val="144642"/>
              <a:buChar char="•"/>
              <a:tabLst>
                <a:tab pos="303152" algn="l"/>
              </a:tabLst>
            </a:pPr>
            <a:r>
              <a:rPr sz="1969" dirty="0">
                <a:latin typeface="Georgia"/>
                <a:cs typeface="Georgia"/>
              </a:rPr>
              <a:t>Encoder:</a:t>
            </a:r>
            <a:r>
              <a:rPr sz="1969" spc="-42" dirty="0">
                <a:latin typeface="Georgia"/>
                <a:cs typeface="Georgia"/>
              </a:rPr>
              <a:t> </a:t>
            </a:r>
            <a:r>
              <a:rPr sz="1969" spc="-7" dirty="0">
                <a:latin typeface="Georgia"/>
                <a:cs typeface="Georgia"/>
              </a:rPr>
              <a:t>two-</a:t>
            </a:r>
            <a:r>
              <a:rPr sz="1969" dirty="0">
                <a:latin typeface="Georgia"/>
                <a:cs typeface="Georgia"/>
              </a:rPr>
              <a:t>layer</a:t>
            </a:r>
            <a:r>
              <a:rPr sz="1969" spc="-39" dirty="0">
                <a:latin typeface="Georgia"/>
                <a:cs typeface="Georgia"/>
              </a:rPr>
              <a:t> </a:t>
            </a:r>
            <a:r>
              <a:rPr sz="1969" b="1" dirty="0">
                <a:latin typeface="Georgia"/>
                <a:cs typeface="Georgia"/>
              </a:rPr>
              <a:t>bidirectional</a:t>
            </a:r>
            <a:r>
              <a:rPr sz="1969" b="1" spc="-67" dirty="0">
                <a:latin typeface="Georgia"/>
                <a:cs typeface="Georgia"/>
              </a:rPr>
              <a:t> </a:t>
            </a:r>
            <a:r>
              <a:rPr sz="1969" spc="-7" dirty="0">
                <a:latin typeface="Georgia"/>
                <a:cs typeface="Georgia"/>
              </a:rPr>
              <a:t>LSTMs</a:t>
            </a:r>
            <a:endParaRPr sz="1969">
              <a:latin typeface="Georgia"/>
              <a:cs typeface="Georgia"/>
            </a:endParaRPr>
          </a:p>
          <a:p>
            <a:pPr marL="303152" indent="-276364">
              <a:lnSpc>
                <a:spcPct val="100000"/>
              </a:lnSpc>
              <a:spcBef>
                <a:spcPts val="591"/>
              </a:spcBef>
              <a:buSzPct val="144642"/>
              <a:buChar char="•"/>
              <a:tabLst>
                <a:tab pos="303152" algn="l"/>
              </a:tabLst>
            </a:pPr>
            <a:r>
              <a:rPr sz="1969" dirty="0">
                <a:latin typeface="Georgia"/>
                <a:cs typeface="Georgia"/>
              </a:rPr>
              <a:t>Decoder:</a:t>
            </a:r>
            <a:r>
              <a:rPr sz="1969" spc="-56" dirty="0">
                <a:latin typeface="Georgia"/>
                <a:cs typeface="Georgia"/>
              </a:rPr>
              <a:t> </a:t>
            </a:r>
            <a:r>
              <a:rPr sz="1969" spc="-7" dirty="0">
                <a:latin typeface="Georgia"/>
                <a:cs typeface="Georgia"/>
              </a:rPr>
              <a:t>two-</a:t>
            </a:r>
            <a:r>
              <a:rPr sz="1969" dirty="0">
                <a:latin typeface="Georgia"/>
                <a:cs typeface="Georgia"/>
              </a:rPr>
              <a:t>layer</a:t>
            </a:r>
            <a:r>
              <a:rPr sz="1969" spc="-53" dirty="0">
                <a:latin typeface="Georgia"/>
                <a:cs typeface="Georgia"/>
              </a:rPr>
              <a:t> </a:t>
            </a:r>
            <a:r>
              <a:rPr sz="1969" dirty="0">
                <a:latin typeface="Georgia"/>
                <a:cs typeface="Georgia"/>
              </a:rPr>
              <a:t>unidirectional</a:t>
            </a:r>
            <a:r>
              <a:rPr sz="1969" spc="-60" dirty="0">
                <a:latin typeface="Georgia"/>
                <a:cs typeface="Georgia"/>
              </a:rPr>
              <a:t> </a:t>
            </a:r>
            <a:r>
              <a:rPr sz="1969" spc="-7" dirty="0">
                <a:latin typeface="Georgia"/>
                <a:cs typeface="Georgia"/>
              </a:rPr>
              <a:t>LSTMs</a:t>
            </a:r>
            <a:endParaRPr sz="1969">
              <a:latin typeface="Georgia"/>
              <a:cs typeface="Georg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065810">
              <a:lnSpc>
                <a:spcPct val="100000"/>
              </a:lnSpc>
              <a:spcBef>
                <a:spcPts val="70"/>
              </a:spcBef>
            </a:pPr>
            <a:r>
              <a:rPr spc="-225" dirty="0"/>
              <a:t>Evaluation</a:t>
            </a:r>
          </a:p>
        </p:txBody>
      </p:sp>
      <p:pic>
        <p:nvPicPr>
          <p:cNvPr id="3" name="object 3"/>
          <p:cNvPicPr/>
          <p:nvPr/>
        </p:nvPicPr>
        <p:blipFill>
          <a:blip r:embed="rId2" cstate="print"/>
          <a:stretch>
            <a:fillRect/>
          </a:stretch>
        </p:blipFill>
        <p:spPr>
          <a:xfrm>
            <a:off x="2083252" y="2332286"/>
            <a:ext cx="8228843" cy="238737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494330">
              <a:lnSpc>
                <a:spcPct val="100000"/>
              </a:lnSpc>
              <a:spcBef>
                <a:spcPts val="70"/>
              </a:spcBef>
            </a:pPr>
            <a:r>
              <a:rPr spc="-218" dirty="0"/>
              <a:t>Evaluation:</a:t>
            </a:r>
            <a:r>
              <a:rPr spc="-383" dirty="0"/>
              <a:t> </a:t>
            </a:r>
            <a:r>
              <a:rPr spc="-250" dirty="0"/>
              <a:t>SNLI</a:t>
            </a:r>
          </a:p>
        </p:txBody>
      </p:sp>
      <p:pic>
        <p:nvPicPr>
          <p:cNvPr id="3" name="object 3"/>
          <p:cNvPicPr/>
          <p:nvPr/>
        </p:nvPicPr>
        <p:blipFill>
          <a:blip r:embed="rId2" cstate="print"/>
          <a:stretch>
            <a:fillRect/>
          </a:stretch>
        </p:blipFill>
        <p:spPr>
          <a:xfrm>
            <a:off x="2241980" y="1985108"/>
            <a:ext cx="7708041" cy="319415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9696" y="616149"/>
            <a:ext cx="3735735" cy="596503"/>
          </a:xfrm>
          <a:prstGeom prst="rect">
            <a:avLst/>
          </a:prstGeom>
        </p:spPr>
        <p:txBody>
          <a:bodyPr vert="horz" wrap="square" lIns="0" tIns="8930" rIns="0" bIns="0" rtlCol="0">
            <a:spAutoFit/>
          </a:bodyPr>
          <a:lstStyle/>
          <a:p>
            <a:pPr marL="8929">
              <a:lnSpc>
                <a:spcPct val="100000"/>
              </a:lnSpc>
              <a:spcBef>
                <a:spcPts val="70"/>
              </a:spcBef>
            </a:pPr>
            <a:r>
              <a:rPr spc="-218" dirty="0"/>
              <a:t>Evaluation:</a:t>
            </a:r>
            <a:r>
              <a:rPr spc="-383" dirty="0"/>
              <a:t> </a:t>
            </a:r>
            <a:r>
              <a:rPr spc="-127" dirty="0"/>
              <a:t>SQuAD</a:t>
            </a:r>
          </a:p>
        </p:txBody>
      </p:sp>
      <p:pic>
        <p:nvPicPr>
          <p:cNvPr id="3" name="object 3"/>
          <p:cNvPicPr/>
          <p:nvPr/>
        </p:nvPicPr>
        <p:blipFill>
          <a:blip r:embed="rId2" cstate="print"/>
          <a:stretch>
            <a:fillRect/>
          </a:stretch>
        </p:blipFill>
        <p:spPr>
          <a:xfrm>
            <a:off x="3313235" y="1908649"/>
            <a:ext cx="6147561" cy="398328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065810">
              <a:lnSpc>
                <a:spcPct val="100000"/>
              </a:lnSpc>
              <a:spcBef>
                <a:spcPts val="70"/>
              </a:spcBef>
            </a:pPr>
            <a:r>
              <a:rPr spc="-225" dirty="0"/>
              <a:t>Evaluation</a:t>
            </a:r>
          </a:p>
        </p:txBody>
      </p:sp>
      <p:pic>
        <p:nvPicPr>
          <p:cNvPr id="3" name="object 3"/>
          <p:cNvPicPr/>
          <p:nvPr/>
        </p:nvPicPr>
        <p:blipFill>
          <a:blip r:embed="rId2" cstate="print"/>
          <a:stretch>
            <a:fillRect/>
          </a:stretch>
        </p:blipFill>
        <p:spPr>
          <a:xfrm>
            <a:off x="3032990" y="2051319"/>
            <a:ext cx="6347538" cy="41892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065810">
              <a:lnSpc>
                <a:spcPct val="100000"/>
              </a:lnSpc>
              <a:spcBef>
                <a:spcPts val="70"/>
              </a:spcBef>
            </a:pPr>
            <a:r>
              <a:rPr spc="-225" dirty="0"/>
              <a:t>Evaluation</a:t>
            </a:r>
          </a:p>
        </p:txBody>
      </p:sp>
      <p:pic>
        <p:nvPicPr>
          <p:cNvPr id="3" name="object 3"/>
          <p:cNvPicPr/>
          <p:nvPr/>
        </p:nvPicPr>
        <p:blipFill>
          <a:blip r:embed="rId2" cstate="print"/>
          <a:stretch>
            <a:fillRect/>
          </a:stretch>
        </p:blipFill>
        <p:spPr>
          <a:xfrm>
            <a:off x="2026322" y="2242215"/>
            <a:ext cx="7934735" cy="24714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8164" y="616149"/>
            <a:ext cx="5367635" cy="596503"/>
          </a:xfrm>
          <a:prstGeom prst="rect">
            <a:avLst/>
          </a:prstGeom>
        </p:spPr>
        <p:txBody>
          <a:bodyPr vert="horz" wrap="square" lIns="0" tIns="8930" rIns="0" bIns="0" rtlCol="0">
            <a:spAutoFit/>
          </a:bodyPr>
          <a:lstStyle/>
          <a:p>
            <a:pPr marL="8929">
              <a:lnSpc>
                <a:spcPct val="100000"/>
              </a:lnSpc>
              <a:spcBef>
                <a:spcPts val="70"/>
              </a:spcBef>
              <a:tabLst>
                <a:tab pos="2896687" algn="l"/>
              </a:tabLst>
            </a:pPr>
            <a:r>
              <a:rPr spc="-46" dirty="0"/>
              <a:t>More</a:t>
            </a:r>
            <a:r>
              <a:rPr spc="-218" dirty="0"/>
              <a:t> </a:t>
            </a:r>
            <a:r>
              <a:rPr spc="-14" dirty="0"/>
              <a:t>MT</a:t>
            </a:r>
            <a:r>
              <a:rPr spc="-236" dirty="0"/>
              <a:t> </a:t>
            </a:r>
            <a:r>
              <a:rPr dirty="0"/>
              <a:t>—</a:t>
            </a:r>
            <a:r>
              <a:rPr spc="-35" dirty="0"/>
              <a:t>&gt;</a:t>
            </a:r>
            <a:r>
              <a:rPr dirty="0"/>
              <a:t>	</a:t>
            </a:r>
            <a:r>
              <a:rPr spc="-35" dirty="0"/>
              <a:t>Better</a:t>
            </a:r>
            <a:r>
              <a:rPr spc="-200" dirty="0"/>
              <a:t> </a:t>
            </a:r>
            <a:r>
              <a:rPr spc="-165" dirty="0"/>
              <a:t>Co</a:t>
            </a:r>
            <a:r>
              <a:rPr spc="-593" dirty="0"/>
              <a:t>V</a:t>
            </a:r>
            <a:r>
              <a:rPr spc="-165" dirty="0"/>
              <a:t>e</a:t>
            </a:r>
          </a:p>
        </p:txBody>
      </p:sp>
      <p:pic>
        <p:nvPicPr>
          <p:cNvPr id="3" name="object 3"/>
          <p:cNvPicPr/>
          <p:nvPr/>
        </p:nvPicPr>
        <p:blipFill>
          <a:blip r:embed="rId2" cstate="print"/>
          <a:stretch>
            <a:fillRect/>
          </a:stretch>
        </p:blipFill>
        <p:spPr>
          <a:xfrm>
            <a:off x="2840333" y="1888943"/>
            <a:ext cx="6482068" cy="4236024"/>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494420">
              <a:lnSpc>
                <a:spcPct val="100000"/>
              </a:lnSpc>
              <a:spcBef>
                <a:spcPts val="70"/>
              </a:spcBef>
            </a:pPr>
            <a:r>
              <a:rPr spc="-299" dirty="0"/>
              <a:t>ELMo</a:t>
            </a:r>
          </a:p>
        </p:txBody>
      </p:sp>
      <p:pic>
        <p:nvPicPr>
          <p:cNvPr id="3" name="object 3"/>
          <p:cNvPicPr/>
          <p:nvPr/>
        </p:nvPicPr>
        <p:blipFill>
          <a:blip r:embed="rId2" cstate="print"/>
          <a:stretch>
            <a:fillRect/>
          </a:stretch>
        </p:blipFill>
        <p:spPr>
          <a:xfrm>
            <a:off x="7564727" y="4172441"/>
            <a:ext cx="2807760" cy="2232169"/>
          </a:xfrm>
          <a:prstGeom prst="rect">
            <a:avLst/>
          </a:prstGeom>
        </p:spPr>
      </p:pic>
      <p:sp>
        <p:nvSpPr>
          <p:cNvPr id="4" name="object 4"/>
          <p:cNvSpPr txBox="1"/>
          <p:nvPr/>
        </p:nvSpPr>
        <p:spPr>
          <a:xfrm>
            <a:off x="2158008" y="1636288"/>
            <a:ext cx="6231582" cy="2137883"/>
          </a:xfrm>
          <a:prstGeom prst="rect">
            <a:avLst/>
          </a:prstGeom>
        </p:spPr>
        <p:txBody>
          <a:bodyPr vert="horz" wrap="square" lIns="0" tIns="69205" rIns="0" bIns="0" rtlCol="0">
            <a:spAutoFit/>
          </a:bodyPr>
          <a:lstStyle/>
          <a:p>
            <a:pPr marL="26788">
              <a:lnSpc>
                <a:spcPct val="100000"/>
              </a:lnSpc>
              <a:spcBef>
                <a:spcPts val="545"/>
              </a:spcBef>
            </a:pPr>
            <a:r>
              <a:rPr sz="1969" b="1" dirty="0">
                <a:latin typeface="Georgia"/>
                <a:cs typeface="Georgia"/>
              </a:rPr>
              <a:t>Key</a:t>
            </a:r>
            <a:r>
              <a:rPr sz="1969" b="1" spc="-28" dirty="0">
                <a:latin typeface="Georgia"/>
                <a:cs typeface="Georgia"/>
              </a:rPr>
              <a:t> </a:t>
            </a:r>
            <a:r>
              <a:rPr sz="1969" b="1" spc="-14" dirty="0">
                <a:latin typeface="Georgia"/>
                <a:cs typeface="Georgia"/>
              </a:rPr>
              <a:t>idea:</a:t>
            </a:r>
            <a:endParaRPr sz="1969">
              <a:latin typeface="Georgia"/>
              <a:cs typeface="Georgia"/>
            </a:endParaRPr>
          </a:p>
          <a:p>
            <a:pPr marL="687561" marR="105367" indent="-312528">
              <a:lnSpc>
                <a:spcPts val="2250"/>
              </a:lnSpc>
              <a:spcBef>
                <a:spcPts val="1744"/>
              </a:spcBef>
              <a:buSzPct val="144642"/>
              <a:buChar char="•"/>
              <a:tabLst>
                <a:tab pos="687561" algn="l"/>
              </a:tabLst>
            </a:pPr>
            <a:r>
              <a:rPr sz="1969" dirty="0">
                <a:latin typeface="Georgia"/>
                <a:cs typeface="Georgia"/>
              </a:rPr>
              <a:t>Train</a:t>
            </a:r>
            <a:r>
              <a:rPr sz="1969" spc="-32" dirty="0">
                <a:latin typeface="Georgia"/>
                <a:cs typeface="Georgia"/>
              </a:rPr>
              <a:t> </a:t>
            </a:r>
            <a:r>
              <a:rPr sz="1969" dirty="0">
                <a:latin typeface="Georgia"/>
                <a:cs typeface="Georgia"/>
              </a:rPr>
              <a:t>a</a:t>
            </a:r>
            <a:r>
              <a:rPr sz="1969" spc="-25" dirty="0">
                <a:latin typeface="Georgia"/>
                <a:cs typeface="Georgia"/>
              </a:rPr>
              <a:t> </a:t>
            </a:r>
            <a:r>
              <a:rPr sz="1969" dirty="0">
                <a:latin typeface="Georgia"/>
                <a:cs typeface="Georgia"/>
              </a:rPr>
              <a:t>forward</a:t>
            </a:r>
            <a:r>
              <a:rPr sz="1969" spc="-28" dirty="0">
                <a:latin typeface="Georgia"/>
                <a:cs typeface="Georgia"/>
              </a:rPr>
              <a:t> </a:t>
            </a:r>
            <a:r>
              <a:rPr sz="1969" spc="-14" dirty="0">
                <a:latin typeface="Georgia"/>
                <a:cs typeface="Georgia"/>
              </a:rPr>
              <a:t>LSTM-</a:t>
            </a:r>
            <a:r>
              <a:rPr sz="1969" dirty="0">
                <a:latin typeface="Georgia"/>
                <a:cs typeface="Georgia"/>
              </a:rPr>
              <a:t>based</a:t>
            </a:r>
            <a:r>
              <a:rPr sz="1969" spc="-28" dirty="0">
                <a:latin typeface="Georgia"/>
                <a:cs typeface="Georgia"/>
              </a:rPr>
              <a:t> </a:t>
            </a:r>
            <a:r>
              <a:rPr sz="1969" dirty="0">
                <a:latin typeface="Georgia"/>
                <a:cs typeface="Georgia"/>
              </a:rPr>
              <a:t>LM</a:t>
            </a:r>
            <a:r>
              <a:rPr sz="1969" spc="-28" dirty="0">
                <a:latin typeface="Georgia"/>
                <a:cs typeface="Georgia"/>
              </a:rPr>
              <a:t> </a:t>
            </a:r>
            <a:r>
              <a:rPr sz="1969" dirty="0">
                <a:latin typeface="Georgia"/>
                <a:cs typeface="Georgia"/>
              </a:rPr>
              <a:t>and</a:t>
            </a:r>
            <a:r>
              <a:rPr sz="1969" spc="-32" dirty="0">
                <a:latin typeface="Georgia"/>
                <a:cs typeface="Georgia"/>
              </a:rPr>
              <a:t> </a:t>
            </a:r>
            <a:r>
              <a:rPr sz="1969" dirty="0">
                <a:latin typeface="Georgia"/>
                <a:cs typeface="Georgia"/>
              </a:rPr>
              <a:t>a</a:t>
            </a:r>
            <a:r>
              <a:rPr sz="1969" spc="-25" dirty="0">
                <a:latin typeface="Georgia"/>
                <a:cs typeface="Georgia"/>
              </a:rPr>
              <a:t> </a:t>
            </a:r>
            <a:r>
              <a:rPr sz="1969" spc="-7" dirty="0">
                <a:latin typeface="Georgia"/>
                <a:cs typeface="Georgia"/>
              </a:rPr>
              <a:t>backward </a:t>
            </a:r>
            <a:r>
              <a:rPr sz="1969" spc="-14" dirty="0">
                <a:latin typeface="Georgia"/>
                <a:cs typeface="Georgia"/>
              </a:rPr>
              <a:t>LSTM-</a:t>
            </a:r>
            <a:r>
              <a:rPr sz="1969" dirty="0">
                <a:latin typeface="Georgia"/>
                <a:cs typeface="Georgia"/>
              </a:rPr>
              <a:t>based</a:t>
            </a:r>
            <a:r>
              <a:rPr sz="1969" spc="-21" dirty="0">
                <a:latin typeface="Georgia"/>
                <a:cs typeface="Georgia"/>
              </a:rPr>
              <a:t> </a:t>
            </a:r>
            <a:r>
              <a:rPr sz="1969" dirty="0">
                <a:latin typeface="Georgia"/>
                <a:cs typeface="Georgia"/>
              </a:rPr>
              <a:t>LM</a:t>
            </a:r>
            <a:r>
              <a:rPr sz="1969" spc="-21" dirty="0">
                <a:latin typeface="Georgia"/>
                <a:cs typeface="Georgia"/>
              </a:rPr>
              <a:t> </a:t>
            </a:r>
            <a:r>
              <a:rPr sz="1969" dirty="0">
                <a:latin typeface="Georgia"/>
                <a:cs typeface="Georgia"/>
              </a:rPr>
              <a:t>on</a:t>
            </a:r>
            <a:r>
              <a:rPr sz="1969" spc="-21" dirty="0">
                <a:latin typeface="Georgia"/>
                <a:cs typeface="Georgia"/>
              </a:rPr>
              <a:t> </a:t>
            </a:r>
            <a:r>
              <a:rPr sz="1969" dirty="0">
                <a:latin typeface="Georgia"/>
                <a:cs typeface="Georgia"/>
              </a:rPr>
              <a:t>some</a:t>
            </a:r>
            <a:r>
              <a:rPr sz="1969" spc="-18" dirty="0">
                <a:latin typeface="Georgia"/>
                <a:cs typeface="Georgia"/>
              </a:rPr>
              <a:t> </a:t>
            </a:r>
            <a:r>
              <a:rPr sz="1969" dirty="0">
                <a:latin typeface="Georgia"/>
                <a:cs typeface="Georgia"/>
              </a:rPr>
              <a:t>large</a:t>
            </a:r>
            <a:r>
              <a:rPr sz="1969" spc="-18" dirty="0">
                <a:latin typeface="Georgia"/>
                <a:cs typeface="Georgia"/>
              </a:rPr>
              <a:t> </a:t>
            </a:r>
            <a:r>
              <a:rPr sz="1969" spc="-7" dirty="0">
                <a:latin typeface="Georgia"/>
                <a:cs typeface="Georgia"/>
              </a:rPr>
              <a:t>corpus</a:t>
            </a:r>
            <a:endParaRPr sz="1969">
              <a:latin typeface="Georgia"/>
              <a:cs typeface="Georgia"/>
            </a:endParaRPr>
          </a:p>
          <a:p>
            <a:pPr>
              <a:lnSpc>
                <a:spcPct val="100000"/>
              </a:lnSpc>
              <a:spcBef>
                <a:spcPts val="503"/>
              </a:spcBef>
              <a:buFont typeface="Georgia"/>
              <a:buChar char="•"/>
            </a:pPr>
            <a:endParaRPr sz="1969">
              <a:latin typeface="Georgia"/>
              <a:cs typeface="Georgia"/>
            </a:endParaRPr>
          </a:p>
          <a:p>
            <a:pPr marL="678632" marR="21430" indent="-312528">
              <a:lnSpc>
                <a:spcPts val="2250"/>
              </a:lnSpc>
              <a:spcBef>
                <a:spcPts val="4"/>
              </a:spcBef>
              <a:buSzPct val="144642"/>
              <a:buChar char="•"/>
              <a:tabLst>
                <a:tab pos="678632" algn="l"/>
              </a:tabLst>
            </a:pPr>
            <a:r>
              <a:rPr sz="1969" dirty="0">
                <a:latin typeface="Georgia"/>
                <a:cs typeface="Georgia"/>
              </a:rPr>
              <a:t>Use</a:t>
            </a:r>
            <a:r>
              <a:rPr sz="1969" spc="-28" dirty="0">
                <a:latin typeface="Georgia"/>
                <a:cs typeface="Georgia"/>
              </a:rPr>
              <a:t> </a:t>
            </a:r>
            <a:r>
              <a:rPr sz="1969" dirty="0">
                <a:latin typeface="Georgia"/>
                <a:cs typeface="Georgia"/>
              </a:rPr>
              <a:t>the</a:t>
            </a:r>
            <a:r>
              <a:rPr sz="1969" spc="-25" dirty="0">
                <a:latin typeface="Georgia"/>
                <a:cs typeface="Georgia"/>
              </a:rPr>
              <a:t> </a:t>
            </a:r>
            <a:r>
              <a:rPr sz="1969" dirty="0">
                <a:latin typeface="Georgia"/>
                <a:cs typeface="Georgia"/>
              </a:rPr>
              <a:t>hidden</a:t>
            </a:r>
            <a:r>
              <a:rPr sz="1969" spc="-28" dirty="0">
                <a:latin typeface="Georgia"/>
                <a:cs typeface="Georgia"/>
              </a:rPr>
              <a:t> </a:t>
            </a:r>
            <a:r>
              <a:rPr sz="1969" dirty="0">
                <a:latin typeface="Georgia"/>
                <a:cs typeface="Georgia"/>
              </a:rPr>
              <a:t>states</a:t>
            </a:r>
            <a:r>
              <a:rPr sz="1969" spc="-28" dirty="0">
                <a:latin typeface="Georgia"/>
                <a:cs typeface="Georgia"/>
              </a:rPr>
              <a:t> </a:t>
            </a:r>
            <a:r>
              <a:rPr sz="1969" dirty="0">
                <a:latin typeface="Georgia"/>
                <a:cs typeface="Georgia"/>
              </a:rPr>
              <a:t>of</a:t>
            </a:r>
            <a:r>
              <a:rPr sz="1969" spc="-25" dirty="0">
                <a:latin typeface="Georgia"/>
                <a:cs typeface="Georgia"/>
              </a:rPr>
              <a:t> </a:t>
            </a:r>
            <a:r>
              <a:rPr sz="1969" dirty="0">
                <a:latin typeface="Georgia"/>
                <a:cs typeface="Georgia"/>
              </a:rPr>
              <a:t>the</a:t>
            </a:r>
            <a:r>
              <a:rPr sz="1969" spc="-25" dirty="0">
                <a:latin typeface="Georgia"/>
                <a:cs typeface="Georgia"/>
              </a:rPr>
              <a:t> </a:t>
            </a:r>
            <a:r>
              <a:rPr sz="1969" dirty="0">
                <a:latin typeface="Georgia"/>
                <a:cs typeface="Georgia"/>
              </a:rPr>
              <a:t>LSTMs</a:t>
            </a:r>
            <a:r>
              <a:rPr sz="1969" spc="-28" dirty="0">
                <a:latin typeface="Georgia"/>
                <a:cs typeface="Georgia"/>
              </a:rPr>
              <a:t> </a:t>
            </a:r>
            <a:r>
              <a:rPr sz="1969" dirty="0">
                <a:latin typeface="Georgia"/>
                <a:cs typeface="Georgia"/>
              </a:rPr>
              <a:t>for</a:t>
            </a:r>
            <a:r>
              <a:rPr sz="1969" spc="-25" dirty="0">
                <a:latin typeface="Georgia"/>
                <a:cs typeface="Georgia"/>
              </a:rPr>
              <a:t> </a:t>
            </a:r>
            <a:r>
              <a:rPr sz="1969" dirty="0">
                <a:latin typeface="Georgia"/>
                <a:cs typeface="Georgia"/>
              </a:rPr>
              <a:t>each</a:t>
            </a:r>
            <a:r>
              <a:rPr sz="1969" spc="-28" dirty="0">
                <a:latin typeface="Georgia"/>
                <a:cs typeface="Georgia"/>
              </a:rPr>
              <a:t> </a:t>
            </a:r>
            <a:r>
              <a:rPr sz="1969" spc="-7" dirty="0">
                <a:latin typeface="Georgia"/>
                <a:cs typeface="Georgia"/>
              </a:rPr>
              <a:t>token </a:t>
            </a:r>
            <a:r>
              <a:rPr sz="1969" dirty="0">
                <a:latin typeface="Georgia"/>
                <a:cs typeface="Georgia"/>
              </a:rPr>
              <a:t>to</a:t>
            </a:r>
            <a:r>
              <a:rPr sz="1969" spc="-32" dirty="0">
                <a:latin typeface="Georgia"/>
                <a:cs typeface="Georgia"/>
              </a:rPr>
              <a:t> </a:t>
            </a:r>
            <a:r>
              <a:rPr sz="1969" dirty="0">
                <a:latin typeface="Georgia"/>
                <a:cs typeface="Georgia"/>
              </a:rPr>
              <a:t>compute</a:t>
            </a:r>
            <a:r>
              <a:rPr sz="1969" spc="-28" dirty="0">
                <a:latin typeface="Georgia"/>
                <a:cs typeface="Georgia"/>
              </a:rPr>
              <a:t> </a:t>
            </a:r>
            <a:r>
              <a:rPr sz="1969" dirty="0">
                <a:latin typeface="Georgia"/>
                <a:cs typeface="Georgia"/>
              </a:rPr>
              <a:t>a</a:t>
            </a:r>
            <a:r>
              <a:rPr sz="1969" spc="-28" dirty="0">
                <a:latin typeface="Georgia"/>
                <a:cs typeface="Georgia"/>
              </a:rPr>
              <a:t> </a:t>
            </a:r>
            <a:r>
              <a:rPr sz="1969" dirty="0">
                <a:latin typeface="Georgia"/>
                <a:cs typeface="Georgia"/>
              </a:rPr>
              <a:t>vector</a:t>
            </a:r>
            <a:r>
              <a:rPr sz="1969" spc="-28" dirty="0">
                <a:latin typeface="Georgia"/>
                <a:cs typeface="Georgia"/>
              </a:rPr>
              <a:t> </a:t>
            </a:r>
            <a:r>
              <a:rPr sz="1969" dirty="0">
                <a:latin typeface="Georgia"/>
                <a:cs typeface="Georgia"/>
              </a:rPr>
              <a:t>representation</a:t>
            </a:r>
            <a:r>
              <a:rPr sz="1969" spc="-32" dirty="0">
                <a:latin typeface="Georgia"/>
                <a:cs typeface="Georgia"/>
              </a:rPr>
              <a:t> </a:t>
            </a:r>
            <a:r>
              <a:rPr sz="1969" dirty="0">
                <a:latin typeface="Georgia"/>
                <a:cs typeface="Georgia"/>
              </a:rPr>
              <a:t>of</a:t>
            </a:r>
            <a:r>
              <a:rPr sz="1969" spc="-28" dirty="0">
                <a:latin typeface="Georgia"/>
                <a:cs typeface="Georgia"/>
              </a:rPr>
              <a:t> </a:t>
            </a:r>
            <a:r>
              <a:rPr sz="1969" dirty="0">
                <a:latin typeface="Georgia"/>
                <a:cs typeface="Georgia"/>
              </a:rPr>
              <a:t>each</a:t>
            </a:r>
            <a:r>
              <a:rPr sz="1969" spc="-32" dirty="0">
                <a:latin typeface="Georgia"/>
                <a:cs typeface="Georgia"/>
              </a:rPr>
              <a:t> </a:t>
            </a:r>
            <a:r>
              <a:rPr sz="1969" spc="-14" dirty="0">
                <a:latin typeface="Georgia"/>
                <a:cs typeface="Georgia"/>
              </a:rPr>
              <a:t>word</a:t>
            </a:r>
            <a:endParaRPr sz="1969">
              <a:latin typeface="Georgia"/>
              <a:cs typeface="Georgi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494420">
              <a:lnSpc>
                <a:spcPct val="100000"/>
              </a:lnSpc>
              <a:spcBef>
                <a:spcPts val="70"/>
              </a:spcBef>
            </a:pPr>
            <a:r>
              <a:rPr spc="-299" dirty="0"/>
              <a:t>ELMo</a:t>
            </a:r>
          </a:p>
        </p:txBody>
      </p:sp>
      <p:pic>
        <p:nvPicPr>
          <p:cNvPr id="3" name="object 3"/>
          <p:cNvPicPr/>
          <p:nvPr/>
        </p:nvPicPr>
        <p:blipFill>
          <a:blip r:embed="rId2" cstate="print"/>
          <a:stretch>
            <a:fillRect/>
          </a:stretch>
        </p:blipFill>
        <p:spPr>
          <a:xfrm>
            <a:off x="2425727" y="1758460"/>
            <a:ext cx="7298262" cy="2724648"/>
          </a:xfrm>
          <a:prstGeom prst="rect">
            <a:avLst/>
          </a:prstGeom>
        </p:spPr>
      </p:pic>
      <p:sp>
        <p:nvSpPr>
          <p:cNvPr id="4" name="object 4"/>
          <p:cNvSpPr txBox="1"/>
          <p:nvPr/>
        </p:nvSpPr>
        <p:spPr>
          <a:xfrm>
            <a:off x="6524625" y="6213634"/>
            <a:ext cx="594271" cy="308967"/>
          </a:xfrm>
          <a:prstGeom prst="rect">
            <a:avLst/>
          </a:prstGeom>
        </p:spPr>
        <p:txBody>
          <a:bodyPr vert="horz" wrap="square" lIns="0" tIns="10268" rIns="0" bIns="0" rtlCol="0">
            <a:spAutoFit/>
          </a:bodyPr>
          <a:lstStyle/>
          <a:p>
            <a:pPr marL="8929">
              <a:lnSpc>
                <a:spcPct val="100000"/>
              </a:lnSpc>
              <a:spcBef>
                <a:spcPts val="80"/>
              </a:spcBef>
            </a:pPr>
            <a:r>
              <a:rPr sz="1898" spc="-7" dirty="0">
                <a:latin typeface="Georgia"/>
                <a:cs typeface="Georgia"/>
              </a:rPr>
              <a:t>input</a:t>
            </a:r>
            <a:endParaRPr sz="1898">
              <a:latin typeface="Georgia"/>
              <a:cs typeface="Georgia"/>
            </a:endParaRPr>
          </a:p>
        </p:txBody>
      </p:sp>
      <p:grpSp>
        <p:nvGrpSpPr>
          <p:cNvPr id="5" name="object 5"/>
          <p:cNvGrpSpPr/>
          <p:nvPr/>
        </p:nvGrpSpPr>
        <p:grpSpPr>
          <a:xfrm>
            <a:off x="4016590" y="4836467"/>
            <a:ext cx="4298305" cy="1387673"/>
            <a:chOff x="3545016" y="6878530"/>
            <a:chExt cx="6113145" cy="1973580"/>
          </a:xfrm>
        </p:grpSpPr>
        <p:pic>
          <p:nvPicPr>
            <p:cNvPr id="6" name="object 6"/>
            <p:cNvPicPr/>
            <p:nvPr/>
          </p:nvPicPr>
          <p:blipFill>
            <a:blip r:embed="rId3" cstate="print"/>
            <a:stretch>
              <a:fillRect/>
            </a:stretch>
          </p:blipFill>
          <p:spPr>
            <a:xfrm>
              <a:off x="3545016" y="6878530"/>
              <a:ext cx="6112611" cy="1485704"/>
            </a:xfrm>
            <a:prstGeom prst="rect">
              <a:avLst/>
            </a:prstGeom>
          </p:spPr>
        </p:pic>
        <p:sp>
          <p:nvSpPr>
            <p:cNvPr id="7" name="object 7"/>
            <p:cNvSpPr/>
            <p:nvPr/>
          </p:nvSpPr>
          <p:spPr>
            <a:xfrm>
              <a:off x="7423301" y="8543940"/>
              <a:ext cx="0" cy="289560"/>
            </a:xfrm>
            <a:custGeom>
              <a:avLst/>
              <a:gdLst/>
              <a:ahLst/>
              <a:cxnLst/>
              <a:rect l="l" t="t" r="r" b="b"/>
              <a:pathLst>
                <a:path h="289559">
                  <a:moveTo>
                    <a:pt x="0" y="289029"/>
                  </a:moveTo>
                  <a:lnTo>
                    <a:pt x="0" y="19049"/>
                  </a:lnTo>
                  <a:lnTo>
                    <a:pt x="0" y="0"/>
                  </a:lnTo>
                </a:path>
              </a:pathLst>
            </a:custGeom>
            <a:ln w="38100">
              <a:solidFill>
                <a:srgbClr val="941100"/>
              </a:solidFill>
            </a:ln>
          </p:spPr>
          <p:txBody>
            <a:bodyPr wrap="square" lIns="0" tIns="0" rIns="0" bIns="0" rtlCol="0"/>
            <a:lstStyle/>
            <a:p>
              <a:endParaRPr/>
            </a:p>
          </p:txBody>
        </p:sp>
        <p:sp>
          <p:nvSpPr>
            <p:cNvPr id="8" name="object 8"/>
            <p:cNvSpPr/>
            <p:nvPr/>
          </p:nvSpPr>
          <p:spPr>
            <a:xfrm>
              <a:off x="7339481" y="8395350"/>
              <a:ext cx="167640" cy="167640"/>
            </a:xfrm>
            <a:custGeom>
              <a:avLst/>
              <a:gdLst/>
              <a:ahLst/>
              <a:cxnLst/>
              <a:rect l="l" t="t" r="r" b="b"/>
              <a:pathLst>
                <a:path w="167640" h="167640">
                  <a:moveTo>
                    <a:pt x="83820" y="0"/>
                  </a:moveTo>
                  <a:lnTo>
                    <a:pt x="0" y="167639"/>
                  </a:lnTo>
                  <a:lnTo>
                    <a:pt x="167640" y="167639"/>
                  </a:lnTo>
                  <a:lnTo>
                    <a:pt x="83820" y="0"/>
                  </a:lnTo>
                  <a:close/>
                </a:path>
              </a:pathLst>
            </a:custGeom>
            <a:solidFill>
              <a:srgbClr val="941100"/>
            </a:solidFill>
          </p:spPr>
          <p:txBody>
            <a:bodyPr wrap="square" lIns="0" tIns="0" rIns="0" bIns="0" rtlCol="0"/>
            <a:lstStyle/>
            <a:p>
              <a:endParaRPr/>
            </a:p>
          </p:txBody>
        </p:sp>
      </p:grpSp>
      <p:sp>
        <p:nvSpPr>
          <p:cNvPr id="9" name="object 9"/>
          <p:cNvSpPr txBox="1"/>
          <p:nvPr/>
        </p:nvSpPr>
        <p:spPr>
          <a:xfrm>
            <a:off x="8096250" y="6070759"/>
            <a:ext cx="874663" cy="308967"/>
          </a:xfrm>
          <a:prstGeom prst="rect">
            <a:avLst/>
          </a:prstGeom>
        </p:spPr>
        <p:txBody>
          <a:bodyPr vert="horz" wrap="square" lIns="0" tIns="10268" rIns="0" bIns="0" rtlCol="0">
            <a:spAutoFit/>
          </a:bodyPr>
          <a:lstStyle/>
          <a:p>
            <a:pPr marL="8929">
              <a:lnSpc>
                <a:spcPct val="100000"/>
              </a:lnSpc>
              <a:spcBef>
                <a:spcPts val="80"/>
              </a:spcBef>
            </a:pPr>
            <a:r>
              <a:rPr sz="1898" spc="-7" dirty="0">
                <a:latin typeface="Georgia"/>
                <a:cs typeface="Georgia"/>
              </a:rPr>
              <a:t>softmax</a:t>
            </a:r>
            <a:endParaRPr sz="1898">
              <a:latin typeface="Georgia"/>
              <a:cs typeface="Georgia"/>
            </a:endParaRPr>
          </a:p>
        </p:txBody>
      </p:sp>
      <p:grpSp>
        <p:nvGrpSpPr>
          <p:cNvPr id="10" name="object 10"/>
          <p:cNvGrpSpPr/>
          <p:nvPr/>
        </p:nvGrpSpPr>
        <p:grpSpPr>
          <a:xfrm>
            <a:off x="3720996" y="4812013"/>
            <a:ext cx="4654153" cy="1304627"/>
            <a:chOff x="3124616" y="6843752"/>
            <a:chExt cx="6619240" cy="1855470"/>
          </a:xfrm>
        </p:grpSpPr>
        <p:sp>
          <p:nvSpPr>
            <p:cNvPr id="11" name="object 11"/>
            <p:cNvSpPr/>
            <p:nvPr/>
          </p:nvSpPr>
          <p:spPr>
            <a:xfrm>
              <a:off x="9360041" y="8469546"/>
              <a:ext cx="364490" cy="210185"/>
            </a:xfrm>
            <a:custGeom>
              <a:avLst/>
              <a:gdLst/>
              <a:ahLst/>
              <a:cxnLst/>
              <a:rect l="l" t="t" r="r" b="b"/>
              <a:pathLst>
                <a:path w="364490" h="210184">
                  <a:moveTo>
                    <a:pt x="364408" y="210020"/>
                  </a:moveTo>
                  <a:lnTo>
                    <a:pt x="16505" y="9512"/>
                  </a:lnTo>
                  <a:lnTo>
                    <a:pt x="0" y="0"/>
                  </a:lnTo>
                </a:path>
              </a:pathLst>
            </a:custGeom>
            <a:ln w="38100">
              <a:solidFill>
                <a:srgbClr val="941100"/>
              </a:solidFill>
            </a:ln>
          </p:spPr>
          <p:txBody>
            <a:bodyPr wrap="square" lIns="0" tIns="0" rIns="0" bIns="0" rtlCol="0"/>
            <a:lstStyle/>
            <a:p>
              <a:endParaRPr/>
            </a:p>
          </p:txBody>
        </p:sp>
        <p:sp>
          <p:nvSpPr>
            <p:cNvPr id="12" name="object 12"/>
            <p:cNvSpPr/>
            <p:nvPr/>
          </p:nvSpPr>
          <p:spPr>
            <a:xfrm>
              <a:off x="9231301" y="8395349"/>
              <a:ext cx="187325" cy="156845"/>
            </a:xfrm>
            <a:custGeom>
              <a:avLst/>
              <a:gdLst/>
              <a:ahLst/>
              <a:cxnLst/>
              <a:rect l="l" t="t" r="r" b="b"/>
              <a:pathLst>
                <a:path w="187325" h="156845">
                  <a:moveTo>
                    <a:pt x="0" y="0"/>
                  </a:moveTo>
                  <a:lnTo>
                    <a:pt x="103390" y="156331"/>
                  </a:lnTo>
                  <a:lnTo>
                    <a:pt x="187098" y="11087"/>
                  </a:lnTo>
                  <a:lnTo>
                    <a:pt x="0" y="0"/>
                  </a:lnTo>
                  <a:close/>
                </a:path>
              </a:pathLst>
            </a:custGeom>
            <a:solidFill>
              <a:srgbClr val="941100"/>
            </a:solidFill>
          </p:spPr>
          <p:txBody>
            <a:bodyPr wrap="square" lIns="0" tIns="0" rIns="0" bIns="0" rtlCol="0"/>
            <a:lstStyle/>
            <a:p>
              <a:endParaRPr/>
            </a:p>
          </p:txBody>
        </p:sp>
        <p:sp>
          <p:nvSpPr>
            <p:cNvPr id="13" name="object 13"/>
            <p:cNvSpPr/>
            <p:nvPr/>
          </p:nvSpPr>
          <p:spPr>
            <a:xfrm>
              <a:off x="3124616" y="6927572"/>
              <a:ext cx="309880" cy="0"/>
            </a:xfrm>
            <a:custGeom>
              <a:avLst/>
              <a:gdLst/>
              <a:ahLst/>
              <a:cxnLst/>
              <a:rect l="l" t="t" r="r" b="b"/>
              <a:pathLst>
                <a:path w="309879">
                  <a:moveTo>
                    <a:pt x="0" y="0"/>
                  </a:moveTo>
                  <a:lnTo>
                    <a:pt x="290672" y="0"/>
                  </a:lnTo>
                  <a:lnTo>
                    <a:pt x="309722" y="0"/>
                  </a:lnTo>
                </a:path>
              </a:pathLst>
            </a:custGeom>
            <a:ln w="38100">
              <a:solidFill>
                <a:srgbClr val="919191"/>
              </a:solidFill>
            </a:ln>
          </p:spPr>
          <p:txBody>
            <a:bodyPr wrap="square" lIns="0" tIns="0" rIns="0" bIns="0" rtlCol="0"/>
            <a:lstStyle/>
            <a:p>
              <a:endParaRPr/>
            </a:p>
          </p:txBody>
        </p:sp>
        <p:sp>
          <p:nvSpPr>
            <p:cNvPr id="14" name="object 14"/>
            <p:cNvSpPr/>
            <p:nvPr/>
          </p:nvSpPr>
          <p:spPr>
            <a:xfrm>
              <a:off x="3415289" y="6843752"/>
              <a:ext cx="167640" cy="167640"/>
            </a:xfrm>
            <a:custGeom>
              <a:avLst/>
              <a:gdLst/>
              <a:ahLst/>
              <a:cxnLst/>
              <a:rect l="l" t="t" r="r" b="b"/>
              <a:pathLst>
                <a:path w="167639" h="167640">
                  <a:moveTo>
                    <a:pt x="0" y="0"/>
                  </a:moveTo>
                  <a:lnTo>
                    <a:pt x="0" y="167640"/>
                  </a:lnTo>
                  <a:lnTo>
                    <a:pt x="167640" y="83819"/>
                  </a:lnTo>
                  <a:lnTo>
                    <a:pt x="0" y="0"/>
                  </a:lnTo>
                  <a:close/>
                </a:path>
              </a:pathLst>
            </a:custGeom>
            <a:solidFill>
              <a:srgbClr val="919191"/>
            </a:solidFill>
          </p:spPr>
          <p:txBody>
            <a:bodyPr wrap="square" lIns="0" tIns="0" rIns="0" bIns="0" rtlCol="0"/>
            <a:lstStyle/>
            <a:p>
              <a:endParaRPr/>
            </a:p>
          </p:txBody>
        </p:sp>
      </p:grpSp>
      <p:sp>
        <p:nvSpPr>
          <p:cNvPr id="15" name="object 15"/>
          <p:cNvSpPr txBox="1"/>
          <p:nvPr/>
        </p:nvSpPr>
        <p:spPr>
          <a:xfrm>
            <a:off x="2390180" y="4639508"/>
            <a:ext cx="1177826" cy="442466"/>
          </a:xfrm>
          <a:prstGeom prst="rect">
            <a:avLst/>
          </a:prstGeom>
        </p:spPr>
        <p:txBody>
          <a:bodyPr vert="horz" wrap="square" lIns="0" tIns="26789" rIns="0" bIns="0" rtlCol="0">
            <a:spAutoFit/>
          </a:bodyPr>
          <a:lstStyle/>
          <a:p>
            <a:pPr marL="241093" marR="3572" indent="-232164">
              <a:lnSpc>
                <a:spcPts val="1617"/>
              </a:lnSpc>
              <a:spcBef>
                <a:spcPts val="211"/>
              </a:spcBef>
            </a:pPr>
            <a:r>
              <a:rPr sz="1441" dirty="0">
                <a:latin typeface="Georgia"/>
                <a:cs typeface="Georgia"/>
              </a:rPr>
              <a:t>#</a:t>
            </a:r>
            <a:r>
              <a:rPr sz="1441" spc="-21" dirty="0">
                <a:latin typeface="Georgia"/>
                <a:cs typeface="Georgia"/>
              </a:rPr>
              <a:t> </a:t>
            </a:r>
            <a:r>
              <a:rPr sz="1441" dirty="0">
                <a:latin typeface="Georgia"/>
                <a:cs typeface="Georgia"/>
              </a:rPr>
              <a:t>words</a:t>
            </a:r>
            <a:r>
              <a:rPr sz="1441" spc="-18" dirty="0">
                <a:latin typeface="Georgia"/>
                <a:cs typeface="Georgia"/>
              </a:rPr>
              <a:t> </a:t>
            </a:r>
            <a:r>
              <a:rPr sz="1441" dirty="0">
                <a:latin typeface="Georgia"/>
                <a:cs typeface="Georgia"/>
              </a:rPr>
              <a:t>in</a:t>
            </a:r>
            <a:r>
              <a:rPr sz="1441" spc="-18" dirty="0">
                <a:latin typeface="Georgia"/>
                <a:cs typeface="Georgia"/>
              </a:rPr>
              <a:t> the </a:t>
            </a:r>
            <a:r>
              <a:rPr sz="1441" spc="-7" dirty="0">
                <a:latin typeface="Georgia"/>
                <a:cs typeface="Georgia"/>
              </a:rPr>
              <a:t>sentence</a:t>
            </a:r>
            <a:endParaRPr sz="1441">
              <a:latin typeface="Georgia"/>
              <a:cs typeface="Georgi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5289" y="939738"/>
            <a:ext cx="5669459" cy="596503"/>
          </a:xfrm>
          <a:prstGeom prst="rect">
            <a:avLst/>
          </a:prstGeom>
        </p:spPr>
        <p:txBody>
          <a:bodyPr vert="horz" wrap="square" lIns="0" tIns="8930" rIns="0" bIns="0" rtlCol="0">
            <a:spAutoFit/>
          </a:bodyPr>
          <a:lstStyle/>
          <a:p>
            <a:pPr marL="8929">
              <a:lnSpc>
                <a:spcPct val="100000"/>
              </a:lnSpc>
              <a:spcBef>
                <a:spcPts val="70"/>
              </a:spcBef>
              <a:tabLst>
                <a:tab pos="1262613" algn="l"/>
                <a:tab pos="1808644" algn="l"/>
              </a:tabLst>
            </a:pPr>
            <a:r>
              <a:rPr spc="-299" dirty="0"/>
              <a:t>ELMo</a:t>
            </a:r>
            <a:r>
              <a:rPr dirty="0"/>
              <a:t>	</a:t>
            </a:r>
            <a:r>
              <a:rPr spc="-18" dirty="0"/>
              <a:t>!=</a:t>
            </a:r>
            <a:r>
              <a:rPr dirty="0"/>
              <a:t>	</a:t>
            </a:r>
            <a:r>
              <a:rPr spc="-102" dirty="0"/>
              <a:t>bidirectional</a:t>
            </a:r>
            <a:r>
              <a:rPr spc="-105" dirty="0"/>
              <a:t> </a:t>
            </a:r>
            <a:r>
              <a:rPr spc="-358" dirty="0"/>
              <a:t>LSTMs</a:t>
            </a:r>
          </a:p>
        </p:txBody>
      </p:sp>
      <p:sp>
        <p:nvSpPr>
          <p:cNvPr id="3" name="object 3"/>
          <p:cNvSpPr txBox="1"/>
          <p:nvPr/>
        </p:nvSpPr>
        <p:spPr>
          <a:xfrm>
            <a:off x="2202657" y="1530548"/>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
        <p:nvSpPr>
          <p:cNvPr id="4" name="object 4"/>
          <p:cNvSpPr txBox="1"/>
          <p:nvPr/>
        </p:nvSpPr>
        <p:spPr>
          <a:xfrm>
            <a:off x="2515196" y="1598414"/>
            <a:ext cx="4993035" cy="317897"/>
          </a:xfrm>
          <a:prstGeom prst="rect">
            <a:avLst/>
          </a:prstGeom>
        </p:spPr>
        <p:txBody>
          <a:bodyPr vert="horz" wrap="square" lIns="0" tIns="8930" rIns="0" bIns="0" rtlCol="0">
            <a:spAutoFit/>
          </a:bodyPr>
          <a:lstStyle/>
          <a:p>
            <a:pPr marL="8929">
              <a:lnSpc>
                <a:spcPct val="100000"/>
              </a:lnSpc>
              <a:spcBef>
                <a:spcPts val="70"/>
              </a:spcBef>
            </a:pPr>
            <a:r>
              <a:rPr sz="1969" dirty="0">
                <a:latin typeface="Georgia"/>
                <a:cs typeface="Georgia"/>
              </a:rPr>
              <a:t>Essentially</a:t>
            </a:r>
            <a:r>
              <a:rPr sz="1969" spc="-39" dirty="0">
                <a:latin typeface="Georgia"/>
                <a:cs typeface="Georgia"/>
              </a:rPr>
              <a:t> </a:t>
            </a:r>
            <a:r>
              <a:rPr sz="1969" dirty="0">
                <a:latin typeface="Georgia"/>
                <a:cs typeface="Georgia"/>
              </a:rPr>
              <a:t>two</a:t>
            </a:r>
            <a:r>
              <a:rPr sz="1969" spc="-39" dirty="0">
                <a:latin typeface="Georgia"/>
                <a:cs typeface="Georgia"/>
              </a:rPr>
              <a:t> </a:t>
            </a:r>
            <a:r>
              <a:rPr sz="1969" dirty="0">
                <a:latin typeface="Georgia"/>
                <a:cs typeface="Georgia"/>
              </a:rPr>
              <a:t>LSTMs</a:t>
            </a:r>
            <a:r>
              <a:rPr sz="1969" spc="-39" dirty="0">
                <a:latin typeface="Georgia"/>
                <a:cs typeface="Georgia"/>
              </a:rPr>
              <a:t> </a:t>
            </a:r>
            <a:r>
              <a:rPr sz="1969" dirty="0">
                <a:latin typeface="Georgia"/>
                <a:cs typeface="Georgia"/>
              </a:rPr>
              <a:t>in</a:t>
            </a:r>
            <a:r>
              <a:rPr sz="1969" spc="-39" dirty="0">
                <a:latin typeface="Georgia"/>
                <a:cs typeface="Georgia"/>
              </a:rPr>
              <a:t> </a:t>
            </a:r>
            <a:r>
              <a:rPr sz="1969" dirty="0">
                <a:latin typeface="Georgia"/>
                <a:cs typeface="Georgia"/>
              </a:rPr>
              <a:t>different</a:t>
            </a:r>
            <a:r>
              <a:rPr sz="1969" spc="-42" dirty="0">
                <a:latin typeface="Georgia"/>
                <a:cs typeface="Georgia"/>
              </a:rPr>
              <a:t> </a:t>
            </a:r>
            <a:r>
              <a:rPr sz="1969" spc="-7" dirty="0">
                <a:latin typeface="Georgia"/>
                <a:cs typeface="Georgia"/>
              </a:rPr>
              <a:t>directions</a:t>
            </a:r>
            <a:endParaRPr sz="1969">
              <a:latin typeface="Georgia"/>
              <a:cs typeface="Georgia"/>
            </a:endParaRPr>
          </a:p>
        </p:txBody>
      </p:sp>
      <p:pic>
        <p:nvPicPr>
          <p:cNvPr id="5" name="object 5"/>
          <p:cNvPicPr/>
          <p:nvPr/>
        </p:nvPicPr>
        <p:blipFill>
          <a:blip r:embed="rId2" cstate="print"/>
          <a:stretch>
            <a:fillRect/>
          </a:stretch>
        </p:blipFill>
        <p:spPr>
          <a:xfrm>
            <a:off x="4412311" y="2624515"/>
            <a:ext cx="4708743" cy="283260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60949" y="1726974"/>
            <a:ext cx="4568799" cy="832536"/>
          </a:xfrm>
          <a:prstGeom prst="rect">
            <a:avLst/>
          </a:prstGeom>
        </p:spPr>
      </p:pic>
      <p:sp>
        <p:nvSpPr>
          <p:cNvPr id="3" name="object 3"/>
          <p:cNvSpPr txBox="1">
            <a:spLocks noGrp="1"/>
          </p:cNvSpPr>
          <p:nvPr>
            <p:ph type="title"/>
          </p:nvPr>
        </p:nvSpPr>
        <p:spPr>
          <a:xfrm>
            <a:off x="4220766" y="440488"/>
            <a:ext cx="4167932" cy="1163538"/>
          </a:xfrm>
          <a:prstGeom prst="rect">
            <a:avLst/>
          </a:prstGeom>
        </p:spPr>
        <p:txBody>
          <a:bodyPr vert="horz" wrap="square" lIns="0" tIns="184398" rIns="0" bIns="0" rtlCol="0">
            <a:spAutoFit/>
          </a:bodyPr>
          <a:lstStyle/>
          <a:p>
            <a:pPr marL="8929">
              <a:lnSpc>
                <a:spcPct val="100000"/>
              </a:lnSpc>
              <a:spcBef>
                <a:spcPts val="1452"/>
              </a:spcBef>
              <a:tabLst>
                <a:tab pos="1663095" algn="l"/>
              </a:tabLst>
            </a:pPr>
            <a:r>
              <a:rPr dirty="0"/>
              <a:t>How</a:t>
            </a:r>
            <a:r>
              <a:rPr spc="-70" dirty="0"/>
              <a:t> </a:t>
            </a:r>
            <a:r>
              <a:rPr spc="77" dirty="0"/>
              <a:t>to</a:t>
            </a:r>
            <a:r>
              <a:rPr dirty="0"/>
              <a:t>	</a:t>
            </a:r>
            <a:r>
              <a:rPr spc="-327" dirty="0"/>
              <a:t>use</a:t>
            </a:r>
            <a:r>
              <a:rPr dirty="0"/>
              <a:t> </a:t>
            </a:r>
            <a:r>
              <a:rPr spc="-408" dirty="0"/>
              <a:t>ELMo?</a:t>
            </a:r>
          </a:p>
          <a:p>
            <a:pPr marR="3572" algn="r">
              <a:lnSpc>
                <a:spcPct val="100000"/>
              </a:lnSpc>
              <a:spcBef>
                <a:spcPts val="716"/>
              </a:spcBef>
            </a:pPr>
            <a:r>
              <a:rPr sz="1969" dirty="0">
                <a:latin typeface="Georgia"/>
                <a:cs typeface="Georgia"/>
              </a:rPr>
              <a:t>#</a:t>
            </a:r>
            <a:r>
              <a:rPr sz="1969" spc="-14" dirty="0">
                <a:latin typeface="Georgia"/>
                <a:cs typeface="Georgia"/>
              </a:rPr>
              <a:t> </a:t>
            </a:r>
            <a:r>
              <a:rPr sz="1969" dirty="0">
                <a:latin typeface="Georgia"/>
                <a:cs typeface="Georgia"/>
              </a:rPr>
              <a:t>of</a:t>
            </a:r>
            <a:r>
              <a:rPr sz="1969" spc="-14" dirty="0">
                <a:latin typeface="Georgia"/>
                <a:cs typeface="Georgia"/>
              </a:rPr>
              <a:t> </a:t>
            </a:r>
            <a:r>
              <a:rPr sz="1969" spc="-7" dirty="0">
                <a:latin typeface="Georgia"/>
                <a:cs typeface="Georgia"/>
              </a:rPr>
              <a:t>layers</a:t>
            </a:r>
            <a:endParaRPr sz="1969">
              <a:latin typeface="Georgia"/>
              <a:cs typeface="Georgia"/>
            </a:endParaRPr>
          </a:p>
        </p:txBody>
      </p:sp>
      <p:grpSp>
        <p:nvGrpSpPr>
          <p:cNvPr id="4" name="object 4"/>
          <p:cNvGrpSpPr/>
          <p:nvPr/>
        </p:nvGrpSpPr>
        <p:grpSpPr>
          <a:xfrm>
            <a:off x="3671244" y="3770918"/>
            <a:ext cx="4719786" cy="862608"/>
            <a:chOff x="3053859" y="5363084"/>
            <a:chExt cx="6712584" cy="1226820"/>
          </a:xfrm>
        </p:grpSpPr>
        <p:pic>
          <p:nvPicPr>
            <p:cNvPr id="5" name="object 5"/>
            <p:cNvPicPr/>
            <p:nvPr/>
          </p:nvPicPr>
          <p:blipFill>
            <a:blip r:embed="rId3" cstate="print"/>
            <a:stretch>
              <a:fillRect/>
            </a:stretch>
          </p:blipFill>
          <p:spPr>
            <a:xfrm>
              <a:off x="3197245" y="5464866"/>
              <a:ext cx="6468058" cy="975414"/>
            </a:xfrm>
            <a:prstGeom prst="rect">
              <a:avLst/>
            </a:prstGeom>
          </p:spPr>
        </p:pic>
        <p:sp>
          <p:nvSpPr>
            <p:cNvPr id="6" name="object 6"/>
            <p:cNvSpPr/>
            <p:nvPr/>
          </p:nvSpPr>
          <p:spPr>
            <a:xfrm>
              <a:off x="3072909" y="5382134"/>
              <a:ext cx="6674484" cy="1188720"/>
            </a:xfrm>
            <a:custGeom>
              <a:avLst/>
              <a:gdLst/>
              <a:ahLst/>
              <a:cxnLst/>
              <a:rect l="l" t="t" r="r" b="b"/>
              <a:pathLst>
                <a:path w="6674484" h="1188720">
                  <a:moveTo>
                    <a:pt x="0" y="0"/>
                  </a:moveTo>
                  <a:lnTo>
                    <a:pt x="6674238" y="0"/>
                  </a:lnTo>
                  <a:lnTo>
                    <a:pt x="6674238" y="1188303"/>
                  </a:lnTo>
                  <a:lnTo>
                    <a:pt x="0" y="1188303"/>
                  </a:lnTo>
                  <a:lnTo>
                    <a:pt x="0" y="0"/>
                  </a:lnTo>
                  <a:close/>
                </a:path>
              </a:pathLst>
            </a:custGeom>
            <a:ln w="38100">
              <a:solidFill>
                <a:srgbClr val="919191"/>
              </a:solidFill>
            </a:ln>
          </p:spPr>
          <p:txBody>
            <a:bodyPr wrap="square" lIns="0" tIns="0" rIns="0" bIns="0" rtlCol="0"/>
            <a:lstStyle/>
            <a:p>
              <a:endParaRPr/>
            </a:p>
          </p:txBody>
        </p:sp>
      </p:grpSp>
      <p:sp>
        <p:nvSpPr>
          <p:cNvPr id="7" name="object 7"/>
          <p:cNvSpPr/>
          <p:nvPr/>
        </p:nvSpPr>
        <p:spPr>
          <a:xfrm>
            <a:off x="4512142" y="2914859"/>
            <a:ext cx="200471" cy="100013"/>
          </a:xfrm>
          <a:custGeom>
            <a:avLst/>
            <a:gdLst/>
            <a:ahLst/>
            <a:cxnLst/>
            <a:rect l="l" t="t" r="r" b="b"/>
            <a:pathLst>
              <a:path w="285114" h="142239">
                <a:moveTo>
                  <a:pt x="198951" y="0"/>
                </a:moveTo>
                <a:lnTo>
                  <a:pt x="191703" y="6884"/>
                </a:lnTo>
                <a:lnTo>
                  <a:pt x="198232" y="15939"/>
                </a:lnTo>
                <a:lnTo>
                  <a:pt x="205610" y="24959"/>
                </a:lnTo>
                <a:lnTo>
                  <a:pt x="213463" y="33639"/>
                </a:lnTo>
                <a:lnTo>
                  <a:pt x="225044" y="45298"/>
                </a:lnTo>
                <a:lnTo>
                  <a:pt x="226493" y="47472"/>
                </a:lnTo>
                <a:lnTo>
                  <a:pt x="226493" y="54358"/>
                </a:lnTo>
                <a:lnTo>
                  <a:pt x="220695" y="58707"/>
                </a:lnTo>
                <a:lnTo>
                  <a:pt x="0" y="58707"/>
                </a:lnTo>
                <a:lnTo>
                  <a:pt x="0" y="82624"/>
                </a:lnTo>
                <a:lnTo>
                  <a:pt x="223231" y="82624"/>
                </a:lnTo>
                <a:lnTo>
                  <a:pt x="226131" y="86248"/>
                </a:lnTo>
                <a:lnTo>
                  <a:pt x="226131" y="92770"/>
                </a:lnTo>
                <a:lnTo>
                  <a:pt x="224318" y="96757"/>
                </a:lnTo>
                <a:lnTo>
                  <a:pt x="212999" y="108512"/>
                </a:lnTo>
                <a:lnTo>
                  <a:pt x="205247" y="117142"/>
                </a:lnTo>
                <a:lnTo>
                  <a:pt x="197971" y="125907"/>
                </a:lnTo>
                <a:lnTo>
                  <a:pt x="191342" y="134809"/>
                </a:lnTo>
                <a:lnTo>
                  <a:pt x="198588" y="141693"/>
                </a:lnTo>
                <a:lnTo>
                  <a:pt x="217263" y="121349"/>
                </a:lnTo>
                <a:lnTo>
                  <a:pt x="237636" y="102329"/>
                </a:lnTo>
                <a:lnTo>
                  <a:pt x="260048" y="85687"/>
                </a:lnTo>
                <a:lnTo>
                  <a:pt x="284838" y="72477"/>
                </a:lnTo>
                <a:lnTo>
                  <a:pt x="284838" y="68854"/>
                </a:lnTo>
                <a:lnTo>
                  <a:pt x="260054" y="55802"/>
                </a:lnTo>
                <a:lnTo>
                  <a:pt x="237682" y="39183"/>
                </a:lnTo>
                <a:lnTo>
                  <a:pt x="217416" y="20186"/>
                </a:lnTo>
                <a:lnTo>
                  <a:pt x="198951" y="0"/>
                </a:lnTo>
                <a:close/>
              </a:path>
            </a:pathLst>
          </a:custGeom>
          <a:solidFill>
            <a:srgbClr val="000000"/>
          </a:solidFill>
        </p:spPr>
        <p:txBody>
          <a:bodyPr wrap="square" lIns="0" tIns="0" rIns="0" bIns="0" rtlCol="0"/>
          <a:lstStyle/>
          <a:p>
            <a:endParaRPr/>
          </a:p>
        </p:txBody>
      </p:sp>
      <p:sp>
        <p:nvSpPr>
          <p:cNvPr id="8" name="object 8"/>
          <p:cNvSpPr/>
          <p:nvPr/>
        </p:nvSpPr>
        <p:spPr>
          <a:xfrm>
            <a:off x="5081812" y="2914859"/>
            <a:ext cx="200471" cy="100013"/>
          </a:xfrm>
          <a:custGeom>
            <a:avLst/>
            <a:gdLst/>
            <a:ahLst/>
            <a:cxnLst/>
            <a:rect l="l" t="t" r="r" b="b"/>
            <a:pathLst>
              <a:path w="285114" h="142239">
                <a:moveTo>
                  <a:pt x="86248" y="0"/>
                </a:moveTo>
                <a:lnTo>
                  <a:pt x="67573" y="20344"/>
                </a:lnTo>
                <a:lnTo>
                  <a:pt x="47200" y="39364"/>
                </a:lnTo>
                <a:lnTo>
                  <a:pt x="24789" y="56006"/>
                </a:lnTo>
                <a:lnTo>
                  <a:pt x="0" y="69216"/>
                </a:lnTo>
                <a:lnTo>
                  <a:pt x="0" y="72839"/>
                </a:lnTo>
                <a:lnTo>
                  <a:pt x="24783" y="85891"/>
                </a:lnTo>
                <a:lnTo>
                  <a:pt x="47155" y="102510"/>
                </a:lnTo>
                <a:lnTo>
                  <a:pt x="67421" y="121507"/>
                </a:lnTo>
                <a:lnTo>
                  <a:pt x="85886" y="141693"/>
                </a:lnTo>
                <a:lnTo>
                  <a:pt x="93134" y="134809"/>
                </a:lnTo>
                <a:lnTo>
                  <a:pt x="86605" y="125754"/>
                </a:lnTo>
                <a:lnTo>
                  <a:pt x="79226" y="116734"/>
                </a:lnTo>
                <a:lnTo>
                  <a:pt x="71373" y="108053"/>
                </a:lnTo>
                <a:lnTo>
                  <a:pt x="59794" y="96395"/>
                </a:lnTo>
                <a:lnTo>
                  <a:pt x="58343" y="94221"/>
                </a:lnTo>
                <a:lnTo>
                  <a:pt x="58343" y="87335"/>
                </a:lnTo>
                <a:lnTo>
                  <a:pt x="64142" y="82986"/>
                </a:lnTo>
                <a:lnTo>
                  <a:pt x="284836" y="82986"/>
                </a:lnTo>
                <a:lnTo>
                  <a:pt x="284836" y="59068"/>
                </a:lnTo>
                <a:lnTo>
                  <a:pt x="61605" y="59068"/>
                </a:lnTo>
                <a:lnTo>
                  <a:pt x="58707" y="55445"/>
                </a:lnTo>
                <a:lnTo>
                  <a:pt x="58707" y="48922"/>
                </a:lnTo>
                <a:lnTo>
                  <a:pt x="60518" y="44936"/>
                </a:lnTo>
                <a:lnTo>
                  <a:pt x="71837" y="33181"/>
                </a:lnTo>
                <a:lnTo>
                  <a:pt x="79589" y="24551"/>
                </a:lnTo>
                <a:lnTo>
                  <a:pt x="86865" y="15786"/>
                </a:lnTo>
                <a:lnTo>
                  <a:pt x="93496" y="6884"/>
                </a:lnTo>
                <a:lnTo>
                  <a:pt x="86248" y="0"/>
                </a:lnTo>
                <a:close/>
              </a:path>
            </a:pathLst>
          </a:custGeom>
          <a:solidFill>
            <a:srgbClr val="000000"/>
          </a:solidFill>
        </p:spPr>
        <p:txBody>
          <a:bodyPr wrap="square" lIns="0" tIns="0" rIns="0" bIns="0" rtlCol="0"/>
          <a:lstStyle/>
          <a:p>
            <a:endParaRPr/>
          </a:p>
        </p:txBody>
      </p:sp>
      <p:sp>
        <p:nvSpPr>
          <p:cNvPr id="9" name="object 9"/>
          <p:cNvSpPr txBox="1"/>
          <p:nvPr/>
        </p:nvSpPr>
        <p:spPr>
          <a:xfrm>
            <a:off x="2490671" y="2943580"/>
            <a:ext cx="3201739" cy="389781"/>
          </a:xfrm>
          <a:prstGeom prst="rect">
            <a:avLst/>
          </a:prstGeom>
        </p:spPr>
        <p:txBody>
          <a:bodyPr vert="horz" wrap="square" lIns="0" tIns="8930" rIns="0" bIns="0" rtlCol="0">
            <a:spAutoFit/>
          </a:bodyPr>
          <a:lstStyle/>
          <a:p>
            <a:pPr algn="ctr">
              <a:lnSpc>
                <a:spcPts val="1818"/>
              </a:lnSpc>
              <a:spcBef>
                <a:spcPts val="70"/>
              </a:spcBef>
            </a:pPr>
            <a:r>
              <a:rPr sz="2004" b="1" dirty="0">
                <a:latin typeface="Times New Roman"/>
                <a:cs typeface="Times New Roman"/>
              </a:rPr>
              <a:t>h</a:t>
            </a:r>
            <a:r>
              <a:rPr sz="2109" i="1" baseline="29166" dirty="0">
                <a:latin typeface="Times New Roman"/>
                <a:cs typeface="Times New Roman"/>
              </a:rPr>
              <a:t>LM</a:t>
            </a:r>
            <a:r>
              <a:rPr sz="2109" i="1" spc="390" baseline="29166" dirty="0">
                <a:latin typeface="Times New Roman"/>
                <a:cs typeface="Times New Roman"/>
              </a:rPr>
              <a:t> </a:t>
            </a:r>
            <a:r>
              <a:rPr sz="2004" spc="264" dirty="0">
                <a:latin typeface="Cambria"/>
                <a:cs typeface="Cambria"/>
              </a:rPr>
              <a:t>=</a:t>
            </a:r>
            <a:r>
              <a:rPr sz="2004" spc="141" dirty="0">
                <a:latin typeface="Cambria"/>
                <a:cs typeface="Cambria"/>
              </a:rPr>
              <a:t> </a:t>
            </a:r>
            <a:r>
              <a:rPr sz="2004" b="1" spc="39" dirty="0">
                <a:latin typeface="Times New Roman"/>
                <a:cs typeface="Times New Roman"/>
              </a:rPr>
              <a:t>x</a:t>
            </a:r>
            <a:r>
              <a:rPr sz="2109" i="1" spc="58" baseline="29166" dirty="0">
                <a:latin typeface="Times New Roman"/>
                <a:cs typeface="Times New Roman"/>
              </a:rPr>
              <a:t>LM</a:t>
            </a:r>
            <a:r>
              <a:rPr sz="2004" spc="39" dirty="0">
                <a:latin typeface="Cambria"/>
                <a:cs typeface="Cambria"/>
              </a:rPr>
              <a:t>,</a:t>
            </a:r>
            <a:r>
              <a:rPr sz="2004" spc="-91" dirty="0">
                <a:latin typeface="Cambria"/>
                <a:cs typeface="Cambria"/>
              </a:rPr>
              <a:t> </a:t>
            </a:r>
            <a:r>
              <a:rPr sz="2004" b="1" dirty="0">
                <a:latin typeface="Times New Roman"/>
                <a:cs typeface="Times New Roman"/>
              </a:rPr>
              <a:t>h</a:t>
            </a:r>
            <a:r>
              <a:rPr sz="2109" i="1" baseline="29166" dirty="0">
                <a:latin typeface="Times New Roman"/>
                <a:cs typeface="Times New Roman"/>
              </a:rPr>
              <a:t>LM</a:t>
            </a:r>
            <a:r>
              <a:rPr sz="2109" i="1" spc="390" baseline="29166" dirty="0">
                <a:latin typeface="Times New Roman"/>
                <a:cs typeface="Times New Roman"/>
              </a:rPr>
              <a:t> </a:t>
            </a:r>
            <a:r>
              <a:rPr sz="2004" spc="264" dirty="0">
                <a:latin typeface="Cambria"/>
                <a:cs typeface="Cambria"/>
              </a:rPr>
              <a:t>=</a:t>
            </a:r>
            <a:r>
              <a:rPr sz="2004" spc="141" dirty="0">
                <a:latin typeface="Cambria"/>
                <a:cs typeface="Cambria"/>
              </a:rPr>
              <a:t> </a:t>
            </a:r>
            <a:r>
              <a:rPr sz="2004" spc="-35" dirty="0">
                <a:latin typeface="Cambria"/>
                <a:cs typeface="Cambria"/>
              </a:rPr>
              <a:t>[</a:t>
            </a:r>
            <a:r>
              <a:rPr sz="2004" spc="-200" dirty="0">
                <a:latin typeface="Cambria"/>
                <a:cs typeface="Cambria"/>
              </a:rPr>
              <a:t> </a:t>
            </a:r>
            <a:r>
              <a:rPr sz="2004" b="1" spc="-18" dirty="0">
                <a:latin typeface="Times New Roman"/>
                <a:cs typeface="Times New Roman"/>
              </a:rPr>
              <a:t>h</a:t>
            </a:r>
            <a:r>
              <a:rPr sz="2004" b="1" spc="-257" dirty="0">
                <a:latin typeface="Times New Roman"/>
                <a:cs typeface="Times New Roman"/>
              </a:rPr>
              <a:t> </a:t>
            </a:r>
            <a:r>
              <a:rPr sz="2109" i="1" baseline="29166" dirty="0">
                <a:latin typeface="Times New Roman"/>
                <a:cs typeface="Times New Roman"/>
              </a:rPr>
              <a:t>LM</a:t>
            </a:r>
            <a:r>
              <a:rPr sz="2004" dirty="0">
                <a:latin typeface="Cambria"/>
                <a:cs typeface="Cambria"/>
              </a:rPr>
              <a:t>;</a:t>
            </a:r>
            <a:r>
              <a:rPr sz="2004" spc="151" dirty="0">
                <a:latin typeface="Cambria"/>
                <a:cs typeface="Cambria"/>
              </a:rPr>
              <a:t> </a:t>
            </a:r>
            <a:r>
              <a:rPr sz="2004" b="1" spc="-18" dirty="0">
                <a:latin typeface="Times New Roman"/>
                <a:cs typeface="Times New Roman"/>
              </a:rPr>
              <a:t>h</a:t>
            </a:r>
            <a:r>
              <a:rPr sz="2004" b="1" spc="-264" dirty="0">
                <a:latin typeface="Times New Roman"/>
                <a:cs typeface="Times New Roman"/>
              </a:rPr>
              <a:t> </a:t>
            </a:r>
            <a:r>
              <a:rPr sz="2109" i="1" spc="-26" baseline="29166" dirty="0">
                <a:latin typeface="Times New Roman"/>
                <a:cs typeface="Times New Roman"/>
              </a:rPr>
              <a:t>LM</a:t>
            </a:r>
            <a:r>
              <a:rPr sz="2004" spc="-18" dirty="0">
                <a:latin typeface="Cambria"/>
                <a:cs typeface="Cambria"/>
              </a:rPr>
              <a:t>]</a:t>
            </a:r>
            <a:endParaRPr sz="2004">
              <a:latin typeface="Cambria"/>
              <a:cs typeface="Cambria"/>
            </a:endParaRPr>
          </a:p>
          <a:p>
            <a:pPr marR="10715" algn="ctr">
              <a:lnSpc>
                <a:spcPts val="1100"/>
              </a:lnSpc>
              <a:tabLst>
                <a:tab pos="703634" algn="l"/>
                <a:tab pos="1209482" algn="l"/>
                <a:tab pos="2070274" algn="l"/>
                <a:tab pos="2639968" algn="l"/>
              </a:tabLst>
            </a:pPr>
            <a:r>
              <a:rPr sz="1406" i="1" spc="-18" dirty="0">
                <a:latin typeface="Times New Roman"/>
                <a:cs typeface="Times New Roman"/>
              </a:rPr>
              <a:t>k</a:t>
            </a:r>
            <a:r>
              <a:rPr sz="1406" spc="-18" dirty="0">
                <a:latin typeface="Cambria"/>
                <a:cs typeface="Cambria"/>
              </a:rPr>
              <a:t>,0</a:t>
            </a:r>
            <a:r>
              <a:rPr sz="1406" dirty="0">
                <a:latin typeface="Cambria"/>
                <a:cs typeface="Cambria"/>
              </a:rPr>
              <a:t>	</a:t>
            </a:r>
            <a:r>
              <a:rPr sz="1406" i="1" spc="-35" dirty="0">
                <a:latin typeface="Times New Roman"/>
                <a:cs typeface="Times New Roman"/>
              </a:rPr>
              <a:t>k</a:t>
            </a:r>
            <a:r>
              <a:rPr sz="1406" i="1" dirty="0">
                <a:latin typeface="Times New Roman"/>
                <a:cs typeface="Times New Roman"/>
              </a:rPr>
              <a:t>	</a:t>
            </a:r>
            <a:r>
              <a:rPr sz="1406" i="1" spc="46" dirty="0">
                <a:latin typeface="Times New Roman"/>
                <a:cs typeface="Times New Roman"/>
              </a:rPr>
              <a:t>k</a:t>
            </a:r>
            <a:r>
              <a:rPr sz="1406" spc="46" dirty="0">
                <a:latin typeface="Cambria"/>
                <a:cs typeface="Cambria"/>
              </a:rPr>
              <a:t>,</a:t>
            </a:r>
            <a:r>
              <a:rPr sz="1406" i="1" spc="46" dirty="0">
                <a:latin typeface="Times New Roman"/>
                <a:cs typeface="Times New Roman"/>
              </a:rPr>
              <a:t>j</a:t>
            </a:r>
            <a:r>
              <a:rPr sz="1406" i="1" dirty="0">
                <a:latin typeface="Times New Roman"/>
                <a:cs typeface="Times New Roman"/>
              </a:rPr>
              <a:t>	</a:t>
            </a:r>
            <a:r>
              <a:rPr sz="1406" i="1" spc="46" dirty="0">
                <a:latin typeface="Times New Roman"/>
                <a:cs typeface="Times New Roman"/>
              </a:rPr>
              <a:t>k</a:t>
            </a:r>
            <a:r>
              <a:rPr sz="1406" spc="46" dirty="0">
                <a:latin typeface="Cambria"/>
                <a:cs typeface="Cambria"/>
              </a:rPr>
              <a:t>,</a:t>
            </a:r>
            <a:r>
              <a:rPr sz="1406" i="1" spc="46" dirty="0">
                <a:latin typeface="Times New Roman"/>
                <a:cs typeface="Times New Roman"/>
              </a:rPr>
              <a:t>j</a:t>
            </a:r>
            <a:r>
              <a:rPr sz="1406" i="1" dirty="0">
                <a:latin typeface="Times New Roman"/>
                <a:cs typeface="Times New Roman"/>
              </a:rPr>
              <a:t>	</a:t>
            </a:r>
            <a:r>
              <a:rPr sz="1406" i="1" spc="46" dirty="0">
                <a:latin typeface="Times New Roman"/>
                <a:cs typeface="Times New Roman"/>
              </a:rPr>
              <a:t>k</a:t>
            </a:r>
            <a:r>
              <a:rPr sz="1406" spc="46" dirty="0">
                <a:latin typeface="Cambria"/>
                <a:cs typeface="Cambria"/>
              </a:rPr>
              <a:t>,</a:t>
            </a:r>
            <a:r>
              <a:rPr sz="1406" i="1" spc="46" dirty="0">
                <a:latin typeface="Times New Roman"/>
                <a:cs typeface="Times New Roman"/>
              </a:rPr>
              <a:t>j</a:t>
            </a:r>
            <a:endParaRPr sz="1406">
              <a:latin typeface="Times New Roman"/>
              <a:cs typeface="Times New Roman"/>
            </a:endParaRPr>
          </a:p>
        </p:txBody>
      </p:sp>
      <p:grpSp>
        <p:nvGrpSpPr>
          <p:cNvPr id="10" name="object 10"/>
          <p:cNvGrpSpPr/>
          <p:nvPr/>
        </p:nvGrpSpPr>
        <p:grpSpPr>
          <a:xfrm>
            <a:off x="6909648" y="1542599"/>
            <a:ext cx="254943" cy="254943"/>
            <a:chOff x="7659588" y="2193919"/>
            <a:chExt cx="362585" cy="362585"/>
          </a:xfrm>
        </p:grpSpPr>
        <p:sp>
          <p:nvSpPr>
            <p:cNvPr id="11" name="object 11"/>
            <p:cNvSpPr/>
            <p:nvPr/>
          </p:nvSpPr>
          <p:spPr>
            <a:xfrm>
              <a:off x="7764657" y="2212969"/>
              <a:ext cx="238125" cy="238125"/>
            </a:xfrm>
            <a:custGeom>
              <a:avLst/>
              <a:gdLst/>
              <a:ahLst/>
              <a:cxnLst/>
              <a:rect l="l" t="t" r="r" b="b"/>
              <a:pathLst>
                <a:path w="238125" h="238125">
                  <a:moveTo>
                    <a:pt x="237935" y="0"/>
                  </a:moveTo>
                  <a:lnTo>
                    <a:pt x="13470" y="224464"/>
                  </a:lnTo>
                  <a:lnTo>
                    <a:pt x="0" y="237935"/>
                  </a:lnTo>
                </a:path>
              </a:pathLst>
            </a:custGeom>
            <a:ln w="38100">
              <a:solidFill>
                <a:srgbClr val="941100"/>
              </a:solidFill>
            </a:ln>
          </p:spPr>
          <p:txBody>
            <a:bodyPr wrap="square" lIns="0" tIns="0" rIns="0" bIns="0" rtlCol="0"/>
            <a:lstStyle/>
            <a:p>
              <a:endParaRPr/>
            </a:p>
          </p:txBody>
        </p:sp>
        <p:sp>
          <p:nvSpPr>
            <p:cNvPr id="12" name="object 12"/>
            <p:cNvSpPr/>
            <p:nvPr/>
          </p:nvSpPr>
          <p:spPr>
            <a:xfrm>
              <a:off x="7659588" y="2378165"/>
              <a:ext cx="178435" cy="178435"/>
            </a:xfrm>
            <a:custGeom>
              <a:avLst/>
              <a:gdLst/>
              <a:ahLst/>
              <a:cxnLst/>
              <a:rect l="l" t="t" r="r" b="b"/>
              <a:pathLst>
                <a:path w="178434" h="178435">
                  <a:moveTo>
                    <a:pt x="59269" y="0"/>
                  </a:moveTo>
                  <a:lnTo>
                    <a:pt x="0" y="177810"/>
                  </a:lnTo>
                  <a:lnTo>
                    <a:pt x="177808" y="118540"/>
                  </a:lnTo>
                  <a:lnTo>
                    <a:pt x="59269" y="0"/>
                  </a:lnTo>
                  <a:close/>
                </a:path>
              </a:pathLst>
            </a:custGeom>
            <a:solidFill>
              <a:srgbClr val="941100"/>
            </a:solidFill>
          </p:spPr>
          <p:txBody>
            <a:bodyPr wrap="square" lIns="0" tIns="0" rIns="0" bIns="0" rtlCol="0"/>
            <a:lstStyle/>
            <a:p>
              <a:endParaRPr/>
            </a:p>
          </p:txBody>
        </p:sp>
      </p:grpSp>
      <p:sp>
        <p:nvSpPr>
          <p:cNvPr id="13" name="object 13"/>
          <p:cNvSpPr txBox="1"/>
          <p:nvPr/>
        </p:nvSpPr>
        <p:spPr>
          <a:xfrm>
            <a:off x="2325231" y="5097733"/>
            <a:ext cx="6171307" cy="321915"/>
          </a:xfrm>
          <a:prstGeom prst="rect">
            <a:avLst/>
          </a:prstGeom>
        </p:spPr>
        <p:txBody>
          <a:bodyPr vert="horz" wrap="square" lIns="0" tIns="12055" rIns="0" bIns="0" rtlCol="0">
            <a:spAutoFit/>
          </a:bodyPr>
          <a:lstStyle/>
          <a:p>
            <a:pPr marL="329494" indent="-302706">
              <a:lnSpc>
                <a:spcPct val="100000"/>
              </a:lnSpc>
              <a:spcBef>
                <a:spcPts val="95"/>
              </a:spcBef>
              <a:buSzPct val="130357"/>
              <a:buFont typeface="Georgia"/>
              <a:buChar char="•"/>
              <a:tabLst>
                <a:tab pos="329494" algn="l"/>
              </a:tabLst>
            </a:pPr>
            <a:r>
              <a:rPr sz="1969" i="1" dirty="0">
                <a:latin typeface="Arial"/>
                <a:cs typeface="Arial"/>
              </a:rPr>
              <a:t>γ</a:t>
            </a:r>
            <a:r>
              <a:rPr sz="2109" i="1" baseline="29166" dirty="0">
                <a:latin typeface="Times New Roman"/>
                <a:cs typeface="Times New Roman"/>
              </a:rPr>
              <a:t>task</a:t>
            </a:r>
            <a:r>
              <a:rPr sz="1758" dirty="0">
                <a:latin typeface="Georgia"/>
                <a:cs typeface="Georgia"/>
              </a:rPr>
              <a:t>:</a:t>
            </a:r>
            <a:r>
              <a:rPr sz="1758" spc="4" dirty="0">
                <a:latin typeface="Georgia"/>
                <a:cs typeface="Georgia"/>
              </a:rPr>
              <a:t> </a:t>
            </a:r>
            <a:r>
              <a:rPr sz="1758" dirty="0">
                <a:latin typeface="Georgia"/>
                <a:cs typeface="Georgia"/>
              </a:rPr>
              <a:t>allows</a:t>
            </a:r>
            <a:r>
              <a:rPr sz="1758" spc="4" dirty="0">
                <a:latin typeface="Georgia"/>
                <a:cs typeface="Georgia"/>
              </a:rPr>
              <a:t> </a:t>
            </a:r>
            <a:r>
              <a:rPr sz="1758" dirty="0">
                <a:latin typeface="Georgia"/>
                <a:cs typeface="Georgia"/>
              </a:rPr>
              <a:t>the</a:t>
            </a:r>
            <a:r>
              <a:rPr sz="1758" spc="4" dirty="0">
                <a:latin typeface="Georgia"/>
                <a:cs typeface="Georgia"/>
              </a:rPr>
              <a:t> </a:t>
            </a:r>
            <a:r>
              <a:rPr sz="1758" dirty="0">
                <a:latin typeface="Georgia"/>
                <a:cs typeface="Georgia"/>
              </a:rPr>
              <a:t>task</a:t>
            </a:r>
            <a:r>
              <a:rPr sz="1758" spc="4" dirty="0">
                <a:latin typeface="Georgia"/>
                <a:cs typeface="Georgia"/>
              </a:rPr>
              <a:t> </a:t>
            </a:r>
            <a:r>
              <a:rPr sz="1758" dirty="0">
                <a:latin typeface="Georgia"/>
                <a:cs typeface="Georgia"/>
              </a:rPr>
              <a:t>model</a:t>
            </a:r>
            <a:r>
              <a:rPr sz="1758" spc="4" dirty="0">
                <a:latin typeface="Georgia"/>
                <a:cs typeface="Georgia"/>
              </a:rPr>
              <a:t> </a:t>
            </a:r>
            <a:r>
              <a:rPr sz="1758" dirty="0">
                <a:latin typeface="Georgia"/>
                <a:cs typeface="Georgia"/>
              </a:rPr>
              <a:t>to</a:t>
            </a:r>
            <a:r>
              <a:rPr sz="1758" spc="4" dirty="0">
                <a:latin typeface="Georgia"/>
                <a:cs typeface="Georgia"/>
              </a:rPr>
              <a:t> </a:t>
            </a:r>
            <a:r>
              <a:rPr sz="1758" dirty="0">
                <a:latin typeface="Georgia"/>
                <a:cs typeface="Georgia"/>
              </a:rPr>
              <a:t>scale</a:t>
            </a:r>
            <a:r>
              <a:rPr sz="1758" spc="4" dirty="0">
                <a:latin typeface="Georgia"/>
                <a:cs typeface="Georgia"/>
              </a:rPr>
              <a:t> </a:t>
            </a:r>
            <a:r>
              <a:rPr sz="1758" dirty="0">
                <a:latin typeface="Georgia"/>
                <a:cs typeface="Georgia"/>
              </a:rPr>
              <a:t>the</a:t>
            </a:r>
            <a:r>
              <a:rPr sz="1758" spc="4" dirty="0">
                <a:latin typeface="Georgia"/>
                <a:cs typeface="Georgia"/>
              </a:rPr>
              <a:t> </a:t>
            </a:r>
            <a:r>
              <a:rPr sz="1758" dirty="0">
                <a:latin typeface="Georgia"/>
                <a:cs typeface="Georgia"/>
              </a:rPr>
              <a:t>entire</a:t>
            </a:r>
            <a:r>
              <a:rPr sz="1758" spc="4" dirty="0">
                <a:latin typeface="Georgia"/>
                <a:cs typeface="Georgia"/>
              </a:rPr>
              <a:t> </a:t>
            </a:r>
            <a:r>
              <a:rPr sz="1758" dirty="0">
                <a:latin typeface="Georgia"/>
                <a:cs typeface="Georgia"/>
              </a:rPr>
              <a:t>ELMo</a:t>
            </a:r>
            <a:r>
              <a:rPr sz="1758" spc="4" dirty="0">
                <a:latin typeface="Georgia"/>
                <a:cs typeface="Georgia"/>
              </a:rPr>
              <a:t> </a:t>
            </a:r>
            <a:r>
              <a:rPr sz="1758" spc="-7" dirty="0">
                <a:latin typeface="Georgia"/>
                <a:cs typeface="Georgia"/>
              </a:rPr>
              <a:t>vector</a:t>
            </a:r>
            <a:endParaRPr sz="1758">
              <a:latin typeface="Georgia"/>
              <a:cs typeface="Georgia"/>
            </a:endParaRPr>
          </a:p>
        </p:txBody>
      </p:sp>
      <p:sp>
        <p:nvSpPr>
          <p:cNvPr id="14" name="object 14"/>
          <p:cNvSpPr txBox="1"/>
          <p:nvPr/>
        </p:nvSpPr>
        <p:spPr>
          <a:xfrm>
            <a:off x="2305293" y="5480973"/>
            <a:ext cx="5179665" cy="331291"/>
          </a:xfrm>
          <a:prstGeom prst="rect">
            <a:avLst/>
          </a:prstGeom>
        </p:spPr>
        <p:txBody>
          <a:bodyPr vert="horz" wrap="square" lIns="0" tIns="11162" rIns="0" bIns="0" rtlCol="0">
            <a:spAutoFit/>
          </a:bodyPr>
          <a:lstStyle/>
          <a:p>
            <a:pPr marL="338870" indent="-312081">
              <a:lnSpc>
                <a:spcPct val="100000"/>
              </a:lnSpc>
              <a:spcBef>
                <a:spcPts val="88"/>
              </a:spcBef>
              <a:buSzPct val="129310"/>
              <a:buFont typeface="Georgia"/>
              <a:buChar char="•"/>
              <a:tabLst>
                <a:tab pos="338870" algn="l"/>
              </a:tabLst>
            </a:pPr>
            <a:r>
              <a:rPr sz="2039" i="1" dirty="0">
                <a:latin typeface="Times New Roman"/>
                <a:cs typeface="Times New Roman"/>
              </a:rPr>
              <a:t>s</a:t>
            </a:r>
            <a:r>
              <a:rPr sz="2162" i="1" baseline="29810" dirty="0">
                <a:latin typeface="Times New Roman"/>
                <a:cs typeface="Times New Roman"/>
              </a:rPr>
              <a:t>task</a:t>
            </a:r>
            <a:r>
              <a:rPr sz="1828" dirty="0">
                <a:latin typeface="Georgia"/>
                <a:cs typeface="Georgia"/>
              </a:rPr>
              <a:t>:</a:t>
            </a:r>
            <a:r>
              <a:rPr sz="1828" spc="4" dirty="0">
                <a:latin typeface="Georgia"/>
                <a:cs typeface="Georgia"/>
              </a:rPr>
              <a:t> </a:t>
            </a:r>
            <a:r>
              <a:rPr sz="1828" spc="-7" dirty="0">
                <a:latin typeface="Georgia"/>
                <a:cs typeface="Georgia"/>
              </a:rPr>
              <a:t>softmax-</a:t>
            </a:r>
            <a:r>
              <a:rPr sz="1828" dirty="0">
                <a:latin typeface="Georgia"/>
                <a:cs typeface="Georgia"/>
              </a:rPr>
              <a:t>normalized weights across </a:t>
            </a:r>
            <a:r>
              <a:rPr sz="1828" spc="-7" dirty="0">
                <a:latin typeface="Georgia"/>
                <a:cs typeface="Georgia"/>
              </a:rPr>
              <a:t>layers</a:t>
            </a:r>
            <a:endParaRPr sz="1828">
              <a:latin typeface="Georgia"/>
              <a:cs typeface="Georgia"/>
            </a:endParaRPr>
          </a:p>
        </p:txBody>
      </p:sp>
      <p:sp>
        <p:nvSpPr>
          <p:cNvPr id="15" name="object 15"/>
          <p:cNvSpPr txBox="1"/>
          <p:nvPr/>
        </p:nvSpPr>
        <p:spPr>
          <a:xfrm>
            <a:off x="2726130" y="5636069"/>
            <a:ext cx="69652" cy="240655"/>
          </a:xfrm>
          <a:prstGeom prst="rect">
            <a:avLst/>
          </a:prstGeom>
        </p:spPr>
        <p:txBody>
          <a:bodyPr vert="horz" wrap="square" lIns="0" tIns="11162" rIns="0" bIns="0" rtlCol="0">
            <a:spAutoFit/>
          </a:bodyPr>
          <a:lstStyle/>
          <a:p>
            <a:pPr marL="8929">
              <a:lnSpc>
                <a:spcPct val="100000"/>
              </a:lnSpc>
              <a:spcBef>
                <a:spcPts val="88"/>
              </a:spcBef>
            </a:pPr>
            <a:r>
              <a:rPr sz="1441" i="1" spc="-35" dirty="0">
                <a:latin typeface="Times New Roman"/>
                <a:cs typeface="Times New Roman"/>
              </a:rPr>
              <a:t>j</a:t>
            </a:r>
            <a:endParaRPr sz="1441">
              <a:latin typeface="Times New Roman"/>
              <a:cs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0766" y="887546"/>
            <a:ext cx="3744664" cy="596503"/>
          </a:xfrm>
          <a:prstGeom prst="rect">
            <a:avLst/>
          </a:prstGeom>
        </p:spPr>
        <p:txBody>
          <a:bodyPr vert="horz" wrap="square" lIns="0" tIns="8930" rIns="0" bIns="0" rtlCol="0">
            <a:spAutoFit/>
          </a:bodyPr>
          <a:lstStyle/>
          <a:p>
            <a:pPr marL="8929">
              <a:lnSpc>
                <a:spcPct val="100000"/>
              </a:lnSpc>
              <a:spcBef>
                <a:spcPts val="70"/>
              </a:spcBef>
              <a:tabLst>
                <a:tab pos="1663095" algn="l"/>
              </a:tabLst>
            </a:pPr>
            <a:r>
              <a:rPr dirty="0"/>
              <a:t>How</a:t>
            </a:r>
            <a:r>
              <a:rPr spc="-70" dirty="0"/>
              <a:t> </a:t>
            </a:r>
            <a:r>
              <a:rPr spc="77" dirty="0"/>
              <a:t>to</a:t>
            </a:r>
            <a:r>
              <a:rPr dirty="0"/>
              <a:t>	</a:t>
            </a:r>
            <a:r>
              <a:rPr spc="-327" dirty="0"/>
              <a:t>use</a:t>
            </a:r>
            <a:r>
              <a:rPr dirty="0"/>
              <a:t> </a:t>
            </a:r>
            <a:r>
              <a:rPr spc="-408" dirty="0"/>
              <a:t>ELMo?</a:t>
            </a:r>
          </a:p>
        </p:txBody>
      </p:sp>
      <p:sp>
        <p:nvSpPr>
          <p:cNvPr id="3" name="object 3"/>
          <p:cNvSpPr txBox="1"/>
          <p:nvPr/>
        </p:nvSpPr>
        <p:spPr>
          <a:xfrm>
            <a:off x="2327672" y="1779687"/>
            <a:ext cx="150019" cy="421928"/>
          </a:xfrm>
          <a:prstGeom prst="rect">
            <a:avLst/>
          </a:prstGeom>
        </p:spPr>
        <p:txBody>
          <a:bodyPr vert="horz" wrap="square" lIns="0" tIns="10716" rIns="0" bIns="0" rtlCol="0">
            <a:spAutoFit/>
          </a:bodyPr>
          <a:lstStyle/>
          <a:p>
            <a:pPr marL="8929">
              <a:lnSpc>
                <a:spcPct val="100000"/>
              </a:lnSpc>
              <a:spcBef>
                <a:spcPts val="84"/>
              </a:spcBef>
            </a:pPr>
            <a:r>
              <a:rPr sz="2637" spc="-35" dirty="0">
                <a:latin typeface="Georgia"/>
                <a:cs typeface="Georgia"/>
              </a:rPr>
              <a:t>•</a:t>
            </a:r>
            <a:endParaRPr sz="2637">
              <a:latin typeface="Georgia"/>
              <a:cs typeface="Georgia"/>
            </a:endParaRPr>
          </a:p>
        </p:txBody>
      </p:sp>
      <p:sp>
        <p:nvSpPr>
          <p:cNvPr id="4" name="object 4"/>
          <p:cNvSpPr txBox="1"/>
          <p:nvPr/>
        </p:nvSpPr>
        <p:spPr>
          <a:xfrm>
            <a:off x="2640211" y="1848445"/>
            <a:ext cx="6102102" cy="564356"/>
          </a:xfrm>
          <a:prstGeom prst="rect">
            <a:avLst/>
          </a:prstGeom>
        </p:spPr>
        <p:txBody>
          <a:bodyPr vert="horz" wrap="square" lIns="0" tIns="26789" rIns="0" bIns="0" rtlCol="0">
            <a:spAutoFit/>
          </a:bodyPr>
          <a:lstStyle/>
          <a:p>
            <a:pPr marL="8929" marR="3572">
              <a:lnSpc>
                <a:spcPts val="2109"/>
              </a:lnSpc>
              <a:spcBef>
                <a:spcPts val="211"/>
              </a:spcBef>
            </a:pPr>
            <a:r>
              <a:rPr sz="1828" dirty="0">
                <a:latin typeface="Georgia"/>
                <a:cs typeface="Georgia"/>
              </a:rPr>
              <a:t>Plug</a:t>
            </a:r>
            <a:r>
              <a:rPr sz="1828" spc="-35" dirty="0">
                <a:latin typeface="Georgia"/>
                <a:cs typeface="Georgia"/>
              </a:rPr>
              <a:t> </a:t>
            </a:r>
            <a:r>
              <a:rPr sz="1828" dirty="0">
                <a:latin typeface="Georgia"/>
                <a:cs typeface="Georgia"/>
              </a:rPr>
              <a:t>ELMo</a:t>
            </a:r>
            <a:r>
              <a:rPr sz="1828" spc="-35" dirty="0">
                <a:latin typeface="Georgia"/>
                <a:cs typeface="Georgia"/>
              </a:rPr>
              <a:t> </a:t>
            </a:r>
            <a:r>
              <a:rPr sz="1828" dirty="0">
                <a:latin typeface="Georgia"/>
                <a:cs typeface="Georgia"/>
              </a:rPr>
              <a:t>into</a:t>
            </a:r>
            <a:r>
              <a:rPr sz="1828" spc="-32" dirty="0">
                <a:latin typeface="Georgia"/>
                <a:cs typeface="Georgia"/>
              </a:rPr>
              <a:t> </a:t>
            </a:r>
            <a:r>
              <a:rPr sz="1828" dirty="0">
                <a:latin typeface="Georgia"/>
                <a:cs typeface="Georgia"/>
              </a:rPr>
              <a:t>any</a:t>
            </a:r>
            <a:r>
              <a:rPr sz="1828" spc="-35" dirty="0">
                <a:latin typeface="Georgia"/>
                <a:cs typeface="Georgia"/>
              </a:rPr>
              <a:t> </a:t>
            </a:r>
            <a:r>
              <a:rPr sz="1828" dirty="0">
                <a:latin typeface="Georgia"/>
                <a:cs typeface="Georgia"/>
              </a:rPr>
              <a:t>(neural)</a:t>
            </a:r>
            <a:r>
              <a:rPr sz="1828" spc="-35" dirty="0">
                <a:latin typeface="Georgia"/>
                <a:cs typeface="Georgia"/>
              </a:rPr>
              <a:t> </a:t>
            </a:r>
            <a:r>
              <a:rPr sz="1828" dirty="0">
                <a:latin typeface="Georgia"/>
                <a:cs typeface="Georgia"/>
              </a:rPr>
              <a:t>NLP</a:t>
            </a:r>
            <a:r>
              <a:rPr sz="1828" spc="-32" dirty="0">
                <a:latin typeface="Georgia"/>
                <a:cs typeface="Georgia"/>
              </a:rPr>
              <a:t> </a:t>
            </a:r>
            <a:r>
              <a:rPr sz="1828" dirty="0">
                <a:latin typeface="Georgia"/>
                <a:cs typeface="Georgia"/>
              </a:rPr>
              <a:t>model:</a:t>
            </a:r>
            <a:r>
              <a:rPr sz="1828" spc="-35" dirty="0">
                <a:latin typeface="Georgia"/>
                <a:cs typeface="Georgia"/>
              </a:rPr>
              <a:t> </a:t>
            </a:r>
            <a:r>
              <a:rPr sz="1828" dirty="0">
                <a:latin typeface="Georgia"/>
                <a:cs typeface="Georgia"/>
              </a:rPr>
              <a:t>freeze</a:t>
            </a:r>
            <a:r>
              <a:rPr sz="1828" spc="-32" dirty="0">
                <a:latin typeface="Georgia"/>
                <a:cs typeface="Georgia"/>
              </a:rPr>
              <a:t> </a:t>
            </a:r>
            <a:r>
              <a:rPr sz="1828" dirty="0">
                <a:latin typeface="Georgia"/>
                <a:cs typeface="Georgia"/>
              </a:rPr>
              <a:t>all</a:t>
            </a:r>
            <a:r>
              <a:rPr sz="1828" spc="-39" dirty="0">
                <a:latin typeface="Georgia"/>
                <a:cs typeface="Georgia"/>
              </a:rPr>
              <a:t> </a:t>
            </a:r>
            <a:r>
              <a:rPr sz="1828" dirty="0">
                <a:latin typeface="Georgia"/>
                <a:cs typeface="Georgia"/>
              </a:rPr>
              <a:t>the</a:t>
            </a:r>
            <a:r>
              <a:rPr sz="1828" spc="-35" dirty="0">
                <a:latin typeface="Georgia"/>
                <a:cs typeface="Georgia"/>
              </a:rPr>
              <a:t> </a:t>
            </a:r>
            <a:r>
              <a:rPr sz="1828" spc="-18" dirty="0">
                <a:latin typeface="Georgia"/>
                <a:cs typeface="Georgia"/>
              </a:rPr>
              <a:t>LMs </a:t>
            </a:r>
            <a:r>
              <a:rPr sz="1828" dirty="0">
                <a:latin typeface="Georgia"/>
                <a:cs typeface="Georgia"/>
              </a:rPr>
              <a:t>weights</a:t>
            </a:r>
            <a:r>
              <a:rPr sz="1828" spc="-56" dirty="0">
                <a:latin typeface="Georgia"/>
                <a:cs typeface="Georgia"/>
              </a:rPr>
              <a:t> </a:t>
            </a:r>
            <a:r>
              <a:rPr sz="1828" dirty="0">
                <a:latin typeface="Georgia"/>
                <a:cs typeface="Georgia"/>
              </a:rPr>
              <a:t>and</a:t>
            </a:r>
            <a:r>
              <a:rPr sz="1828" spc="-56" dirty="0">
                <a:latin typeface="Georgia"/>
                <a:cs typeface="Georgia"/>
              </a:rPr>
              <a:t> </a:t>
            </a:r>
            <a:r>
              <a:rPr sz="1828" dirty="0">
                <a:latin typeface="Georgia"/>
                <a:cs typeface="Georgia"/>
              </a:rPr>
              <a:t>change</a:t>
            </a:r>
            <a:r>
              <a:rPr sz="1828" spc="-49" dirty="0">
                <a:latin typeface="Georgia"/>
                <a:cs typeface="Georgia"/>
              </a:rPr>
              <a:t> </a:t>
            </a:r>
            <a:r>
              <a:rPr sz="1828" dirty="0">
                <a:latin typeface="Georgia"/>
                <a:cs typeface="Georgia"/>
              </a:rPr>
              <a:t>the</a:t>
            </a:r>
            <a:r>
              <a:rPr sz="1828" spc="-53" dirty="0">
                <a:latin typeface="Georgia"/>
                <a:cs typeface="Georgia"/>
              </a:rPr>
              <a:t> </a:t>
            </a:r>
            <a:r>
              <a:rPr sz="1828" dirty="0">
                <a:latin typeface="Georgia"/>
                <a:cs typeface="Georgia"/>
              </a:rPr>
              <a:t>input</a:t>
            </a:r>
            <a:r>
              <a:rPr sz="1828" spc="-53" dirty="0">
                <a:latin typeface="Georgia"/>
                <a:cs typeface="Georgia"/>
              </a:rPr>
              <a:t> </a:t>
            </a:r>
            <a:r>
              <a:rPr sz="1828" dirty="0">
                <a:latin typeface="Georgia"/>
                <a:cs typeface="Georgia"/>
              </a:rPr>
              <a:t>representation</a:t>
            </a:r>
            <a:r>
              <a:rPr sz="1828" spc="-56" dirty="0">
                <a:latin typeface="Georgia"/>
                <a:cs typeface="Georgia"/>
              </a:rPr>
              <a:t> </a:t>
            </a:r>
            <a:r>
              <a:rPr sz="1828" spc="-18" dirty="0">
                <a:latin typeface="Georgia"/>
                <a:cs typeface="Georgia"/>
              </a:rPr>
              <a:t>to:</a:t>
            </a:r>
            <a:endParaRPr sz="1828">
              <a:latin typeface="Georgia"/>
              <a:cs typeface="Georgia"/>
            </a:endParaRPr>
          </a:p>
        </p:txBody>
      </p:sp>
      <p:pic>
        <p:nvPicPr>
          <p:cNvPr id="5" name="object 5"/>
          <p:cNvPicPr/>
          <p:nvPr/>
        </p:nvPicPr>
        <p:blipFill>
          <a:blip r:embed="rId2" cstate="print"/>
          <a:stretch>
            <a:fillRect/>
          </a:stretch>
        </p:blipFill>
        <p:spPr>
          <a:xfrm>
            <a:off x="4857470" y="2572459"/>
            <a:ext cx="1488210" cy="266311"/>
          </a:xfrm>
          <a:prstGeom prst="rect">
            <a:avLst/>
          </a:prstGeom>
        </p:spPr>
      </p:pic>
      <p:sp>
        <p:nvSpPr>
          <p:cNvPr id="6" name="object 6"/>
          <p:cNvSpPr txBox="1"/>
          <p:nvPr/>
        </p:nvSpPr>
        <p:spPr>
          <a:xfrm>
            <a:off x="2327672" y="3199507"/>
            <a:ext cx="150019" cy="421928"/>
          </a:xfrm>
          <a:prstGeom prst="rect">
            <a:avLst/>
          </a:prstGeom>
        </p:spPr>
        <p:txBody>
          <a:bodyPr vert="horz" wrap="square" lIns="0" tIns="10716" rIns="0" bIns="0" rtlCol="0">
            <a:spAutoFit/>
          </a:bodyPr>
          <a:lstStyle/>
          <a:p>
            <a:pPr marL="8929">
              <a:lnSpc>
                <a:spcPct val="100000"/>
              </a:lnSpc>
              <a:spcBef>
                <a:spcPts val="84"/>
              </a:spcBef>
            </a:pPr>
            <a:r>
              <a:rPr sz="2637" spc="-35" dirty="0">
                <a:latin typeface="Georgia"/>
                <a:cs typeface="Georgia"/>
              </a:rPr>
              <a:t>•</a:t>
            </a:r>
            <a:endParaRPr sz="2637">
              <a:latin typeface="Georgia"/>
              <a:cs typeface="Georgia"/>
            </a:endParaRPr>
          </a:p>
        </p:txBody>
      </p:sp>
      <p:sp>
        <p:nvSpPr>
          <p:cNvPr id="7" name="object 7"/>
          <p:cNvSpPr txBox="1"/>
          <p:nvPr/>
        </p:nvSpPr>
        <p:spPr>
          <a:xfrm>
            <a:off x="2640211" y="3268265"/>
            <a:ext cx="6218634" cy="296466"/>
          </a:xfrm>
          <a:prstGeom prst="rect">
            <a:avLst/>
          </a:prstGeom>
        </p:spPr>
        <p:txBody>
          <a:bodyPr vert="horz" wrap="square" lIns="0" tIns="8930" rIns="0" bIns="0" rtlCol="0">
            <a:spAutoFit/>
          </a:bodyPr>
          <a:lstStyle/>
          <a:p>
            <a:pPr marL="8929">
              <a:lnSpc>
                <a:spcPct val="100000"/>
              </a:lnSpc>
              <a:spcBef>
                <a:spcPts val="70"/>
              </a:spcBef>
            </a:pPr>
            <a:r>
              <a:rPr sz="1828" dirty="0">
                <a:latin typeface="Georgia"/>
                <a:cs typeface="Georgia"/>
              </a:rPr>
              <a:t>Could</a:t>
            </a:r>
            <a:r>
              <a:rPr sz="1828" spc="-42" dirty="0">
                <a:latin typeface="Georgia"/>
                <a:cs typeface="Georgia"/>
              </a:rPr>
              <a:t> </a:t>
            </a:r>
            <a:r>
              <a:rPr sz="1828" dirty="0">
                <a:latin typeface="Georgia"/>
                <a:cs typeface="Georgia"/>
              </a:rPr>
              <a:t>also</a:t>
            </a:r>
            <a:r>
              <a:rPr sz="1828" spc="-39" dirty="0">
                <a:latin typeface="Georgia"/>
                <a:cs typeface="Georgia"/>
              </a:rPr>
              <a:t> </a:t>
            </a:r>
            <a:r>
              <a:rPr sz="1828" dirty="0">
                <a:latin typeface="Georgia"/>
                <a:cs typeface="Georgia"/>
              </a:rPr>
              <a:t>insert</a:t>
            </a:r>
            <a:r>
              <a:rPr sz="1828" spc="-42" dirty="0">
                <a:latin typeface="Georgia"/>
                <a:cs typeface="Georgia"/>
              </a:rPr>
              <a:t> </a:t>
            </a:r>
            <a:r>
              <a:rPr sz="1828" dirty="0">
                <a:latin typeface="Georgia"/>
                <a:cs typeface="Georgia"/>
              </a:rPr>
              <a:t>ELMo</a:t>
            </a:r>
            <a:r>
              <a:rPr sz="1828" spc="-39" dirty="0">
                <a:latin typeface="Georgia"/>
                <a:cs typeface="Georgia"/>
              </a:rPr>
              <a:t> </a:t>
            </a:r>
            <a:r>
              <a:rPr sz="1828" dirty="0">
                <a:latin typeface="Georgia"/>
                <a:cs typeface="Georgia"/>
              </a:rPr>
              <a:t>into</a:t>
            </a:r>
            <a:r>
              <a:rPr sz="1828" spc="-39" dirty="0">
                <a:latin typeface="Georgia"/>
                <a:cs typeface="Georgia"/>
              </a:rPr>
              <a:t> </a:t>
            </a:r>
            <a:r>
              <a:rPr sz="1828" dirty="0">
                <a:latin typeface="Georgia"/>
                <a:cs typeface="Georgia"/>
              </a:rPr>
              <a:t>higher</a:t>
            </a:r>
            <a:r>
              <a:rPr sz="1828" spc="-39" dirty="0">
                <a:latin typeface="Georgia"/>
                <a:cs typeface="Georgia"/>
              </a:rPr>
              <a:t> </a:t>
            </a:r>
            <a:r>
              <a:rPr sz="1828" dirty="0">
                <a:latin typeface="Georgia"/>
                <a:cs typeface="Georgia"/>
              </a:rPr>
              <a:t>layers</a:t>
            </a:r>
            <a:r>
              <a:rPr sz="1828" spc="-42" dirty="0">
                <a:latin typeface="Georgia"/>
                <a:cs typeface="Georgia"/>
              </a:rPr>
              <a:t> </a:t>
            </a:r>
            <a:r>
              <a:rPr sz="1828" dirty="0">
                <a:latin typeface="Georgia"/>
                <a:cs typeface="Georgia"/>
              </a:rPr>
              <a:t>(will</a:t>
            </a:r>
            <a:r>
              <a:rPr sz="1828" spc="-42" dirty="0">
                <a:latin typeface="Georgia"/>
                <a:cs typeface="Georgia"/>
              </a:rPr>
              <a:t> </a:t>
            </a:r>
            <a:r>
              <a:rPr sz="1828" dirty="0">
                <a:latin typeface="Georgia"/>
                <a:cs typeface="Georgia"/>
              </a:rPr>
              <a:t>discuss</a:t>
            </a:r>
            <a:r>
              <a:rPr sz="1828" spc="-42" dirty="0">
                <a:latin typeface="Georgia"/>
                <a:cs typeface="Georgia"/>
              </a:rPr>
              <a:t> </a:t>
            </a:r>
            <a:r>
              <a:rPr sz="1828" spc="-7" dirty="0">
                <a:latin typeface="Georgia"/>
                <a:cs typeface="Georgia"/>
              </a:rPr>
              <a:t>soon)</a:t>
            </a:r>
            <a:endParaRPr sz="1828">
              <a:latin typeface="Georgia"/>
              <a:cs typeface="Georgi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27310" y="464971"/>
            <a:ext cx="3535424" cy="747681"/>
          </a:xfrm>
          <a:prstGeom prst="rect">
            <a:avLst/>
          </a:prstGeom>
        </p:spPr>
        <p:txBody>
          <a:bodyPr vert="horz" wrap="square" lIns="0" tIns="8930" rIns="0" bIns="0" rtlCol="0">
            <a:spAutoFit/>
          </a:bodyPr>
          <a:lstStyle/>
          <a:p>
            <a:pPr marL="8929">
              <a:lnSpc>
                <a:spcPct val="100000"/>
              </a:lnSpc>
              <a:spcBef>
                <a:spcPts val="70"/>
              </a:spcBef>
              <a:tabLst>
                <a:tab pos="1669792" algn="l"/>
              </a:tabLst>
            </a:pPr>
            <a:r>
              <a:rPr spc="-650" dirty="0"/>
              <a:t>T</a:t>
            </a:r>
            <a:r>
              <a:rPr spc="-165" dirty="0"/>
              <a:t>ra</a:t>
            </a:r>
            <a:r>
              <a:rPr spc="-172" dirty="0"/>
              <a:t>ini</a:t>
            </a:r>
            <a:r>
              <a:rPr spc="-165" dirty="0"/>
              <a:t>ng</a:t>
            </a:r>
            <a:r>
              <a:rPr dirty="0"/>
              <a:t>	</a:t>
            </a:r>
            <a:r>
              <a:rPr spc="-190" dirty="0"/>
              <a:t>details</a:t>
            </a:r>
          </a:p>
        </p:txBody>
      </p:sp>
      <p:sp>
        <p:nvSpPr>
          <p:cNvPr id="3" name="object 3"/>
          <p:cNvSpPr txBox="1"/>
          <p:nvPr/>
        </p:nvSpPr>
        <p:spPr>
          <a:xfrm>
            <a:off x="2202656" y="1852017"/>
            <a:ext cx="7578626" cy="3316039"/>
          </a:xfrm>
          <a:prstGeom prst="rect">
            <a:avLst/>
          </a:prstGeom>
        </p:spPr>
        <p:txBody>
          <a:bodyPr vert="horz" wrap="square" lIns="0" tIns="9823" rIns="0" bIns="0" rtlCol="0">
            <a:spAutoFit/>
          </a:bodyPr>
          <a:lstStyle/>
          <a:p>
            <a:pPr marL="321011" indent="-294223">
              <a:lnSpc>
                <a:spcPct val="100000"/>
              </a:lnSpc>
              <a:spcBef>
                <a:spcPts val="77"/>
              </a:spcBef>
              <a:buSzPct val="145283"/>
              <a:buChar char="•"/>
              <a:tabLst>
                <a:tab pos="321011" algn="l"/>
              </a:tabLst>
            </a:pPr>
            <a:r>
              <a:rPr sz="1863" dirty="0">
                <a:latin typeface="Georgia"/>
                <a:cs typeface="Georgia"/>
              </a:rPr>
              <a:t>Forward</a:t>
            </a:r>
            <a:r>
              <a:rPr sz="1863" spc="-11" dirty="0">
                <a:latin typeface="Georgia"/>
                <a:cs typeface="Georgia"/>
              </a:rPr>
              <a:t> </a:t>
            </a:r>
            <a:r>
              <a:rPr sz="1863" dirty="0">
                <a:latin typeface="Georgia"/>
                <a:cs typeface="Georgia"/>
              </a:rPr>
              <a:t>and</a:t>
            </a:r>
            <a:r>
              <a:rPr sz="1863" spc="-7" dirty="0">
                <a:latin typeface="Georgia"/>
                <a:cs typeface="Georgia"/>
              </a:rPr>
              <a:t> </a:t>
            </a:r>
            <a:r>
              <a:rPr sz="1863" dirty="0">
                <a:latin typeface="Georgia"/>
                <a:cs typeface="Georgia"/>
              </a:rPr>
              <a:t>backward</a:t>
            </a:r>
            <a:r>
              <a:rPr sz="1863" spc="-11" dirty="0">
                <a:latin typeface="Georgia"/>
                <a:cs typeface="Georgia"/>
              </a:rPr>
              <a:t> </a:t>
            </a:r>
            <a:r>
              <a:rPr sz="1863" dirty="0">
                <a:latin typeface="Georgia"/>
                <a:cs typeface="Georgia"/>
              </a:rPr>
              <a:t>LMs:</a:t>
            </a:r>
            <a:r>
              <a:rPr sz="1863" spc="-7" dirty="0">
                <a:latin typeface="Georgia"/>
                <a:cs typeface="Georgia"/>
              </a:rPr>
              <a:t> </a:t>
            </a:r>
            <a:r>
              <a:rPr sz="1863" dirty="0">
                <a:latin typeface="Georgia"/>
                <a:cs typeface="Georgia"/>
              </a:rPr>
              <a:t>2</a:t>
            </a:r>
            <a:r>
              <a:rPr sz="1863" spc="-11" dirty="0">
                <a:latin typeface="Georgia"/>
                <a:cs typeface="Georgia"/>
              </a:rPr>
              <a:t> </a:t>
            </a:r>
            <a:r>
              <a:rPr sz="1863" dirty="0">
                <a:latin typeface="Georgia"/>
                <a:cs typeface="Georgia"/>
              </a:rPr>
              <a:t>layers</a:t>
            </a:r>
            <a:r>
              <a:rPr sz="1863" spc="-7" dirty="0">
                <a:latin typeface="Georgia"/>
                <a:cs typeface="Georgia"/>
              </a:rPr>
              <a:t> </a:t>
            </a:r>
            <a:r>
              <a:rPr sz="1863" spc="-14" dirty="0">
                <a:latin typeface="Georgia"/>
                <a:cs typeface="Georgia"/>
              </a:rPr>
              <a:t>each</a:t>
            </a:r>
            <a:endParaRPr sz="1863">
              <a:latin typeface="Georgia"/>
              <a:cs typeface="Georgia"/>
            </a:endParaRPr>
          </a:p>
          <a:p>
            <a:pPr marL="321011" indent="-294223">
              <a:lnSpc>
                <a:spcPct val="100000"/>
              </a:lnSpc>
              <a:spcBef>
                <a:spcPts val="576"/>
              </a:spcBef>
              <a:buSzPct val="145283"/>
              <a:buChar char="•"/>
              <a:tabLst>
                <a:tab pos="321011" algn="l"/>
              </a:tabLst>
            </a:pPr>
            <a:r>
              <a:rPr sz="1863" dirty="0">
                <a:latin typeface="Georgia"/>
                <a:cs typeface="Georgia"/>
              </a:rPr>
              <a:t>Character</a:t>
            </a:r>
            <a:r>
              <a:rPr sz="1863" spc="-7" dirty="0">
                <a:latin typeface="Georgia"/>
                <a:cs typeface="Georgia"/>
              </a:rPr>
              <a:t> </a:t>
            </a:r>
            <a:r>
              <a:rPr sz="1863" dirty="0">
                <a:latin typeface="Georgia"/>
                <a:cs typeface="Georgia"/>
              </a:rPr>
              <a:t>embeddings</a:t>
            </a:r>
            <a:r>
              <a:rPr sz="1863" spc="-4" dirty="0">
                <a:latin typeface="Georgia"/>
                <a:cs typeface="Georgia"/>
              </a:rPr>
              <a:t> </a:t>
            </a:r>
            <a:r>
              <a:rPr sz="1863" dirty="0">
                <a:latin typeface="Georgia"/>
                <a:cs typeface="Georgia"/>
              </a:rPr>
              <a:t>to</a:t>
            </a:r>
            <a:r>
              <a:rPr sz="1863" spc="-4" dirty="0">
                <a:latin typeface="Georgia"/>
                <a:cs typeface="Georgia"/>
              </a:rPr>
              <a:t> </a:t>
            </a:r>
            <a:r>
              <a:rPr sz="1863" dirty="0">
                <a:latin typeface="Georgia"/>
                <a:cs typeface="Georgia"/>
              </a:rPr>
              <a:t>replace</a:t>
            </a:r>
            <a:r>
              <a:rPr sz="1863" spc="-4" dirty="0">
                <a:latin typeface="Georgia"/>
                <a:cs typeface="Georgia"/>
              </a:rPr>
              <a:t> </a:t>
            </a:r>
            <a:r>
              <a:rPr sz="1863" dirty="0">
                <a:latin typeface="Georgia"/>
                <a:cs typeface="Georgia"/>
              </a:rPr>
              <a:t>word</a:t>
            </a:r>
            <a:r>
              <a:rPr sz="1863" spc="-4" dirty="0">
                <a:latin typeface="Georgia"/>
                <a:cs typeface="Georgia"/>
              </a:rPr>
              <a:t> </a:t>
            </a:r>
            <a:r>
              <a:rPr sz="1863" spc="-7" dirty="0">
                <a:latin typeface="Georgia"/>
                <a:cs typeface="Georgia"/>
              </a:rPr>
              <a:t>embeddings</a:t>
            </a:r>
            <a:endParaRPr sz="1863">
              <a:latin typeface="Georgia"/>
              <a:cs typeface="Georgia"/>
            </a:endParaRPr>
          </a:p>
          <a:p>
            <a:pPr marL="633985" marR="506742" lvl="1" indent="-294669">
              <a:lnSpc>
                <a:spcPts val="2109"/>
              </a:lnSpc>
              <a:spcBef>
                <a:spcPts val="681"/>
              </a:spcBef>
              <a:buSzPct val="145283"/>
              <a:buChar char="•"/>
              <a:tabLst>
                <a:tab pos="633985" algn="l"/>
              </a:tabLst>
            </a:pPr>
            <a:r>
              <a:rPr sz="1863" i="1" dirty="0">
                <a:latin typeface="Georgia"/>
                <a:cs typeface="Georgia"/>
              </a:rPr>
              <a:t>Recommended</a:t>
            </a:r>
            <a:r>
              <a:rPr sz="1863" i="1" spc="4" dirty="0">
                <a:latin typeface="Georgia"/>
                <a:cs typeface="Georgia"/>
              </a:rPr>
              <a:t> </a:t>
            </a:r>
            <a:r>
              <a:rPr sz="1863" i="1" dirty="0">
                <a:latin typeface="Georgia"/>
                <a:cs typeface="Georgia"/>
              </a:rPr>
              <a:t>reading:</a:t>
            </a:r>
            <a:r>
              <a:rPr sz="1863" i="1" spc="11" dirty="0">
                <a:latin typeface="Georgia"/>
                <a:cs typeface="Georgia"/>
              </a:rPr>
              <a:t> </a:t>
            </a:r>
            <a:r>
              <a:rPr sz="1863" i="1" spc="-7" dirty="0">
                <a:latin typeface="Georgia"/>
                <a:cs typeface="Georgia"/>
              </a:rPr>
              <a:t>Character-</a:t>
            </a:r>
            <a:r>
              <a:rPr sz="1863" i="1" dirty="0">
                <a:latin typeface="Georgia"/>
                <a:cs typeface="Georgia"/>
              </a:rPr>
              <a:t>Aware</a:t>
            </a:r>
            <a:r>
              <a:rPr sz="1863" i="1" spc="11" dirty="0">
                <a:latin typeface="Georgia"/>
                <a:cs typeface="Georgia"/>
              </a:rPr>
              <a:t> </a:t>
            </a:r>
            <a:r>
              <a:rPr sz="1863" i="1" dirty="0">
                <a:latin typeface="Georgia"/>
                <a:cs typeface="Georgia"/>
              </a:rPr>
              <a:t>Neural</a:t>
            </a:r>
            <a:r>
              <a:rPr sz="1863" i="1" spc="14" dirty="0">
                <a:latin typeface="Georgia"/>
                <a:cs typeface="Georgia"/>
              </a:rPr>
              <a:t> </a:t>
            </a:r>
            <a:r>
              <a:rPr sz="1863" i="1" spc="-7" dirty="0">
                <a:latin typeface="Georgia"/>
                <a:cs typeface="Georgia"/>
              </a:rPr>
              <a:t>Language Models</a:t>
            </a:r>
            <a:endParaRPr sz="1863">
              <a:latin typeface="Georgia"/>
              <a:cs typeface="Georgia"/>
            </a:endParaRPr>
          </a:p>
          <a:p>
            <a:pPr marL="633539" lvl="1" indent="-294223">
              <a:lnSpc>
                <a:spcPct val="100000"/>
              </a:lnSpc>
              <a:spcBef>
                <a:spcPts val="668"/>
              </a:spcBef>
              <a:buSzPct val="145283"/>
              <a:buChar char="•"/>
              <a:tabLst>
                <a:tab pos="633539" algn="l"/>
              </a:tabLst>
            </a:pPr>
            <a:r>
              <a:rPr sz="1863" dirty="0">
                <a:latin typeface="Georgia"/>
                <a:cs typeface="Georgia"/>
              </a:rPr>
              <a:t>2048</a:t>
            </a:r>
            <a:r>
              <a:rPr sz="1863" spc="-7" dirty="0">
                <a:latin typeface="Georgia"/>
                <a:cs typeface="Georgia"/>
              </a:rPr>
              <a:t> </a:t>
            </a:r>
            <a:r>
              <a:rPr sz="1863" dirty="0">
                <a:latin typeface="Georgia"/>
                <a:cs typeface="Georgia"/>
              </a:rPr>
              <a:t>char</a:t>
            </a:r>
            <a:r>
              <a:rPr sz="1863" spc="-4" dirty="0">
                <a:latin typeface="Georgia"/>
                <a:cs typeface="Georgia"/>
              </a:rPr>
              <a:t> </a:t>
            </a:r>
            <a:r>
              <a:rPr sz="1863" spc="-7" dirty="0">
                <a:latin typeface="Georgia"/>
                <a:cs typeface="Georgia"/>
              </a:rPr>
              <a:t>n-</a:t>
            </a:r>
            <a:r>
              <a:rPr sz="1863" dirty="0">
                <a:latin typeface="Georgia"/>
                <a:cs typeface="Georgia"/>
              </a:rPr>
              <a:t>gram</a:t>
            </a:r>
            <a:r>
              <a:rPr sz="1863" spc="-7" dirty="0">
                <a:latin typeface="Georgia"/>
                <a:cs typeface="Georgia"/>
              </a:rPr>
              <a:t> </a:t>
            </a:r>
            <a:r>
              <a:rPr sz="1863" dirty="0">
                <a:latin typeface="Georgia"/>
                <a:cs typeface="Georgia"/>
              </a:rPr>
              <a:t>filters</a:t>
            </a:r>
            <a:r>
              <a:rPr sz="1863" spc="-4" dirty="0">
                <a:latin typeface="Georgia"/>
                <a:cs typeface="Georgia"/>
              </a:rPr>
              <a:t> </a:t>
            </a:r>
            <a:r>
              <a:rPr sz="1863" dirty="0">
                <a:latin typeface="Georgia"/>
                <a:cs typeface="Georgia"/>
              </a:rPr>
              <a:t>and</a:t>
            </a:r>
            <a:r>
              <a:rPr sz="1863" spc="-7" dirty="0">
                <a:latin typeface="Georgia"/>
                <a:cs typeface="Georgia"/>
              </a:rPr>
              <a:t> </a:t>
            </a:r>
            <a:r>
              <a:rPr sz="1863" dirty="0">
                <a:latin typeface="Georgia"/>
                <a:cs typeface="Georgia"/>
              </a:rPr>
              <a:t>2</a:t>
            </a:r>
            <a:r>
              <a:rPr sz="1863" spc="-4" dirty="0">
                <a:latin typeface="Georgia"/>
                <a:cs typeface="Georgia"/>
              </a:rPr>
              <a:t> </a:t>
            </a:r>
            <a:r>
              <a:rPr sz="1863" dirty="0">
                <a:latin typeface="Georgia"/>
                <a:cs typeface="Georgia"/>
              </a:rPr>
              <a:t>highway</a:t>
            </a:r>
            <a:r>
              <a:rPr sz="1863" spc="-4" dirty="0">
                <a:latin typeface="Georgia"/>
                <a:cs typeface="Georgia"/>
              </a:rPr>
              <a:t> </a:t>
            </a:r>
            <a:r>
              <a:rPr sz="1863" dirty="0">
                <a:latin typeface="Georgia"/>
                <a:cs typeface="Georgia"/>
              </a:rPr>
              <a:t>layers,</a:t>
            </a:r>
            <a:r>
              <a:rPr sz="1863" spc="-7" dirty="0">
                <a:latin typeface="Georgia"/>
                <a:cs typeface="Georgia"/>
              </a:rPr>
              <a:t> </a:t>
            </a:r>
            <a:r>
              <a:rPr sz="1863" dirty="0">
                <a:latin typeface="Georgia"/>
                <a:cs typeface="Georgia"/>
              </a:rPr>
              <a:t>512</a:t>
            </a:r>
            <a:r>
              <a:rPr sz="1863" spc="-4" dirty="0">
                <a:latin typeface="Georgia"/>
                <a:cs typeface="Georgia"/>
              </a:rPr>
              <a:t> </a:t>
            </a:r>
            <a:r>
              <a:rPr sz="1863" dirty="0">
                <a:latin typeface="Georgia"/>
                <a:cs typeface="Georgia"/>
              </a:rPr>
              <a:t>dim</a:t>
            </a:r>
            <a:r>
              <a:rPr sz="1863" spc="-7" dirty="0">
                <a:latin typeface="Georgia"/>
                <a:cs typeface="Georgia"/>
              </a:rPr>
              <a:t> projection</a:t>
            </a:r>
            <a:endParaRPr sz="1863">
              <a:latin typeface="Georgia"/>
              <a:cs typeface="Georgia"/>
            </a:endParaRPr>
          </a:p>
          <a:p>
            <a:pPr marL="633985">
              <a:lnSpc>
                <a:spcPct val="100000"/>
              </a:lnSpc>
              <a:spcBef>
                <a:spcPts val="506"/>
              </a:spcBef>
              <a:tabLst>
                <a:tab pos="2379677" algn="l"/>
                <a:tab pos="3064560" algn="l"/>
              </a:tabLst>
            </a:pPr>
            <a:r>
              <a:rPr sz="1582" spc="334" dirty="0">
                <a:solidFill>
                  <a:srgbClr val="941100"/>
                </a:solidFill>
                <a:latin typeface="Calibri"/>
                <a:cs typeface="Calibri"/>
              </a:rPr>
              <a:t>No-</a:t>
            </a:r>
            <a:r>
              <a:rPr sz="1582" spc="260" dirty="0">
                <a:solidFill>
                  <a:srgbClr val="941100"/>
                </a:solidFill>
                <a:latin typeface="Calibri"/>
                <a:cs typeface="Calibri"/>
              </a:rPr>
              <a:t>pretrained</a:t>
            </a:r>
            <a:r>
              <a:rPr sz="1582" dirty="0">
                <a:solidFill>
                  <a:srgbClr val="941100"/>
                </a:solidFill>
                <a:latin typeface="Calibri"/>
                <a:cs typeface="Calibri"/>
              </a:rPr>
              <a:t>	</a:t>
            </a:r>
            <a:r>
              <a:rPr sz="1582" spc="285" dirty="0">
                <a:solidFill>
                  <a:srgbClr val="941100"/>
                </a:solidFill>
                <a:latin typeface="Calibri"/>
                <a:cs typeface="Calibri"/>
              </a:rPr>
              <a:t>word</a:t>
            </a:r>
            <a:r>
              <a:rPr sz="1582" dirty="0">
                <a:solidFill>
                  <a:srgbClr val="941100"/>
                </a:solidFill>
                <a:latin typeface="Calibri"/>
                <a:cs typeface="Calibri"/>
              </a:rPr>
              <a:t>	</a:t>
            </a:r>
            <a:r>
              <a:rPr sz="1582" spc="257" dirty="0">
                <a:solidFill>
                  <a:srgbClr val="941100"/>
                </a:solidFill>
                <a:latin typeface="Calibri"/>
                <a:cs typeface="Calibri"/>
              </a:rPr>
              <a:t>embeddings!</a:t>
            </a:r>
            <a:endParaRPr sz="1582">
              <a:latin typeface="Calibri"/>
              <a:cs typeface="Calibri"/>
            </a:endParaRPr>
          </a:p>
          <a:p>
            <a:pPr marL="321457" marR="140638" indent="-294669">
              <a:lnSpc>
                <a:spcPts val="2109"/>
              </a:lnSpc>
              <a:spcBef>
                <a:spcPts val="809"/>
              </a:spcBef>
              <a:buSzPct val="145283"/>
              <a:buChar char="•"/>
              <a:tabLst>
                <a:tab pos="321457" algn="l"/>
              </a:tabLst>
            </a:pPr>
            <a:r>
              <a:rPr sz="1863" dirty="0">
                <a:latin typeface="Georgia"/>
                <a:cs typeface="Georgia"/>
              </a:rPr>
              <a:t>User</a:t>
            </a:r>
            <a:r>
              <a:rPr sz="1863" spc="-11" dirty="0">
                <a:latin typeface="Georgia"/>
                <a:cs typeface="Georgia"/>
              </a:rPr>
              <a:t> </a:t>
            </a:r>
            <a:r>
              <a:rPr sz="1863" dirty="0">
                <a:latin typeface="Georgia"/>
                <a:cs typeface="Georgia"/>
              </a:rPr>
              <a:t>4096</a:t>
            </a:r>
            <a:r>
              <a:rPr sz="1863" spc="-11" dirty="0">
                <a:latin typeface="Georgia"/>
                <a:cs typeface="Georgia"/>
              </a:rPr>
              <a:t> </a:t>
            </a:r>
            <a:r>
              <a:rPr sz="1863" dirty="0">
                <a:latin typeface="Georgia"/>
                <a:cs typeface="Georgia"/>
              </a:rPr>
              <a:t>dim</a:t>
            </a:r>
            <a:r>
              <a:rPr sz="1863" spc="-11" dirty="0">
                <a:latin typeface="Georgia"/>
                <a:cs typeface="Georgia"/>
              </a:rPr>
              <a:t> </a:t>
            </a:r>
            <a:r>
              <a:rPr sz="1863" dirty="0">
                <a:latin typeface="Georgia"/>
                <a:cs typeface="Georgia"/>
              </a:rPr>
              <a:t>hidden/cell</a:t>
            </a:r>
            <a:r>
              <a:rPr sz="1863" spc="-7" dirty="0">
                <a:latin typeface="Georgia"/>
                <a:cs typeface="Georgia"/>
              </a:rPr>
              <a:t> </a:t>
            </a:r>
            <a:r>
              <a:rPr sz="1863" dirty="0">
                <a:latin typeface="Georgia"/>
                <a:cs typeface="Georgia"/>
              </a:rPr>
              <a:t>LSTM</a:t>
            </a:r>
            <a:r>
              <a:rPr sz="1863" spc="-11" dirty="0">
                <a:latin typeface="Georgia"/>
                <a:cs typeface="Georgia"/>
              </a:rPr>
              <a:t> </a:t>
            </a:r>
            <a:r>
              <a:rPr sz="1863" dirty="0">
                <a:latin typeface="Georgia"/>
                <a:cs typeface="Georgia"/>
              </a:rPr>
              <a:t>states</a:t>
            </a:r>
            <a:r>
              <a:rPr sz="1863" spc="-11" dirty="0">
                <a:latin typeface="Georgia"/>
                <a:cs typeface="Georgia"/>
              </a:rPr>
              <a:t> </a:t>
            </a:r>
            <a:r>
              <a:rPr sz="1863" dirty="0">
                <a:latin typeface="Georgia"/>
                <a:cs typeface="Georgia"/>
              </a:rPr>
              <a:t>with</a:t>
            </a:r>
            <a:r>
              <a:rPr sz="1863" spc="-11" dirty="0">
                <a:latin typeface="Georgia"/>
                <a:cs typeface="Georgia"/>
              </a:rPr>
              <a:t> </a:t>
            </a:r>
            <a:r>
              <a:rPr sz="1863" dirty="0">
                <a:latin typeface="Georgia"/>
                <a:cs typeface="Georgia"/>
              </a:rPr>
              <a:t>512</a:t>
            </a:r>
            <a:r>
              <a:rPr sz="1863" spc="-7" dirty="0">
                <a:latin typeface="Georgia"/>
                <a:cs typeface="Georgia"/>
              </a:rPr>
              <a:t> </a:t>
            </a:r>
            <a:r>
              <a:rPr sz="1863" dirty="0">
                <a:latin typeface="Georgia"/>
                <a:cs typeface="Georgia"/>
              </a:rPr>
              <a:t>dim</a:t>
            </a:r>
            <a:r>
              <a:rPr sz="1863" spc="-11" dirty="0">
                <a:latin typeface="Georgia"/>
                <a:cs typeface="Georgia"/>
              </a:rPr>
              <a:t> </a:t>
            </a:r>
            <a:r>
              <a:rPr sz="1863" dirty="0">
                <a:latin typeface="Georgia"/>
                <a:cs typeface="Georgia"/>
              </a:rPr>
              <a:t>projections</a:t>
            </a:r>
            <a:r>
              <a:rPr sz="1863" spc="-11" dirty="0">
                <a:latin typeface="Georgia"/>
                <a:cs typeface="Georgia"/>
              </a:rPr>
              <a:t> </a:t>
            </a:r>
            <a:r>
              <a:rPr sz="1863" spc="-18" dirty="0">
                <a:latin typeface="Georgia"/>
                <a:cs typeface="Georgia"/>
              </a:rPr>
              <a:t>to </a:t>
            </a:r>
            <a:r>
              <a:rPr sz="1863" dirty="0">
                <a:latin typeface="Georgia"/>
                <a:cs typeface="Georgia"/>
              </a:rPr>
              <a:t>next</a:t>
            </a:r>
            <a:r>
              <a:rPr sz="1863" spc="-11" dirty="0">
                <a:latin typeface="Georgia"/>
                <a:cs typeface="Georgia"/>
              </a:rPr>
              <a:t> </a:t>
            </a:r>
            <a:r>
              <a:rPr sz="1863" spc="-14" dirty="0">
                <a:latin typeface="Georgia"/>
                <a:cs typeface="Georgia"/>
              </a:rPr>
              <a:t>input</a:t>
            </a:r>
            <a:endParaRPr sz="1863">
              <a:latin typeface="Georgia"/>
              <a:cs typeface="Georgia"/>
            </a:endParaRPr>
          </a:p>
          <a:p>
            <a:pPr marL="321011" indent="-294223">
              <a:lnSpc>
                <a:spcPct val="100000"/>
              </a:lnSpc>
              <a:spcBef>
                <a:spcPts val="527"/>
              </a:spcBef>
              <a:buSzPct val="145283"/>
              <a:buChar char="•"/>
              <a:tabLst>
                <a:tab pos="321011" algn="l"/>
              </a:tabLst>
            </a:pPr>
            <a:r>
              <a:rPr sz="1863" dirty="0">
                <a:latin typeface="Georgia"/>
                <a:cs typeface="Georgia"/>
              </a:rPr>
              <a:t>A</a:t>
            </a:r>
            <a:r>
              <a:rPr sz="1863" spc="-11" dirty="0">
                <a:latin typeface="Georgia"/>
                <a:cs typeface="Georgia"/>
              </a:rPr>
              <a:t> </a:t>
            </a:r>
            <a:r>
              <a:rPr sz="1863" dirty="0">
                <a:latin typeface="Georgia"/>
                <a:cs typeface="Georgia"/>
              </a:rPr>
              <a:t>residual</a:t>
            </a:r>
            <a:r>
              <a:rPr sz="1863" spc="-7" dirty="0">
                <a:latin typeface="Georgia"/>
                <a:cs typeface="Georgia"/>
              </a:rPr>
              <a:t> </a:t>
            </a:r>
            <a:r>
              <a:rPr sz="1863" dirty="0">
                <a:latin typeface="Georgia"/>
                <a:cs typeface="Georgia"/>
              </a:rPr>
              <a:t>connection</a:t>
            </a:r>
            <a:r>
              <a:rPr sz="1863" spc="-7" dirty="0">
                <a:latin typeface="Georgia"/>
                <a:cs typeface="Georgia"/>
              </a:rPr>
              <a:t> </a:t>
            </a:r>
            <a:r>
              <a:rPr sz="1863" dirty="0">
                <a:latin typeface="Georgia"/>
                <a:cs typeface="Georgia"/>
              </a:rPr>
              <a:t>from</a:t>
            </a:r>
            <a:r>
              <a:rPr sz="1863" spc="-7" dirty="0">
                <a:latin typeface="Georgia"/>
                <a:cs typeface="Georgia"/>
              </a:rPr>
              <a:t> </a:t>
            </a:r>
            <a:r>
              <a:rPr sz="1863" dirty="0">
                <a:latin typeface="Georgia"/>
                <a:cs typeface="Georgia"/>
              </a:rPr>
              <a:t>the</a:t>
            </a:r>
            <a:r>
              <a:rPr sz="1863" spc="-7" dirty="0">
                <a:latin typeface="Georgia"/>
                <a:cs typeface="Georgia"/>
              </a:rPr>
              <a:t> </a:t>
            </a:r>
            <a:r>
              <a:rPr sz="1863" dirty="0">
                <a:latin typeface="Georgia"/>
                <a:cs typeface="Georgia"/>
              </a:rPr>
              <a:t>first</a:t>
            </a:r>
            <a:r>
              <a:rPr sz="1863" spc="-11" dirty="0">
                <a:latin typeface="Georgia"/>
                <a:cs typeface="Georgia"/>
              </a:rPr>
              <a:t> </a:t>
            </a:r>
            <a:r>
              <a:rPr sz="1863" dirty="0">
                <a:latin typeface="Georgia"/>
                <a:cs typeface="Georgia"/>
              </a:rPr>
              <a:t>to</a:t>
            </a:r>
            <a:r>
              <a:rPr sz="1863" spc="-7" dirty="0">
                <a:latin typeface="Georgia"/>
                <a:cs typeface="Georgia"/>
              </a:rPr>
              <a:t> </a:t>
            </a:r>
            <a:r>
              <a:rPr sz="1863" dirty="0">
                <a:latin typeface="Georgia"/>
                <a:cs typeface="Georgia"/>
              </a:rPr>
              <a:t>second</a:t>
            </a:r>
            <a:r>
              <a:rPr sz="1863" spc="-7" dirty="0">
                <a:latin typeface="Georgia"/>
                <a:cs typeface="Georgia"/>
              </a:rPr>
              <a:t> layer</a:t>
            </a:r>
            <a:endParaRPr sz="1863">
              <a:latin typeface="Georgia"/>
              <a:cs typeface="Georgia"/>
            </a:endParaRPr>
          </a:p>
          <a:p>
            <a:pPr marL="321011" indent="-294223">
              <a:lnSpc>
                <a:spcPct val="100000"/>
              </a:lnSpc>
              <a:spcBef>
                <a:spcPts val="506"/>
              </a:spcBef>
              <a:buSzPct val="145283"/>
              <a:buChar char="•"/>
              <a:tabLst>
                <a:tab pos="321011" algn="l"/>
              </a:tabLst>
            </a:pPr>
            <a:r>
              <a:rPr sz="1863" dirty="0">
                <a:latin typeface="Georgia"/>
                <a:cs typeface="Georgia"/>
              </a:rPr>
              <a:t>Trained</a:t>
            </a:r>
            <a:r>
              <a:rPr sz="1863" spc="-11" dirty="0">
                <a:latin typeface="Georgia"/>
                <a:cs typeface="Georgia"/>
              </a:rPr>
              <a:t> </a:t>
            </a:r>
            <a:r>
              <a:rPr sz="1863" dirty="0">
                <a:latin typeface="Georgia"/>
                <a:cs typeface="Georgia"/>
              </a:rPr>
              <a:t>10 epochs on</a:t>
            </a:r>
            <a:r>
              <a:rPr sz="1863" spc="-4" dirty="0">
                <a:latin typeface="Georgia"/>
                <a:cs typeface="Georgia"/>
              </a:rPr>
              <a:t> </a:t>
            </a:r>
            <a:r>
              <a:rPr sz="1863" dirty="0">
                <a:latin typeface="Georgia"/>
                <a:cs typeface="Georgia"/>
              </a:rPr>
              <a:t>1B Word </a:t>
            </a:r>
            <a:r>
              <a:rPr sz="1863" spc="-7" dirty="0">
                <a:latin typeface="Georgia"/>
                <a:cs typeface="Georgia"/>
              </a:rPr>
              <a:t>Benchmark</a:t>
            </a:r>
            <a:endParaRPr sz="1863">
              <a:latin typeface="Georgia"/>
              <a:cs typeface="Georgi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2065810">
              <a:lnSpc>
                <a:spcPct val="100000"/>
              </a:lnSpc>
              <a:spcBef>
                <a:spcPts val="70"/>
              </a:spcBef>
            </a:pPr>
            <a:r>
              <a:rPr spc="-225" dirty="0"/>
              <a:t>Evaluation</a:t>
            </a:r>
          </a:p>
        </p:txBody>
      </p:sp>
      <p:sp>
        <p:nvSpPr>
          <p:cNvPr id="3" name="object 3"/>
          <p:cNvSpPr txBox="1"/>
          <p:nvPr/>
        </p:nvSpPr>
        <p:spPr>
          <a:xfrm>
            <a:off x="2140148" y="1761828"/>
            <a:ext cx="150019" cy="2573982"/>
          </a:xfrm>
          <a:prstGeom prst="rect">
            <a:avLst/>
          </a:prstGeom>
        </p:spPr>
        <p:txBody>
          <a:bodyPr vert="horz" wrap="square" lIns="0" tIns="10716" rIns="0" bIns="0" rtlCol="0">
            <a:spAutoFit/>
          </a:bodyPr>
          <a:lstStyle/>
          <a:p>
            <a:pPr marL="8929">
              <a:lnSpc>
                <a:spcPts val="3129"/>
              </a:lnSpc>
              <a:spcBef>
                <a:spcPts val="84"/>
              </a:spcBef>
            </a:pPr>
            <a:r>
              <a:rPr sz="2637" spc="-35" dirty="0">
                <a:latin typeface="Georgia"/>
                <a:cs typeface="Georgia"/>
              </a:rPr>
              <a:t>•</a:t>
            </a:r>
            <a:endParaRPr sz="2637">
              <a:latin typeface="Georgia"/>
              <a:cs typeface="Georgia"/>
            </a:endParaRPr>
          </a:p>
          <a:p>
            <a:pPr marL="8929">
              <a:lnSpc>
                <a:spcPts val="3129"/>
              </a:lnSpc>
            </a:pPr>
            <a:r>
              <a:rPr sz="2637" spc="-35" dirty="0">
                <a:latin typeface="Georgia"/>
                <a:cs typeface="Georgia"/>
              </a:rPr>
              <a:t>•</a:t>
            </a:r>
            <a:endParaRPr sz="2637">
              <a:latin typeface="Georgia"/>
              <a:cs typeface="Georgia"/>
            </a:endParaRPr>
          </a:p>
          <a:p>
            <a:pPr marL="8929">
              <a:lnSpc>
                <a:spcPct val="100000"/>
              </a:lnSpc>
              <a:spcBef>
                <a:spcPts val="141"/>
              </a:spcBef>
            </a:pPr>
            <a:r>
              <a:rPr sz="2637" spc="-35" dirty="0">
                <a:latin typeface="Georgia"/>
                <a:cs typeface="Georgia"/>
              </a:rPr>
              <a:t>•</a:t>
            </a:r>
            <a:endParaRPr sz="2637">
              <a:latin typeface="Georgia"/>
              <a:cs typeface="Georgia"/>
            </a:endParaRPr>
          </a:p>
          <a:p>
            <a:pPr marL="8929">
              <a:lnSpc>
                <a:spcPct val="100000"/>
              </a:lnSpc>
              <a:spcBef>
                <a:spcPts val="281"/>
              </a:spcBef>
            </a:pPr>
            <a:r>
              <a:rPr sz="2637" spc="-35" dirty="0">
                <a:latin typeface="Georgia"/>
                <a:cs typeface="Georgia"/>
              </a:rPr>
              <a:t>•</a:t>
            </a:r>
            <a:endParaRPr sz="2637">
              <a:latin typeface="Georgia"/>
              <a:cs typeface="Georgia"/>
            </a:endParaRPr>
          </a:p>
          <a:p>
            <a:pPr marL="8929">
              <a:lnSpc>
                <a:spcPct val="100000"/>
              </a:lnSpc>
              <a:spcBef>
                <a:spcPts val="562"/>
              </a:spcBef>
            </a:pPr>
            <a:r>
              <a:rPr sz="2637" spc="-35" dirty="0">
                <a:latin typeface="Georgia"/>
                <a:cs typeface="Georgia"/>
              </a:rPr>
              <a:t>•</a:t>
            </a:r>
            <a:endParaRPr sz="2637">
              <a:latin typeface="Georgia"/>
              <a:cs typeface="Georgia"/>
            </a:endParaRPr>
          </a:p>
          <a:p>
            <a:pPr marL="8929">
              <a:lnSpc>
                <a:spcPct val="100000"/>
              </a:lnSpc>
              <a:spcBef>
                <a:spcPts val="211"/>
              </a:spcBef>
            </a:pPr>
            <a:r>
              <a:rPr sz="2637" spc="-35" dirty="0">
                <a:latin typeface="Georgia"/>
                <a:cs typeface="Georgia"/>
              </a:rPr>
              <a:t>•</a:t>
            </a:r>
            <a:endParaRPr sz="2637">
              <a:latin typeface="Georgia"/>
              <a:cs typeface="Georgia"/>
            </a:endParaRPr>
          </a:p>
        </p:txBody>
      </p:sp>
      <p:sp>
        <p:nvSpPr>
          <p:cNvPr id="4" name="object 4"/>
          <p:cNvSpPr txBox="1"/>
          <p:nvPr/>
        </p:nvSpPr>
        <p:spPr>
          <a:xfrm>
            <a:off x="2452688" y="1716285"/>
            <a:ext cx="3219152" cy="2562820"/>
          </a:xfrm>
          <a:prstGeom prst="rect">
            <a:avLst/>
          </a:prstGeom>
        </p:spPr>
        <p:txBody>
          <a:bodyPr vert="horz" wrap="square" lIns="0" tIns="8930" rIns="0" bIns="0" rtlCol="0">
            <a:spAutoFit/>
          </a:bodyPr>
          <a:lstStyle/>
          <a:p>
            <a:pPr marL="8929" marR="310741">
              <a:lnSpc>
                <a:spcPct val="141000"/>
              </a:lnSpc>
              <a:spcBef>
                <a:spcPts val="70"/>
              </a:spcBef>
            </a:pPr>
            <a:r>
              <a:rPr sz="1828" dirty="0">
                <a:latin typeface="Georgia"/>
                <a:cs typeface="Georgia"/>
              </a:rPr>
              <a:t>SQuAD:</a:t>
            </a:r>
            <a:r>
              <a:rPr sz="1828" spc="-63" dirty="0">
                <a:latin typeface="Georgia"/>
                <a:cs typeface="Georgia"/>
              </a:rPr>
              <a:t> </a:t>
            </a:r>
            <a:r>
              <a:rPr sz="1828" dirty="0">
                <a:latin typeface="Georgia"/>
                <a:cs typeface="Georgia"/>
              </a:rPr>
              <a:t>question</a:t>
            </a:r>
            <a:r>
              <a:rPr sz="1828" spc="-67" dirty="0">
                <a:latin typeface="Georgia"/>
                <a:cs typeface="Georgia"/>
              </a:rPr>
              <a:t> </a:t>
            </a:r>
            <a:r>
              <a:rPr sz="1828" spc="-7" dirty="0">
                <a:latin typeface="Georgia"/>
                <a:cs typeface="Georgia"/>
              </a:rPr>
              <a:t>answering </a:t>
            </a:r>
            <a:r>
              <a:rPr sz="1828" dirty="0">
                <a:latin typeface="Georgia"/>
                <a:cs typeface="Georgia"/>
              </a:rPr>
              <a:t>SNLI:</a:t>
            </a:r>
            <a:r>
              <a:rPr sz="1828" spc="-46" dirty="0">
                <a:latin typeface="Georgia"/>
                <a:cs typeface="Georgia"/>
              </a:rPr>
              <a:t> </a:t>
            </a:r>
            <a:r>
              <a:rPr sz="1828" dirty="0">
                <a:latin typeface="Georgia"/>
                <a:cs typeface="Georgia"/>
              </a:rPr>
              <a:t>textual</a:t>
            </a:r>
            <a:r>
              <a:rPr sz="1828" spc="-49" dirty="0">
                <a:latin typeface="Georgia"/>
                <a:cs typeface="Georgia"/>
              </a:rPr>
              <a:t> </a:t>
            </a:r>
            <a:r>
              <a:rPr sz="1828" spc="-7" dirty="0">
                <a:latin typeface="Georgia"/>
                <a:cs typeface="Georgia"/>
              </a:rPr>
              <a:t>entailment</a:t>
            </a:r>
            <a:endParaRPr sz="1828">
              <a:latin typeface="Georgia"/>
              <a:cs typeface="Georgia"/>
            </a:endParaRPr>
          </a:p>
          <a:p>
            <a:pPr marL="8929" marR="231717">
              <a:lnSpc>
                <a:spcPts val="3445"/>
              </a:lnSpc>
              <a:spcBef>
                <a:spcPts val="183"/>
              </a:spcBef>
            </a:pPr>
            <a:r>
              <a:rPr sz="1828" dirty="0">
                <a:latin typeface="Georgia"/>
                <a:cs typeface="Georgia"/>
              </a:rPr>
              <a:t>SRL:</a:t>
            </a:r>
            <a:r>
              <a:rPr sz="1828" spc="-35" dirty="0">
                <a:latin typeface="Georgia"/>
                <a:cs typeface="Georgia"/>
              </a:rPr>
              <a:t> </a:t>
            </a:r>
            <a:r>
              <a:rPr sz="1828" dirty="0">
                <a:latin typeface="Georgia"/>
                <a:cs typeface="Georgia"/>
              </a:rPr>
              <a:t>semantic</a:t>
            </a:r>
            <a:r>
              <a:rPr sz="1828" spc="-39" dirty="0">
                <a:latin typeface="Georgia"/>
                <a:cs typeface="Georgia"/>
              </a:rPr>
              <a:t> </a:t>
            </a:r>
            <a:r>
              <a:rPr sz="1828" dirty="0">
                <a:latin typeface="Georgia"/>
                <a:cs typeface="Georgia"/>
              </a:rPr>
              <a:t>role</a:t>
            </a:r>
            <a:r>
              <a:rPr sz="1828" spc="-35" dirty="0">
                <a:latin typeface="Georgia"/>
                <a:cs typeface="Georgia"/>
              </a:rPr>
              <a:t> </a:t>
            </a:r>
            <a:r>
              <a:rPr sz="1828" spc="-7" dirty="0">
                <a:latin typeface="Georgia"/>
                <a:cs typeface="Georgia"/>
              </a:rPr>
              <a:t>labeling </a:t>
            </a:r>
            <a:r>
              <a:rPr sz="1828" dirty="0">
                <a:latin typeface="Georgia"/>
                <a:cs typeface="Georgia"/>
              </a:rPr>
              <a:t>Coref:</a:t>
            </a:r>
            <a:r>
              <a:rPr sz="1828" spc="-42" dirty="0">
                <a:latin typeface="Georgia"/>
                <a:cs typeface="Georgia"/>
              </a:rPr>
              <a:t> </a:t>
            </a:r>
            <a:r>
              <a:rPr sz="1828" dirty="0">
                <a:latin typeface="Georgia"/>
                <a:cs typeface="Georgia"/>
              </a:rPr>
              <a:t>coreference</a:t>
            </a:r>
            <a:r>
              <a:rPr sz="1828" spc="-42" dirty="0">
                <a:latin typeface="Georgia"/>
                <a:cs typeface="Georgia"/>
              </a:rPr>
              <a:t> </a:t>
            </a:r>
            <a:r>
              <a:rPr sz="1828" spc="-7" dirty="0">
                <a:latin typeface="Georgia"/>
                <a:cs typeface="Georgia"/>
              </a:rPr>
              <a:t>resolution</a:t>
            </a:r>
            <a:endParaRPr sz="1828">
              <a:latin typeface="Georgia"/>
              <a:cs typeface="Georgia"/>
            </a:endParaRPr>
          </a:p>
          <a:p>
            <a:pPr marL="8929" marR="3572">
              <a:lnSpc>
                <a:spcPct val="153800"/>
              </a:lnSpc>
              <a:spcBef>
                <a:spcPts val="28"/>
              </a:spcBef>
            </a:pPr>
            <a:r>
              <a:rPr sz="1828" dirty="0">
                <a:latin typeface="Georgia"/>
                <a:cs typeface="Georgia"/>
              </a:rPr>
              <a:t>NER:</a:t>
            </a:r>
            <a:r>
              <a:rPr sz="1828" spc="-49" dirty="0">
                <a:latin typeface="Georgia"/>
                <a:cs typeface="Georgia"/>
              </a:rPr>
              <a:t> </a:t>
            </a:r>
            <a:r>
              <a:rPr sz="1828" dirty="0">
                <a:latin typeface="Georgia"/>
                <a:cs typeface="Georgia"/>
              </a:rPr>
              <a:t>named</a:t>
            </a:r>
            <a:r>
              <a:rPr sz="1828" spc="-42" dirty="0">
                <a:latin typeface="Georgia"/>
                <a:cs typeface="Georgia"/>
              </a:rPr>
              <a:t> </a:t>
            </a:r>
            <a:r>
              <a:rPr sz="1828" dirty="0">
                <a:latin typeface="Georgia"/>
                <a:cs typeface="Georgia"/>
              </a:rPr>
              <a:t>entity</a:t>
            </a:r>
            <a:r>
              <a:rPr sz="1828" spc="-39" dirty="0">
                <a:latin typeface="Georgia"/>
                <a:cs typeface="Georgia"/>
              </a:rPr>
              <a:t> </a:t>
            </a:r>
            <a:r>
              <a:rPr sz="1828" spc="-7" dirty="0">
                <a:latin typeface="Georgia"/>
                <a:cs typeface="Georgia"/>
              </a:rPr>
              <a:t>recognition </a:t>
            </a:r>
            <a:r>
              <a:rPr sz="1828" spc="-18" dirty="0">
                <a:latin typeface="Georgia"/>
                <a:cs typeface="Georgia"/>
              </a:rPr>
              <a:t>SST-</a:t>
            </a:r>
            <a:r>
              <a:rPr sz="1828" dirty="0">
                <a:latin typeface="Georgia"/>
                <a:cs typeface="Georgia"/>
              </a:rPr>
              <a:t>5:</a:t>
            </a:r>
            <a:r>
              <a:rPr sz="1828" spc="-28" dirty="0">
                <a:latin typeface="Georgia"/>
                <a:cs typeface="Georgia"/>
              </a:rPr>
              <a:t> </a:t>
            </a:r>
            <a:r>
              <a:rPr sz="1828" dirty="0">
                <a:latin typeface="Georgia"/>
                <a:cs typeface="Georgia"/>
              </a:rPr>
              <a:t>sentiment</a:t>
            </a:r>
            <a:r>
              <a:rPr sz="1828" spc="-32" dirty="0">
                <a:latin typeface="Georgia"/>
                <a:cs typeface="Georgia"/>
              </a:rPr>
              <a:t> </a:t>
            </a:r>
            <a:r>
              <a:rPr sz="1828" spc="-7" dirty="0">
                <a:latin typeface="Georgia"/>
                <a:cs typeface="Georgia"/>
              </a:rPr>
              <a:t>analysis</a:t>
            </a:r>
            <a:endParaRPr sz="1828">
              <a:latin typeface="Georgia"/>
              <a:cs typeface="Georgia"/>
            </a:endParaRPr>
          </a:p>
        </p:txBody>
      </p:sp>
      <p:pic>
        <p:nvPicPr>
          <p:cNvPr id="5" name="object 5"/>
          <p:cNvPicPr/>
          <p:nvPr/>
        </p:nvPicPr>
        <p:blipFill>
          <a:blip r:embed="rId2" cstate="print"/>
          <a:stretch>
            <a:fillRect/>
          </a:stretch>
        </p:blipFill>
        <p:spPr>
          <a:xfrm>
            <a:off x="5832574" y="1682161"/>
            <a:ext cx="526787" cy="943562"/>
          </a:xfrm>
          <a:prstGeom prst="rect">
            <a:avLst/>
          </a:prstGeom>
        </p:spPr>
      </p:pic>
      <p:pic>
        <p:nvPicPr>
          <p:cNvPr id="6" name="object 6"/>
          <p:cNvPicPr/>
          <p:nvPr/>
        </p:nvPicPr>
        <p:blipFill>
          <a:blip r:embed="rId3" cstate="print"/>
          <a:stretch>
            <a:fillRect/>
          </a:stretch>
        </p:blipFill>
        <p:spPr>
          <a:xfrm>
            <a:off x="5932879" y="3902974"/>
            <a:ext cx="526787" cy="482253"/>
          </a:xfrm>
          <a:prstGeom prst="rect">
            <a:avLst/>
          </a:prstGeom>
        </p:spPr>
      </p:pic>
      <p:pic>
        <p:nvPicPr>
          <p:cNvPr id="7" name="object 7"/>
          <p:cNvPicPr/>
          <p:nvPr/>
        </p:nvPicPr>
        <p:blipFill>
          <a:blip r:embed="rId4" cstate="print"/>
          <a:stretch>
            <a:fillRect/>
          </a:stretch>
        </p:blipFill>
        <p:spPr>
          <a:xfrm>
            <a:off x="7468751" y="2867222"/>
            <a:ext cx="2589609" cy="1464469"/>
          </a:xfrm>
          <a:prstGeom prst="rect">
            <a:avLst/>
          </a:prstGeom>
        </p:spPr>
      </p:pic>
      <p:pic>
        <p:nvPicPr>
          <p:cNvPr id="8" name="object 8"/>
          <p:cNvPicPr/>
          <p:nvPr/>
        </p:nvPicPr>
        <p:blipFill>
          <a:blip r:embed="rId5" cstate="print"/>
          <a:stretch>
            <a:fillRect/>
          </a:stretch>
        </p:blipFill>
        <p:spPr>
          <a:xfrm>
            <a:off x="7266711" y="1615227"/>
            <a:ext cx="2953182" cy="826291"/>
          </a:xfrm>
          <a:prstGeom prst="rect">
            <a:avLst/>
          </a:prstGeom>
        </p:spPr>
      </p:pic>
      <p:sp>
        <p:nvSpPr>
          <p:cNvPr id="9" name="object 9"/>
          <p:cNvSpPr txBox="1"/>
          <p:nvPr/>
        </p:nvSpPr>
        <p:spPr>
          <a:xfrm>
            <a:off x="6549448" y="4904987"/>
            <a:ext cx="3695551" cy="1020812"/>
          </a:xfrm>
          <a:prstGeom prst="rect">
            <a:avLst/>
          </a:prstGeom>
          <a:ln w="25400">
            <a:solidFill>
              <a:srgbClr val="000000"/>
            </a:solidFill>
          </a:ln>
        </p:spPr>
        <p:txBody>
          <a:bodyPr vert="horz" wrap="square" lIns="0" tIns="147340" rIns="0" bIns="0" rtlCol="0">
            <a:spAutoFit/>
          </a:bodyPr>
          <a:lstStyle/>
          <a:p>
            <a:pPr marL="46433" marR="75007">
              <a:lnSpc>
                <a:spcPts val="1687"/>
              </a:lnSpc>
              <a:spcBef>
                <a:spcPts val="1160"/>
              </a:spcBef>
            </a:pPr>
            <a:r>
              <a:rPr sz="1441" dirty="0">
                <a:solidFill>
                  <a:srgbClr val="FF2600"/>
                </a:solidFill>
                <a:latin typeface="Georgia"/>
                <a:cs typeface="Georgia"/>
              </a:rPr>
              <a:t>Barack</a:t>
            </a:r>
            <a:r>
              <a:rPr sz="1441" spc="42" dirty="0">
                <a:solidFill>
                  <a:srgbClr val="FF2600"/>
                </a:solidFill>
                <a:latin typeface="Georgia"/>
                <a:cs typeface="Georgia"/>
              </a:rPr>
              <a:t> </a:t>
            </a:r>
            <a:r>
              <a:rPr sz="1441" dirty="0">
                <a:solidFill>
                  <a:srgbClr val="FF2600"/>
                </a:solidFill>
                <a:latin typeface="Georgia"/>
                <a:cs typeface="Georgia"/>
              </a:rPr>
              <a:t>Obama</a:t>
            </a:r>
            <a:r>
              <a:rPr sz="1441" spc="39" dirty="0">
                <a:solidFill>
                  <a:srgbClr val="FF2600"/>
                </a:solidFill>
                <a:latin typeface="Georgia"/>
                <a:cs typeface="Georgia"/>
              </a:rPr>
              <a:t> </a:t>
            </a:r>
            <a:r>
              <a:rPr sz="1441" dirty="0">
                <a:latin typeface="Georgia"/>
                <a:cs typeface="Georgia"/>
              </a:rPr>
              <a:t>nominated</a:t>
            </a:r>
            <a:r>
              <a:rPr sz="1441" spc="42" dirty="0">
                <a:latin typeface="Georgia"/>
                <a:cs typeface="Georgia"/>
              </a:rPr>
              <a:t> </a:t>
            </a:r>
            <a:r>
              <a:rPr sz="1441" dirty="0">
                <a:solidFill>
                  <a:srgbClr val="0433FF"/>
                </a:solidFill>
                <a:latin typeface="Georgia"/>
                <a:cs typeface="Georgia"/>
              </a:rPr>
              <a:t>Hillary</a:t>
            </a:r>
            <a:r>
              <a:rPr sz="1441" spc="39" dirty="0">
                <a:solidFill>
                  <a:srgbClr val="0433FF"/>
                </a:solidFill>
                <a:latin typeface="Georgia"/>
                <a:cs typeface="Georgia"/>
              </a:rPr>
              <a:t> </a:t>
            </a:r>
            <a:r>
              <a:rPr sz="1441" spc="-7" dirty="0">
                <a:solidFill>
                  <a:srgbClr val="0433FF"/>
                </a:solidFill>
                <a:latin typeface="Georgia"/>
                <a:cs typeface="Georgia"/>
              </a:rPr>
              <a:t>Rodham </a:t>
            </a:r>
            <a:r>
              <a:rPr sz="1441" dirty="0">
                <a:solidFill>
                  <a:srgbClr val="0433FF"/>
                </a:solidFill>
                <a:latin typeface="Georgia"/>
                <a:cs typeface="Georgia"/>
              </a:rPr>
              <a:t>Clinton</a:t>
            </a:r>
            <a:r>
              <a:rPr sz="1441" spc="14" dirty="0">
                <a:solidFill>
                  <a:srgbClr val="0433FF"/>
                </a:solidFill>
                <a:latin typeface="Georgia"/>
                <a:cs typeface="Georgia"/>
              </a:rPr>
              <a:t> </a:t>
            </a:r>
            <a:r>
              <a:rPr sz="1441" dirty="0">
                <a:latin typeface="Georgia"/>
                <a:cs typeface="Georgia"/>
              </a:rPr>
              <a:t>as</a:t>
            </a:r>
            <a:r>
              <a:rPr sz="1441" spc="21" dirty="0">
                <a:latin typeface="Georgia"/>
                <a:cs typeface="Georgia"/>
              </a:rPr>
              <a:t> </a:t>
            </a:r>
            <a:r>
              <a:rPr sz="1441" dirty="0">
                <a:solidFill>
                  <a:srgbClr val="FF2600"/>
                </a:solidFill>
                <a:latin typeface="Georgia"/>
                <a:cs typeface="Georgia"/>
              </a:rPr>
              <a:t>his</a:t>
            </a:r>
            <a:r>
              <a:rPr sz="1441" spc="21" dirty="0">
                <a:solidFill>
                  <a:srgbClr val="FF2600"/>
                </a:solidFill>
                <a:latin typeface="Georgia"/>
                <a:cs typeface="Georgia"/>
              </a:rPr>
              <a:t> </a:t>
            </a:r>
            <a:r>
              <a:rPr sz="1441" dirty="0">
                <a:solidFill>
                  <a:srgbClr val="0433FF"/>
                </a:solidFill>
                <a:latin typeface="Georgia"/>
                <a:cs typeface="Georgia"/>
              </a:rPr>
              <a:t>secretary</a:t>
            </a:r>
            <a:r>
              <a:rPr sz="1441" spc="21" dirty="0">
                <a:solidFill>
                  <a:srgbClr val="0433FF"/>
                </a:solidFill>
                <a:latin typeface="Georgia"/>
                <a:cs typeface="Georgia"/>
              </a:rPr>
              <a:t> </a:t>
            </a:r>
            <a:r>
              <a:rPr sz="1441" dirty="0">
                <a:solidFill>
                  <a:srgbClr val="0433FF"/>
                </a:solidFill>
                <a:latin typeface="Georgia"/>
                <a:cs typeface="Georgia"/>
              </a:rPr>
              <a:t>of</a:t>
            </a:r>
            <a:r>
              <a:rPr sz="1441" spc="21" dirty="0">
                <a:solidFill>
                  <a:srgbClr val="0433FF"/>
                </a:solidFill>
                <a:latin typeface="Georgia"/>
                <a:cs typeface="Georgia"/>
              </a:rPr>
              <a:t> </a:t>
            </a:r>
            <a:r>
              <a:rPr sz="1441" dirty="0">
                <a:solidFill>
                  <a:srgbClr val="0433FF"/>
                </a:solidFill>
                <a:latin typeface="Georgia"/>
                <a:cs typeface="Georgia"/>
              </a:rPr>
              <a:t>state</a:t>
            </a:r>
            <a:r>
              <a:rPr sz="1441" spc="25" dirty="0">
                <a:solidFill>
                  <a:srgbClr val="0433FF"/>
                </a:solidFill>
                <a:latin typeface="Georgia"/>
                <a:cs typeface="Georgia"/>
              </a:rPr>
              <a:t> </a:t>
            </a:r>
            <a:r>
              <a:rPr sz="1441" dirty="0">
                <a:latin typeface="Georgia"/>
                <a:cs typeface="Georgia"/>
              </a:rPr>
              <a:t>on</a:t>
            </a:r>
            <a:r>
              <a:rPr sz="1441" spc="21" dirty="0">
                <a:latin typeface="Georgia"/>
                <a:cs typeface="Georgia"/>
              </a:rPr>
              <a:t> </a:t>
            </a:r>
            <a:r>
              <a:rPr sz="1441" spc="-7" dirty="0">
                <a:latin typeface="Georgia"/>
                <a:cs typeface="Georgia"/>
              </a:rPr>
              <a:t>Monday. </a:t>
            </a:r>
            <a:r>
              <a:rPr sz="1441" dirty="0">
                <a:solidFill>
                  <a:srgbClr val="FF2600"/>
                </a:solidFill>
                <a:latin typeface="Georgia"/>
                <a:cs typeface="Georgia"/>
              </a:rPr>
              <a:t>He</a:t>
            </a:r>
            <a:r>
              <a:rPr sz="1441" spc="18" dirty="0">
                <a:solidFill>
                  <a:srgbClr val="FF2600"/>
                </a:solidFill>
                <a:latin typeface="Georgia"/>
                <a:cs typeface="Georgia"/>
              </a:rPr>
              <a:t> </a:t>
            </a:r>
            <a:r>
              <a:rPr sz="1441" dirty="0">
                <a:latin typeface="Georgia"/>
                <a:cs typeface="Georgia"/>
              </a:rPr>
              <a:t>chose</a:t>
            </a:r>
            <a:r>
              <a:rPr sz="1441" spc="25" dirty="0">
                <a:latin typeface="Georgia"/>
                <a:cs typeface="Georgia"/>
              </a:rPr>
              <a:t> </a:t>
            </a:r>
            <a:r>
              <a:rPr sz="1441" dirty="0">
                <a:solidFill>
                  <a:srgbClr val="0433FF"/>
                </a:solidFill>
                <a:latin typeface="Georgia"/>
                <a:cs typeface="Georgia"/>
              </a:rPr>
              <a:t>her</a:t>
            </a:r>
            <a:r>
              <a:rPr sz="1441" spc="25" dirty="0">
                <a:solidFill>
                  <a:srgbClr val="0433FF"/>
                </a:solidFill>
                <a:latin typeface="Georgia"/>
                <a:cs typeface="Georgia"/>
              </a:rPr>
              <a:t> </a:t>
            </a:r>
            <a:r>
              <a:rPr sz="1441" dirty="0">
                <a:latin typeface="Georgia"/>
                <a:cs typeface="Georgia"/>
              </a:rPr>
              <a:t>because</a:t>
            </a:r>
            <a:r>
              <a:rPr sz="1441" spc="28" dirty="0">
                <a:latin typeface="Georgia"/>
                <a:cs typeface="Georgia"/>
              </a:rPr>
              <a:t> </a:t>
            </a:r>
            <a:r>
              <a:rPr sz="1441" dirty="0">
                <a:solidFill>
                  <a:srgbClr val="0433FF"/>
                </a:solidFill>
                <a:latin typeface="Georgia"/>
                <a:cs typeface="Georgia"/>
              </a:rPr>
              <a:t>she</a:t>
            </a:r>
            <a:r>
              <a:rPr sz="1441" spc="25" dirty="0">
                <a:solidFill>
                  <a:srgbClr val="0433FF"/>
                </a:solidFill>
                <a:latin typeface="Georgia"/>
                <a:cs typeface="Georgia"/>
              </a:rPr>
              <a:t> </a:t>
            </a:r>
            <a:r>
              <a:rPr sz="1441" dirty="0">
                <a:latin typeface="Georgia"/>
                <a:cs typeface="Georgia"/>
              </a:rPr>
              <a:t>had</a:t>
            </a:r>
            <a:r>
              <a:rPr sz="1441" spc="25" dirty="0">
                <a:latin typeface="Georgia"/>
                <a:cs typeface="Georgia"/>
              </a:rPr>
              <a:t> </a:t>
            </a:r>
            <a:r>
              <a:rPr sz="1441" spc="-7" dirty="0">
                <a:latin typeface="Georgia"/>
                <a:cs typeface="Georgia"/>
              </a:rPr>
              <a:t>foreign </a:t>
            </a:r>
            <a:r>
              <a:rPr sz="1441" dirty="0">
                <a:latin typeface="Georgia"/>
                <a:cs typeface="Georgia"/>
              </a:rPr>
              <a:t>affairs</a:t>
            </a:r>
            <a:r>
              <a:rPr sz="1441" spc="21" dirty="0">
                <a:latin typeface="Georgia"/>
                <a:cs typeface="Georgia"/>
              </a:rPr>
              <a:t> </a:t>
            </a:r>
            <a:r>
              <a:rPr sz="1441" dirty="0">
                <a:latin typeface="Georgia"/>
                <a:cs typeface="Georgia"/>
              </a:rPr>
              <a:t>experience</a:t>
            </a:r>
            <a:r>
              <a:rPr sz="1441" spc="32" dirty="0">
                <a:latin typeface="Georgia"/>
                <a:cs typeface="Georgia"/>
              </a:rPr>
              <a:t> </a:t>
            </a:r>
            <a:r>
              <a:rPr sz="1441" dirty="0">
                <a:latin typeface="Georgia"/>
                <a:cs typeface="Georgia"/>
              </a:rPr>
              <a:t>as</a:t>
            </a:r>
            <a:r>
              <a:rPr sz="1441" spc="28" dirty="0">
                <a:latin typeface="Georgia"/>
                <a:cs typeface="Georgia"/>
              </a:rPr>
              <a:t> </a:t>
            </a:r>
            <a:r>
              <a:rPr sz="1441" dirty="0">
                <a:latin typeface="Georgia"/>
                <a:cs typeface="Georgia"/>
              </a:rPr>
              <a:t>a</a:t>
            </a:r>
            <a:r>
              <a:rPr sz="1441" spc="28" dirty="0">
                <a:latin typeface="Georgia"/>
                <a:cs typeface="Georgia"/>
              </a:rPr>
              <a:t> </a:t>
            </a:r>
            <a:r>
              <a:rPr sz="1441" dirty="0">
                <a:latin typeface="Georgia"/>
                <a:cs typeface="Georgia"/>
              </a:rPr>
              <a:t>former</a:t>
            </a:r>
            <a:r>
              <a:rPr sz="1441" spc="28" dirty="0">
                <a:latin typeface="Georgia"/>
                <a:cs typeface="Georgia"/>
              </a:rPr>
              <a:t> </a:t>
            </a:r>
            <a:r>
              <a:rPr sz="1441" dirty="0">
                <a:solidFill>
                  <a:srgbClr val="0433FF"/>
                </a:solidFill>
                <a:latin typeface="Georgia"/>
                <a:cs typeface="Georgia"/>
              </a:rPr>
              <a:t>First</a:t>
            </a:r>
            <a:r>
              <a:rPr sz="1441" spc="32" dirty="0">
                <a:solidFill>
                  <a:srgbClr val="0433FF"/>
                </a:solidFill>
                <a:latin typeface="Georgia"/>
                <a:cs typeface="Georgia"/>
              </a:rPr>
              <a:t> </a:t>
            </a:r>
            <a:r>
              <a:rPr sz="1441" spc="-7" dirty="0">
                <a:solidFill>
                  <a:srgbClr val="0433FF"/>
                </a:solidFill>
                <a:latin typeface="Georgia"/>
                <a:cs typeface="Georgia"/>
              </a:rPr>
              <a:t>Lady</a:t>
            </a:r>
            <a:r>
              <a:rPr sz="1441" spc="-7" dirty="0">
                <a:latin typeface="Georgia"/>
                <a:cs typeface="Georgia"/>
              </a:rPr>
              <a:t>.</a:t>
            </a:r>
            <a:endParaRPr sz="1441">
              <a:latin typeface="Georgia"/>
              <a:cs typeface="Georg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494330">
              <a:lnSpc>
                <a:spcPct val="100000"/>
              </a:lnSpc>
              <a:spcBef>
                <a:spcPts val="70"/>
              </a:spcBef>
            </a:pPr>
            <a:r>
              <a:rPr spc="-281" dirty="0"/>
              <a:t>Baseline</a:t>
            </a:r>
            <a:r>
              <a:rPr spc="4" dirty="0"/>
              <a:t> </a:t>
            </a:r>
            <a:r>
              <a:rPr spc="-214" dirty="0"/>
              <a:t>models</a:t>
            </a:r>
          </a:p>
        </p:txBody>
      </p:sp>
      <p:sp>
        <p:nvSpPr>
          <p:cNvPr id="3" name="object 3"/>
          <p:cNvSpPr txBox="1"/>
          <p:nvPr/>
        </p:nvSpPr>
        <p:spPr>
          <a:xfrm>
            <a:off x="2220516" y="2137767"/>
            <a:ext cx="160288" cy="1984819"/>
          </a:xfrm>
          <a:prstGeom prst="rect">
            <a:avLst/>
          </a:prstGeom>
        </p:spPr>
        <p:txBody>
          <a:bodyPr vert="horz" wrap="square" lIns="0" tIns="9823" rIns="0" bIns="0" rtlCol="0">
            <a:spAutoFit/>
          </a:bodyPr>
          <a:lstStyle/>
          <a:p>
            <a:pPr marL="8929">
              <a:lnSpc>
                <a:spcPts val="3185"/>
              </a:lnSpc>
              <a:spcBef>
                <a:spcPts val="77"/>
              </a:spcBef>
            </a:pPr>
            <a:r>
              <a:rPr sz="2848" spc="-35" dirty="0">
                <a:latin typeface="Georgia"/>
                <a:cs typeface="Georgia"/>
              </a:rPr>
              <a:t>•</a:t>
            </a:r>
            <a:endParaRPr sz="2848">
              <a:latin typeface="Georgia"/>
              <a:cs typeface="Georgia"/>
            </a:endParaRPr>
          </a:p>
          <a:p>
            <a:pPr marL="8929">
              <a:lnSpc>
                <a:spcPts val="2953"/>
              </a:lnSpc>
            </a:pPr>
            <a:r>
              <a:rPr sz="2848" spc="-35" dirty="0">
                <a:latin typeface="Georgia"/>
                <a:cs typeface="Georgia"/>
              </a:rPr>
              <a:t>•</a:t>
            </a:r>
            <a:endParaRPr sz="2848">
              <a:latin typeface="Georgia"/>
              <a:cs typeface="Georgia"/>
            </a:endParaRPr>
          </a:p>
          <a:p>
            <a:pPr marL="8929">
              <a:lnSpc>
                <a:spcPts val="2953"/>
              </a:lnSpc>
            </a:pPr>
            <a:r>
              <a:rPr sz="2848" spc="-35" dirty="0">
                <a:latin typeface="Georgia"/>
                <a:cs typeface="Georgia"/>
              </a:rPr>
              <a:t>•</a:t>
            </a:r>
            <a:endParaRPr sz="2848">
              <a:latin typeface="Georgia"/>
              <a:cs typeface="Georgia"/>
            </a:endParaRPr>
          </a:p>
          <a:p>
            <a:pPr marL="8929">
              <a:lnSpc>
                <a:spcPts val="2953"/>
              </a:lnSpc>
            </a:pPr>
            <a:r>
              <a:rPr sz="2848" spc="-35" dirty="0">
                <a:latin typeface="Georgia"/>
                <a:cs typeface="Georgia"/>
              </a:rPr>
              <a:t>•</a:t>
            </a:r>
            <a:endParaRPr sz="2848">
              <a:latin typeface="Georgia"/>
              <a:cs typeface="Georgia"/>
            </a:endParaRPr>
          </a:p>
          <a:p>
            <a:pPr marL="8929">
              <a:lnSpc>
                <a:spcPts val="3185"/>
              </a:lnSpc>
            </a:pPr>
            <a:r>
              <a:rPr sz="2848" spc="-35" dirty="0">
                <a:latin typeface="Georgia"/>
                <a:cs typeface="Georgia"/>
              </a:rPr>
              <a:t>•</a:t>
            </a:r>
            <a:endParaRPr sz="2848">
              <a:latin typeface="Georgia"/>
              <a:cs typeface="Georgia"/>
            </a:endParaRPr>
          </a:p>
        </p:txBody>
      </p:sp>
      <p:sp>
        <p:nvSpPr>
          <p:cNvPr id="4" name="object 4"/>
          <p:cNvSpPr txBox="1"/>
          <p:nvPr/>
        </p:nvSpPr>
        <p:spPr>
          <a:xfrm>
            <a:off x="2533055" y="2139553"/>
            <a:ext cx="6932563" cy="2878905"/>
          </a:xfrm>
          <a:prstGeom prst="rect">
            <a:avLst/>
          </a:prstGeom>
        </p:spPr>
        <p:txBody>
          <a:bodyPr vert="horz" wrap="square" lIns="0" tIns="8930" rIns="0" bIns="0" rtlCol="0" anchor="t">
            <a:spAutoFit/>
          </a:bodyPr>
          <a:lstStyle/>
          <a:p>
            <a:pPr marL="8890" marR="2509520">
              <a:lnSpc>
                <a:spcPct val="125000"/>
              </a:lnSpc>
              <a:spcBef>
                <a:spcPts val="70"/>
              </a:spcBef>
            </a:pPr>
            <a:r>
              <a:rPr sz="1950" dirty="0">
                <a:latin typeface="Georgia"/>
                <a:cs typeface="Georgia"/>
              </a:rPr>
              <a:t>SQuAD:</a:t>
            </a:r>
            <a:r>
              <a:rPr sz="1950" spc="-49" dirty="0">
                <a:latin typeface="Georgia"/>
                <a:cs typeface="Georgia"/>
              </a:rPr>
              <a:t> </a:t>
            </a:r>
            <a:r>
              <a:rPr sz="1950" dirty="0">
                <a:latin typeface="Georgia"/>
                <a:cs typeface="Georgia"/>
              </a:rPr>
              <a:t>(Clark</a:t>
            </a:r>
            <a:r>
              <a:rPr sz="1950" spc="-53" dirty="0">
                <a:latin typeface="Georgia"/>
                <a:cs typeface="Georgia"/>
              </a:rPr>
              <a:t> </a:t>
            </a:r>
            <a:r>
              <a:rPr sz="1950" dirty="0">
                <a:latin typeface="Georgia"/>
                <a:cs typeface="Georgia"/>
              </a:rPr>
              <a:t>and</a:t>
            </a:r>
            <a:r>
              <a:rPr sz="1950" spc="-49" dirty="0">
                <a:latin typeface="Georgia"/>
                <a:cs typeface="Georgia"/>
              </a:rPr>
              <a:t> </a:t>
            </a:r>
            <a:r>
              <a:rPr sz="1950" dirty="0">
                <a:latin typeface="Georgia"/>
                <a:cs typeface="Georgia"/>
              </a:rPr>
              <a:t>Gardner,</a:t>
            </a:r>
            <a:r>
              <a:rPr sz="1950" spc="-53" dirty="0">
                <a:latin typeface="Georgia"/>
                <a:cs typeface="Georgia"/>
              </a:rPr>
              <a:t> </a:t>
            </a:r>
            <a:r>
              <a:rPr sz="1950" spc="-7" dirty="0">
                <a:latin typeface="Georgia"/>
                <a:cs typeface="Georgia"/>
              </a:rPr>
              <a:t>2017) </a:t>
            </a:r>
            <a:endParaRPr lang="en-US" sz="1950">
              <a:latin typeface="Georgia"/>
              <a:cs typeface="Georgia"/>
            </a:endParaRPr>
          </a:p>
          <a:p>
            <a:pPr marL="8890" marR="2509520">
              <a:lnSpc>
                <a:spcPct val="125000"/>
              </a:lnSpc>
              <a:spcBef>
                <a:spcPts val="70"/>
              </a:spcBef>
            </a:pPr>
            <a:r>
              <a:rPr sz="1950">
                <a:latin typeface="Georgia"/>
                <a:cs typeface="Georgia"/>
              </a:rPr>
              <a:t>Textual</a:t>
            </a:r>
            <a:r>
              <a:rPr sz="1950" spc="-28" dirty="0">
                <a:latin typeface="Georgia"/>
                <a:cs typeface="Georgia"/>
              </a:rPr>
              <a:t> </a:t>
            </a:r>
            <a:r>
              <a:rPr sz="1950" dirty="0">
                <a:latin typeface="Georgia"/>
                <a:cs typeface="Georgia"/>
              </a:rPr>
              <a:t>entailment:</a:t>
            </a:r>
            <a:r>
              <a:rPr sz="1950" spc="-21" dirty="0">
                <a:latin typeface="Georgia"/>
                <a:cs typeface="Georgia"/>
              </a:rPr>
              <a:t> </a:t>
            </a:r>
            <a:r>
              <a:rPr sz="1950" dirty="0">
                <a:latin typeface="Georgia"/>
                <a:cs typeface="Georgia"/>
              </a:rPr>
              <a:t>(Chen</a:t>
            </a:r>
            <a:r>
              <a:rPr sz="1950" spc="-25" dirty="0">
                <a:latin typeface="Georgia"/>
                <a:cs typeface="Georgia"/>
              </a:rPr>
              <a:t> </a:t>
            </a:r>
            <a:r>
              <a:rPr sz="1950" dirty="0">
                <a:latin typeface="Georgia"/>
                <a:cs typeface="Georgia"/>
              </a:rPr>
              <a:t>et</a:t>
            </a:r>
            <a:r>
              <a:rPr sz="1950" spc="-25" dirty="0">
                <a:latin typeface="Georgia"/>
                <a:cs typeface="Georgia"/>
              </a:rPr>
              <a:t> </a:t>
            </a:r>
            <a:r>
              <a:rPr sz="1950" dirty="0">
                <a:latin typeface="Georgia"/>
                <a:cs typeface="Georgia"/>
              </a:rPr>
              <a:t>al,</a:t>
            </a:r>
            <a:r>
              <a:rPr sz="1950" spc="-28" dirty="0">
                <a:latin typeface="Georgia"/>
                <a:cs typeface="Georgia"/>
              </a:rPr>
              <a:t> </a:t>
            </a:r>
            <a:r>
              <a:rPr sz="1950" spc="-7" dirty="0">
                <a:latin typeface="Georgia"/>
                <a:cs typeface="Georgia"/>
              </a:rPr>
              <a:t>2017) </a:t>
            </a:r>
            <a:endParaRPr lang="en-US" sz="1950" dirty="0">
              <a:latin typeface="Georgia"/>
              <a:cs typeface="Georgia"/>
            </a:endParaRPr>
          </a:p>
          <a:p>
            <a:pPr marL="8890" marR="2509520">
              <a:lnSpc>
                <a:spcPct val="125000"/>
              </a:lnSpc>
              <a:spcBef>
                <a:spcPts val="70"/>
              </a:spcBef>
            </a:pPr>
            <a:r>
              <a:rPr sz="1950" dirty="0">
                <a:latin typeface="Georgia"/>
                <a:cs typeface="Georgia"/>
              </a:rPr>
              <a:t>Semantic</a:t>
            </a:r>
            <a:r>
              <a:rPr sz="1950" spc="-28" dirty="0">
                <a:latin typeface="Georgia"/>
                <a:cs typeface="Georgia"/>
              </a:rPr>
              <a:t> </a:t>
            </a:r>
            <a:r>
              <a:rPr sz="1950" dirty="0">
                <a:latin typeface="Georgia"/>
                <a:cs typeface="Georgia"/>
              </a:rPr>
              <a:t>role</a:t>
            </a:r>
            <a:r>
              <a:rPr sz="1950" spc="-25" dirty="0">
                <a:latin typeface="Georgia"/>
                <a:cs typeface="Georgia"/>
              </a:rPr>
              <a:t> </a:t>
            </a:r>
            <a:r>
              <a:rPr sz="1950" dirty="0">
                <a:latin typeface="Georgia"/>
                <a:cs typeface="Georgia"/>
              </a:rPr>
              <a:t>labeling:</a:t>
            </a:r>
            <a:r>
              <a:rPr sz="1950" spc="-28" dirty="0">
                <a:latin typeface="Georgia"/>
                <a:cs typeface="Georgia"/>
              </a:rPr>
              <a:t> </a:t>
            </a:r>
            <a:r>
              <a:rPr sz="1950" dirty="0">
                <a:latin typeface="Georgia"/>
                <a:cs typeface="Georgia"/>
              </a:rPr>
              <a:t>(He</a:t>
            </a:r>
            <a:r>
              <a:rPr sz="1950" spc="-25" dirty="0">
                <a:latin typeface="Georgia"/>
                <a:cs typeface="Georgia"/>
              </a:rPr>
              <a:t> </a:t>
            </a:r>
            <a:r>
              <a:rPr sz="1950" dirty="0">
                <a:latin typeface="Georgia"/>
                <a:cs typeface="Georgia"/>
              </a:rPr>
              <a:t>et</a:t>
            </a:r>
            <a:r>
              <a:rPr sz="1950" spc="-32" dirty="0">
                <a:latin typeface="Georgia"/>
                <a:cs typeface="Georgia"/>
              </a:rPr>
              <a:t> </a:t>
            </a:r>
            <a:r>
              <a:rPr sz="1950" dirty="0">
                <a:latin typeface="Georgia"/>
                <a:cs typeface="Georgia"/>
              </a:rPr>
              <a:t>al,</a:t>
            </a:r>
            <a:r>
              <a:rPr sz="1950" spc="-28" dirty="0">
                <a:latin typeface="Georgia"/>
                <a:cs typeface="Georgia"/>
              </a:rPr>
              <a:t> </a:t>
            </a:r>
            <a:r>
              <a:rPr sz="1950" spc="-7" dirty="0">
                <a:latin typeface="Georgia"/>
                <a:cs typeface="Georgia"/>
              </a:rPr>
              <a:t>2017) </a:t>
            </a:r>
            <a:endParaRPr lang="en-US" sz="1950" dirty="0">
              <a:latin typeface="Georgia"/>
              <a:cs typeface="Georgia"/>
            </a:endParaRPr>
          </a:p>
          <a:p>
            <a:pPr marL="8890" marR="2509520">
              <a:lnSpc>
                <a:spcPct val="125000"/>
              </a:lnSpc>
              <a:spcBef>
                <a:spcPts val="70"/>
              </a:spcBef>
            </a:pPr>
            <a:r>
              <a:rPr sz="1950" dirty="0">
                <a:latin typeface="Georgia"/>
                <a:cs typeface="Georgia"/>
              </a:rPr>
              <a:t>Coreference</a:t>
            </a:r>
            <a:r>
              <a:rPr sz="1950" spc="-32" dirty="0">
                <a:latin typeface="Georgia"/>
                <a:cs typeface="Georgia"/>
              </a:rPr>
              <a:t> </a:t>
            </a:r>
            <a:r>
              <a:rPr sz="1950" dirty="0">
                <a:latin typeface="Georgia"/>
                <a:cs typeface="Georgia"/>
              </a:rPr>
              <a:t>resolution:</a:t>
            </a:r>
            <a:r>
              <a:rPr sz="1950" spc="-28" dirty="0">
                <a:latin typeface="Georgia"/>
                <a:cs typeface="Georgia"/>
              </a:rPr>
              <a:t> </a:t>
            </a:r>
            <a:r>
              <a:rPr sz="1950" dirty="0">
                <a:latin typeface="Georgia"/>
                <a:cs typeface="Georgia"/>
              </a:rPr>
              <a:t>(Lee</a:t>
            </a:r>
            <a:r>
              <a:rPr sz="1950" spc="-28" dirty="0">
                <a:latin typeface="Georgia"/>
                <a:cs typeface="Georgia"/>
              </a:rPr>
              <a:t> </a:t>
            </a:r>
            <a:r>
              <a:rPr sz="1950" dirty="0">
                <a:latin typeface="Georgia"/>
                <a:cs typeface="Georgia"/>
              </a:rPr>
              <a:t>et</a:t>
            </a:r>
            <a:r>
              <a:rPr sz="1950" spc="-32" dirty="0">
                <a:latin typeface="Georgia"/>
                <a:cs typeface="Georgia"/>
              </a:rPr>
              <a:t> </a:t>
            </a:r>
            <a:r>
              <a:rPr sz="1950" dirty="0">
                <a:latin typeface="Georgia"/>
                <a:cs typeface="Georgia"/>
              </a:rPr>
              <a:t>al,</a:t>
            </a:r>
            <a:r>
              <a:rPr sz="1950" spc="-32" dirty="0">
                <a:latin typeface="Georgia"/>
                <a:cs typeface="Georgia"/>
              </a:rPr>
              <a:t> </a:t>
            </a:r>
            <a:r>
              <a:rPr sz="1950" spc="-7" dirty="0">
                <a:latin typeface="Georgia"/>
                <a:cs typeface="Georgia"/>
              </a:rPr>
              <a:t>2017)</a:t>
            </a:r>
            <a:endParaRPr sz="1950" dirty="0">
              <a:latin typeface="Georgia"/>
              <a:cs typeface="Georgia"/>
            </a:endParaRPr>
          </a:p>
          <a:p>
            <a:pPr marL="8890" marR="3175">
              <a:lnSpc>
                <a:spcPts val="2250"/>
              </a:lnSpc>
              <a:spcBef>
                <a:spcPts val="759"/>
              </a:spcBef>
            </a:pPr>
            <a:r>
              <a:rPr sz="1969" dirty="0">
                <a:latin typeface="Georgia"/>
                <a:cs typeface="Georgia"/>
              </a:rPr>
              <a:t>Named</a:t>
            </a:r>
            <a:r>
              <a:rPr sz="1969" spc="-49" dirty="0">
                <a:latin typeface="Georgia"/>
                <a:cs typeface="Georgia"/>
              </a:rPr>
              <a:t> </a:t>
            </a:r>
            <a:r>
              <a:rPr sz="1969" dirty="0">
                <a:latin typeface="Georgia"/>
                <a:cs typeface="Georgia"/>
              </a:rPr>
              <a:t>entity</a:t>
            </a:r>
            <a:r>
              <a:rPr sz="1969" spc="-46" dirty="0">
                <a:latin typeface="Georgia"/>
                <a:cs typeface="Georgia"/>
              </a:rPr>
              <a:t> </a:t>
            </a:r>
            <a:r>
              <a:rPr sz="1969" dirty="0">
                <a:latin typeface="Georgia"/>
                <a:cs typeface="Georgia"/>
              </a:rPr>
              <a:t>recognition:</a:t>
            </a:r>
            <a:r>
              <a:rPr sz="1969" spc="-42" dirty="0">
                <a:latin typeface="Georgia"/>
                <a:cs typeface="Georgia"/>
              </a:rPr>
              <a:t> </a:t>
            </a:r>
            <a:r>
              <a:rPr sz="1969" spc="-7" dirty="0">
                <a:latin typeface="Georgia"/>
                <a:cs typeface="Georgia"/>
              </a:rPr>
              <a:t>pre-</a:t>
            </a:r>
            <a:r>
              <a:rPr sz="1969" dirty="0">
                <a:latin typeface="Georgia"/>
                <a:cs typeface="Georgia"/>
              </a:rPr>
              <a:t>trained</a:t>
            </a:r>
            <a:r>
              <a:rPr sz="1969" spc="-49" dirty="0">
                <a:latin typeface="Georgia"/>
                <a:cs typeface="Georgia"/>
              </a:rPr>
              <a:t> </a:t>
            </a:r>
            <a:r>
              <a:rPr sz="1969" dirty="0">
                <a:latin typeface="Georgia"/>
                <a:cs typeface="Georgia"/>
              </a:rPr>
              <a:t>word</a:t>
            </a:r>
            <a:r>
              <a:rPr sz="1969" spc="-46" dirty="0">
                <a:latin typeface="Georgia"/>
                <a:cs typeface="Georgia"/>
              </a:rPr>
              <a:t> </a:t>
            </a:r>
            <a:r>
              <a:rPr sz="1969" dirty="0">
                <a:latin typeface="Georgia"/>
                <a:cs typeface="Georgia"/>
              </a:rPr>
              <a:t>embeddings,</a:t>
            </a:r>
            <a:r>
              <a:rPr sz="1969" spc="-49" dirty="0">
                <a:latin typeface="Georgia"/>
                <a:cs typeface="Georgia"/>
              </a:rPr>
              <a:t> </a:t>
            </a:r>
            <a:r>
              <a:rPr sz="1969" spc="-35" dirty="0">
                <a:latin typeface="Georgia"/>
                <a:cs typeface="Georgia"/>
              </a:rPr>
              <a:t>a </a:t>
            </a:r>
            <a:r>
              <a:rPr sz="1969" spc="-7" dirty="0">
                <a:latin typeface="Georgia"/>
                <a:cs typeface="Georgia"/>
              </a:rPr>
              <a:t>character-</a:t>
            </a:r>
            <a:r>
              <a:rPr sz="1969" dirty="0">
                <a:latin typeface="Georgia"/>
                <a:cs typeface="Georgia"/>
              </a:rPr>
              <a:t>based</a:t>
            </a:r>
            <a:r>
              <a:rPr sz="1969" spc="-42" dirty="0">
                <a:latin typeface="Georgia"/>
                <a:cs typeface="Georgia"/>
              </a:rPr>
              <a:t> </a:t>
            </a:r>
            <a:r>
              <a:rPr sz="1969" dirty="0">
                <a:latin typeface="Georgia"/>
                <a:cs typeface="Georgia"/>
              </a:rPr>
              <a:t>CNN</a:t>
            </a:r>
            <a:r>
              <a:rPr sz="1969" spc="-35" dirty="0">
                <a:latin typeface="Georgia"/>
                <a:cs typeface="Georgia"/>
              </a:rPr>
              <a:t> </a:t>
            </a:r>
            <a:r>
              <a:rPr sz="1969" dirty="0">
                <a:latin typeface="Georgia"/>
                <a:cs typeface="Georgia"/>
              </a:rPr>
              <a:t>representation,</a:t>
            </a:r>
            <a:r>
              <a:rPr sz="1969" spc="-42" dirty="0">
                <a:latin typeface="Georgia"/>
                <a:cs typeface="Georgia"/>
              </a:rPr>
              <a:t> </a:t>
            </a:r>
            <a:r>
              <a:rPr sz="1969" dirty="0">
                <a:latin typeface="Georgia"/>
                <a:cs typeface="Georgia"/>
              </a:rPr>
              <a:t>two</a:t>
            </a:r>
            <a:r>
              <a:rPr sz="1969" spc="-35" dirty="0">
                <a:latin typeface="Georgia"/>
                <a:cs typeface="Georgia"/>
              </a:rPr>
              <a:t> </a:t>
            </a:r>
            <a:r>
              <a:rPr sz="1969" dirty="0">
                <a:latin typeface="Georgia"/>
                <a:cs typeface="Georgia"/>
              </a:rPr>
              <a:t>biLSTM</a:t>
            </a:r>
            <a:r>
              <a:rPr sz="1969" spc="-39" dirty="0">
                <a:latin typeface="Georgia"/>
                <a:cs typeface="Georgia"/>
              </a:rPr>
              <a:t> </a:t>
            </a:r>
            <a:r>
              <a:rPr sz="1969" dirty="0">
                <a:latin typeface="Georgia"/>
                <a:cs typeface="Georgia"/>
              </a:rPr>
              <a:t>layers</a:t>
            </a:r>
            <a:r>
              <a:rPr sz="1969" spc="-42" dirty="0">
                <a:latin typeface="Georgia"/>
                <a:cs typeface="Georgia"/>
              </a:rPr>
              <a:t> </a:t>
            </a:r>
            <a:r>
              <a:rPr sz="1969" dirty="0">
                <a:latin typeface="Georgia"/>
                <a:cs typeface="Georgia"/>
              </a:rPr>
              <a:t>and</a:t>
            </a:r>
            <a:r>
              <a:rPr sz="1969" spc="-39" dirty="0">
                <a:latin typeface="Georgia"/>
                <a:cs typeface="Georgia"/>
              </a:rPr>
              <a:t> </a:t>
            </a:r>
            <a:r>
              <a:rPr sz="1969" spc="-35" dirty="0">
                <a:latin typeface="Georgia"/>
                <a:cs typeface="Georgia"/>
              </a:rPr>
              <a:t>a </a:t>
            </a:r>
            <a:r>
              <a:rPr sz="1969" dirty="0">
                <a:latin typeface="Georgia"/>
                <a:cs typeface="Georgia"/>
              </a:rPr>
              <a:t>conditional</a:t>
            </a:r>
            <a:r>
              <a:rPr sz="1969" spc="-56" dirty="0">
                <a:latin typeface="Georgia"/>
                <a:cs typeface="Georgia"/>
              </a:rPr>
              <a:t> </a:t>
            </a:r>
            <a:r>
              <a:rPr sz="1969" dirty="0">
                <a:latin typeface="Georgia"/>
                <a:cs typeface="Georgia"/>
              </a:rPr>
              <a:t>random</a:t>
            </a:r>
            <a:r>
              <a:rPr sz="1969" spc="-49" dirty="0">
                <a:latin typeface="Georgia"/>
                <a:cs typeface="Georgia"/>
              </a:rPr>
              <a:t> </a:t>
            </a:r>
            <a:r>
              <a:rPr sz="1969" dirty="0">
                <a:latin typeface="Georgia"/>
                <a:cs typeface="Georgia"/>
              </a:rPr>
              <a:t>field</a:t>
            </a:r>
            <a:r>
              <a:rPr sz="1969" spc="-53" dirty="0">
                <a:latin typeface="Georgia"/>
                <a:cs typeface="Georgia"/>
              </a:rPr>
              <a:t> </a:t>
            </a:r>
            <a:r>
              <a:rPr sz="1969" dirty="0">
                <a:latin typeface="Georgia"/>
                <a:cs typeface="Georgia"/>
              </a:rPr>
              <a:t>(CRF)</a:t>
            </a:r>
            <a:r>
              <a:rPr sz="1969" spc="-53" dirty="0">
                <a:latin typeface="Georgia"/>
                <a:cs typeface="Georgia"/>
              </a:rPr>
              <a:t> </a:t>
            </a:r>
            <a:r>
              <a:rPr sz="1969" spc="-14" dirty="0">
                <a:latin typeface="Georgia"/>
                <a:cs typeface="Georgia"/>
              </a:rPr>
              <a:t>loss</a:t>
            </a:r>
            <a:endParaRPr sz="1969">
              <a:latin typeface="Georgia"/>
              <a:cs typeface="Georgia"/>
            </a:endParaRPr>
          </a:p>
          <a:p>
            <a:pPr marL="8890">
              <a:lnSpc>
                <a:spcPct val="100000"/>
              </a:lnSpc>
              <a:spcBef>
                <a:spcPts val="534"/>
              </a:spcBef>
            </a:pPr>
            <a:r>
              <a:rPr sz="1969" dirty="0">
                <a:latin typeface="Georgia"/>
                <a:cs typeface="Georgia"/>
              </a:rPr>
              <a:t>Sentiment</a:t>
            </a:r>
            <a:r>
              <a:rPr sz="1969" spc="-46" dirty="0">
                <a:latin typeface="Georgia"/>
                <a:cs typeface="Georgia"/>
              </a:rPr>
              <a:t> </a:t>
            </a:r>
            <a:r>
              <a:rPr sz="1969" dirty="0">
                <a:latin typeface="Georgia"/>
                <a:cs typeface="Georgia"/>
              </a:rPr>
              <a:t>analysis:</a:t>
            </a:r>
            <a:r>
              <a:rPr sz="1969" spc="-39" dirty="0">
                <a:latin typeface="Georgia"/>
                <a:cs typeface="Georgia"/>
              </a:rPr>
              <a:t> </a:t>
            </a:r>
            <a:r>
              <a:rPr sz="1969" dirty="0">
                <a:latin typeface="Georgia"/>
                <a:cs typeface="Georgia"/>
              </a:rPr>
              <a:t>(McCann</a:t>
            </a:r>
            <a:r>
              <a:rPr sz="1969" spc="-42" dirty="0">
                <a:latin typeface="Georgia"/>
                <a:cs typeface="Georgia"/>
              </a:rPr>
              <a:t> </a:t>
            </a:r>
            <a:r>
              <a:rPr sz="1969" dirty="0">
                <a:latin typeface="Georgia"/>
                <a:cs typeface="Georgia"/>
              </a:rPr>
              <a:t>et</a:t>
            </a:r>
            <a:r>
              <a:rPr sz="1969" spc="-42" dirty="0">
                <a:latin typeface="Georgia"/>
                <a:cs typeface="Georgia"/>
              </a:rPr>
              <a:t> </a:t>
            </a:r>
            <a:r>
              <a:rPr sz="1969" dirty="0">
                <a:latin typeface="Georgia"/>
                <a:cs typeface="Georgia"/>
              </a:rPr>
              <a:t>al,</a:t>
            </a:r>
            <a:r>
              <a:rPr sz="1969" spc="-42" dirty="0">
                <a:latin typeface="Georgia"/>
                <a:cs typeface="Georgia"/>
              </a:rPr>
              <a:t> </a:t>
            </a:r>
            <a:r>
              <a:rPr sz="1969" spc="-7" dirty="0">
                <a:latin typeface="Georgia"/>
                <a:cs typeface="Georgia"/>
              </a:rPr>
              <a:t>2017)</a:t>
            </a:r>
            <a:endParaRPr sz="1969">
              <a:latin typeface="Georgia"/>
              <a:cs typeface="Georgia"/>
            </a:endParaRPr>
          </a:p>
        </p:txBody>
      </p:sp>
      <p:sp>
        <p:nvSpPr>
          <p:cNvPr id="5" name="object 5"/>
          <p:cNvSpPr txBox="1"/>
          <p:nvPr/>
        </p:nvSpPr>
        <p:spPr>
          <a:xfrm>
            <a:off x="2220516" y="4584502"/>
            <a:ext cx="160288" cy="453182"/>
          </a:xfrm>
          <a:prstGeom prst="rect">
            <a:avLst/>
          </a:prstGeom>
        </p:spPr>
        <p:txBody>
          <a:bodyPr vert="horz" wrap="square" lIns="0" tIns="9823" rIns="0" bIns="0" rtlCol="0">
            <a:spAutoFit/>
          </a:bodyPr>
          <a:lstStyle/>
          <a:p>
            <a:pPr marL="8929">
              <a:lnSpc>
                <a:spcPct val="100000"/>
              </a:lnSpc>
              <a:spcBef>
                <a:spcPts val="77"/>
              </a:spcBef>
            </a:pPr>
            <a:r>
              <a:rPr sz="2848" spc="-35" dirty="0">
                <a:latin typeface="Georgia"/>
                <a:cs typeface="Georgia"/>
              </a:rPr>
              <a:t>•</a:t>
            </a:r>
            <a:endParaRPr sz="2848">
              <a:latin typeface="Georgia"/>
              <a:cs typeface="Georgi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494330">
              <a:lnSpc>
                <a:spcPct val="100000"/>
              </a:lnSpc>
              <a:spcBef>
                <a:spcPts val="70"/>
              </a:spcBef>
            </a:pPr>
            <a:r>
              <a:rPr spc="-281" dirty="0"/>
              <a:t>Baseline</a:t>
            </a:r>
            <a:r>
              <a:rPr spc="4" dirty="0"/>
              <a:t> </a:t>
            </a:r>
            <a:r>
              <a:rPr spc="-214" dirty="0"/>
              <a:t>models</a:t>
            </a:r>
          </a:p>
        </p:txBody>
      </p:sp>
      <p:pic>
        <p:nvPicPr>
          <p:cNvPr id="3" name="object 3"/>
          <p:cNvPicPr/>
          <p:nvPr/>
        </p:nvPicPr>
        <p:blipFill>
          <a:blip r:embed="rId2" cstate="print"/>
          <a:stretch>
            <a:fillRect/>
          </a:stretch>
        </p:blipFill>
        <p:spPr>
          <a:xfrm>
            <a:off x="2648019" y="1995722"/>
            <a:ext cx="2789698" cy="3766412"/>
          </a:xfrm>
          <a:prstGeom prst="rect">
            <a:avLst/>
          </a:prstGeom>
        </p:spPr>
      </p:pic>
      <p:pic>
        <p:nvPicPr>
          <p:cNvPr id="4" name="object 4"/>
          <p:cNvPicPr/>
          <p:nvPr/>
        </p:nvPicPr>
        <p:blipFill>
          <a:blip r:embed="rId3" cstate="print"/>
          <a:stretch>
            <a:fillRect/>
          </a:stretch>
        </p:blipFill>
        <p:spPr>
          <a:xfrm>
            <a:off x="6758069" y="2071514"/>
            <a:ext cx="2802724" cy="3625328"/>
          </a:xfrm>
          <a:prstGeom prst="rect">
            <a:avLst/>
          </a:prstGeom>
        </p:spPr>
      </p:pic>
      <p:sp>
        <p:nvSpPr>
          <p:cNvPr id="5" name="object 5"/>
          <p:cNvSpPr txBox="1"/>
          <p:nvPr/>
        </p:nvSpPr>
        <p:spPr>
          <a:xfrm>
            <a:off x="2934891" y="6152555"/>
            <a:ext cx="2915989" cy="317897"/>
          </a:xfrm>
          <a:prstGeom prst="rect">
            <a:avLst/>
          </a:prstGeom>
        </p:spPr>
        <p:txBody>
          <a:bodyPr vert="horz" wrap="square" lIns="0" tIns="8930" rIns="0" bIns="0" rtlCol="0">
            <a:spAutoFit/>
          </a:bodyPr>
          <a:lstStyle/>
          <a:p>
            <a:pPr marL="8929">
              <a:lnSpc>
                <a:spcPct val="100000"/>
              </a:lnSpc>
              <a:spcBef>
                <a:spcPts val="70"/>
              </a:spcBef>
            </a:pPr>
            <a:r>
              <a:rPr sz="1969" dirty="0">
                <a:latin typeface="Georgia"/>
                <a:cs typeface="Georgia"/>
              </a:rPr>
              <a:t>(Clark</a:t>
            </a:r>
            <a:r>
              <a:rPr sz="1969" spc="-46" dirty="0">
                <a:latin typeface="Georgia"/>
                <a:cs typeface="Georgia"/>
              </a:rPr>
              <a:t> </a:t>
            </a:r>
            <a:r>
              <a:rPr sz="1969" dirty="0">
                <a:latin typeface="Georgia"/>
                <a:cs typeface="Georgia"/>
              </a:rPr>
              <a:t>and</a:t>
            </a:r>
            <a:r>
              <a:rPr sz="1969" spc="-46" dirty="0">
                <a:latin typeface="Georgia"/>
                <a:cs typeface="Georgia"/>
              </a:rPr>
              <a:t> </a:t>
            </a:r>
            <a:r>
              <a:rPr sz="1969" dirty="0">
                <a:latin typeface="Georgia"/>
                <a:cs typeface="Georgia"/>
              </a:rPr>
              <a:t>Gardner,</a:t>
            </a:r>
            <a:r>
              <a:rPr sz="1969" spc="-46" dirty="0">
                <a:latin typeface="Georgia"/>
                <a:cs typeface="Georgia"/>
              </a:rPr>
              <a:t> </a:t>
            </a:r>
            <a:r>
              <a:rPr sz="1969" spc="-7" dirty="0">
                <a:latin typeface="Georgia"/>
                <a:cs typeface="Georgia"/>
              </a:rPr>
              <a:t>2017)</a:t>
            </a:r>
            <a:endParaRPr sz="1969">
              <a:latin typeface="Georgia"/>
              <a:cs typeface="Georgia"/>
            </a:endParaRPr>
          </a:p>
        </p:txBody>
      </p:sp>
      <p:sp>
        <p:nvSpPr>
          <p:cNvPr id="6" name="object 6"/>
          <p:cNvSpPr txBox="1"/>
          <p:nvPr/>
        </p:nvSpPr>
        <p:spPr>
          <a:xfrm>
            <a:off x="7256860" y="6098977"/>
            <a:ext cx="1959173" cy="317897"/>
          </a:xfrm>
          <a:prstGeom prst="rect">
            <a:avLst/>
          </a:prstGeom>
        </p:spPr>
        <p:txBody>
          <a:bodyPr vert="horz" wrap="square" lIns="0" tIns="8930" rIns="0" bIns="0" rtlCol="0">
            <a:spAutoFit/>
          </a:bodyPr>
          <a:lstStyle/>
          <a:p>
            <a:pPr marL="8929">
              <a:lnSpc>
                <a:spcPct val="100000"/>
              </a:lnSpc>
              <a:spcBef>
                <a:spcPts val="70"/>
              </a:spcBef>
            </a:pPr>
            <a:r>
              <a:rPr sz="1969" dirty="0">
                <a:latin typeface="Georgia"/>
                <a:cs typeface="Georgia"/>
              </a:rPr>
              <a:t>(Chen</a:t>
            </a:r>
            <a:r>
              <a:rPr sz="1969" spc="-18" dirty="0">
                <a:latin typeface="Georgia"/>
                <a:cs typeface="Georgia"/>
              </a:rPr>
              <a:t> </a:t>
            </a:r>
            <a:r>
              <a:rPr sz="1969" dirty="0">
                <a:latin typeface="Georgia"/>
                <a:cs typeface="Georgia"/>
              </a:rPr>
              <a:t>et</a:t>
            </a:r>
            <a:r>
              <a:rPr sz="1969" spc="-18" dirty="0">
                <a:latin typeface="Georgia"/>
                <a:cs typeface="Georgia"/>
              </a:rPr>
              <a:t> </a:t>
            </a:r>
            <a:r>
              <a:rPr sz="1969" dirty="0">
                <a:latin typeface="Georgia"/>
                <a:cs typeface="Georgia"/>
              </a:rPr>
              <a:t>al,</a:t>
            </a:r>
            <a:r>
              <a:rPr sz="1969" spc="-18" dirty="0">
                <a:latin typeface="Georgia"/>
                <a:cs typeface="Georgia"/>
              </a:rPr>
              <a:t> </a:t>
            </a:r>
            <a:r>
              <a:rPr sz="1969" spc="-14" dirty="0">
                <a:latin typeface="Georgia"/>
                <a:cs typeface="Georgia"/>
              </a:rPr>
              <a:t>2017)</a:t>
            </a:r>
            <a:endParaRPr sz="1969">
              <a:latin typeface="Georgia"/>
              <a:cs typeface="Georgi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056791">
              <a:lnSpc>
                <a:spcPct val="100000"/>
              </a:lnSpc>
              <a:spcBef>
                <a:spcPts val="70"/>
              </a:spcBef>
            </a:pPr>
            <a:r>
              <a:rPr spc="-169" dirty="0"/>
              <a:t>Experimental</a:t>
            </a:r>
            <a:r>
              <a:rPr spc="-42" dirty="0"/>
              <a:t> </a:t>
            </a:r>
            <a:r>
              <a:rPr spc="-127" dirty="0"/>
              <a:t>results</a:t>
            </a:r>
          </a:p>
        </p:txBody>
      </p:sp>
      <p:pic>
        <p:nvPicPr>
          <p:cNvPr id="3" name="object 3"/>
          <p:cNvPicPr/>
          <p:nvPr/>
        </p:nvPicPr>
        <p:blipFill>
          <a:blip r:embed="rId2" cstate="print"/>
          <a:stretch>
            <a:fillRect/>
          </a:stretch>
        </p:blipFill>
        <p:spPr>
          <a:xfrm>
            <a:off x="1964888" y="2261074"/>
            <a:ext cx="7924573" cy="2309494"/>
          </a:xfrm>
          <a:prstGeom prst="rect">
            <a:avLst/>
          </a:prstGeom>
        </p:spPr>
      </p:pic>
      <p:sp>
        <p:nvSpPr>
          <p:cNvPr id="4" name="object 4"/>
          <p:cNvSpPr txBox="1"/>
          <p:nvPr/>
        </p:nvSpPr>
        <p:spPr>
          <a:xfrm>
            <a:off x="1988344" y="4866323"/>
            <a:ext cx="140196" cy="1160859"/>
          </a:xfrm>
          <a:prstGeom prst="rect">
            <a:avLst/>
          </a:prstGeom>
        </p:spPr>
        <p:txBody>
          <a:bodyPr vert="horz" wrap="square" lIns="0" tIns="209848" rIns="0" bIns="0" rtlCol="0">
            <a:spAutoFit/>
          </a:bodyPr>
          <a:lstStyle/>
          <a:p>
            <a:pPr marL="8929">
              <a:lnSpc>
                <a:spcPct val="100000"/>
              </a:lnSpc>
              <a:spcBef>
                <a:spcPts val="1652"/>
              </a:spcBef>
            </a:pPr>
            <a:r>
              <a:rPr sz="2426" spc="-35" dirty="0">
                <a:latin typeface="Georgia"/>
                <a:cs typeface="Georgia"/>
              </a:rPr>
              <a:t>•</a:t>
            </a:r>
            <a:endParaRPr sz="2426">
              <a:latin typeface="Georgia"/>
              <a:cs typeface="Georgia"/>
            </a:endParaRPr>
          </a:p>
          <a:p>
            <a:pPr marL="8929">
              <a:lnSpc>
                <a:spcPct val="100000"/>
              </a:lnSpc>
              <a:spcBef>
                <a:spcPts val="1589"/>
              </a:spcBef>
            </a:pPr>
            <a:r>
              <a:rPr sz="2426" spc="-35" dirty="0">
                <a:latin typeface="Georgia"/>
                <a:cs typeface="Georgia"/>
              </a:rPr>
              <a:t>•</a:t>
            </a:r>
            <a:endParaRPr sz="2426">
              <a:latin typeface="Georgia"/>
              <a:cs typeface="Georgia"/>
            </a:endParaRPr>
          </a:p>
        </p:txBody>
      </p:sp>
      <p:sp>
        <p:nvSpPr>
          <p:cNvPr id="5" name="object 5"/>
          <p:cNvSpPr txBox="1"/>
          <p:nvPr/>
        </p:nvSpPr>
        <p:spPr>
          <a:xfrm>
            <a:off x="2300883" y="5125641"/>
            <a:ext cx="7778651" cy="846534"/>
          </a:xfrm>
          <a:prstGeom prst="rect">
            <a:avLst/>
          </a:prstGeom>
        </p:spPr>
        <p:txBody>
          <a:bodyPr vert="horz" wrap="square" lIns="0" tIns="30361" rIns="0" bIns="0" rtlCol="0">
            <a:spAutoFit/>
          </a:bodyPr>
          <a:lstStyle/>
          <a:p>
            <a:pPr marL="8929" marR="3572">
              <a:lnSpc>
                <a:spcPts val="1898"/>
              </a:lnSpc>
              <a:spcBef>
                <a:spcPts val="239"/>
              </a:spcBef>
            </a:pPr>
            <a:r>
              <a:rPr sz="1687" dirty="0">
                <a:latin typeface="Georgia"/>
                <a:cs typeface="Georgia"/>
              </a:rPr>
              <a:t>SQuAD:</a:t>
            </a:r>
            <a:r>
              <a:rPr sz="1687" spc="-32" dirty="0">
                <a:latin typeface="Georgia"/>
                <a:cs typeface="Georgia"/>
              </a:rPr>
              <a:t> </a:t>
            </a:r>
            <a:r>
              <a:rPr sz="1687" dirty="0">
                <a:latin typeface="Georgia"/>
                <a:cs typeface="Georgia"/>
              </a:rPr>
              <a:t>“The</a:t>
            </a:r>
            <a:r>
              <a:rPr sz="1687" spc="-32" dirty="0">
                <a:latin typeface="Georgia"/>
                <a:cs typeface="Georgia"/>
              </a:rPr>
              <a:t> </a:t>
            </a:r>
            <a:r>
              <a:rPr sz="1687" dirty="0">
                <a:latin typeface="Georgia"/>
                <a:cs typeface="Georgia"/>
              </a:rPr>
              <a:t>increase</a:t>
            </a:r>
            <a:r>
              <a:rPr sz="1687" spc="-32" dirty="0">
                <a:latin typeface="Georgia"/>
                <a:cs typeface="Georgia"/>
              </a:rPr>
              <a:t> </a:t>
            </a:r>
            <a:r>
              <a:rPr sz="1687" dirty="0">
                <a:latin typeface="Georgia"/>
                <a:cs typeface="Georgia"/>
              </a:rPr>
              <a:t>of</a:t>
            </a:r>
            <a:r>
              <a:rPr sz="1687" spc="-32" dirty="0">
                <a:latin typeface="Georgia"/>
                <a:cs typeface="Georgia"/>
              </a:rPr>
              <a:t> </a:t>
            </a:r>
            <a:r>
              <a:rPr sz="1687" dirty="0">
                <a:latin typeface="Georgia"/>
                <a:cs typeface="Georgia"/>
              </a:rPr>
              <a:t>4.7%</a:t>
            </a:r>
            <a:r>
              <a:rPr sz="1687" spc="-32" dirty="0">
                <a:latin typeface="Georgia"/>
                <a:cs typeface="Georgia"/>
              </a:rPr>
              <a:t> </a:t>
            </a:r>
            <a:r>
              <a:rPr sz="1687" dirty="0">
                <a:latin typeface="Georgia"/>
                <a:cs typeface="Georgia"/>
              </a:rPr>
              <a:t>with</a:t>
            </a:r>
            <a:r>
              <a:rPr sz="1687" spc="-35" dirty="0">
                <a:latin typeface="Georgia"/>
                <a:cs typeface="Georgia"/>
              </a:rPr>
              <a:t> </a:t>
            </a:r>
            <a:r>
              <a:rPr sz="1687" dirty="0">
                <a:latin typeface="Georgia"/>
                <a:cs typeface="Georgia"/>
              </a:rPr>
              <a:t>ELMo</a:t>
            </a:r>
            <a:r>
              <a:rPr sz="1687" spc="-28" dirty="0">
                <a:latin typeface="Georgia"/>
                <a:cs typeface="Georgia"/>
              </a:rPr>
              <a:t> </a:t>
            </a:r>
            <a:r>
              <a:rPr sz="1687" dirty="0">
                <a:latin typeface="Georgia"/>
                <a:cs typeface="Georgia"/>
              </a:rPr>
              <a:t>is</a:t>
            </a:r>
            <a:r>
              <a:rPr sz="1687" spc="-35" dirty="0">
                <a:latin typeface="Georgia"/>
                <a:cs typeface="Georgia"/>
              </a:rPr>
              <a:t> </a:t>
            </a:r>
            <a:r>
              <a:rPr sz="1687" dirty="0">
                <a:latin typeface="Georgia"/>
                <a:cs typeface="Georgia"/>
              </a:rPr>
              <a:t>also</a:t>
            </a:r>
            <a:r>
              <a:rPr sz="1687" spc="-32" dirty="0">
                <a:latin typeface="Georgia"/>
                <a:cs typeface="Georgia"/>
              </a:rPr>
              <a:t> </a:t>
            </a:r>
            <a:r>
              <a:rPr sz="1687" dirty="0">
                <a:latin typeface="Georgia"/>
                <a:cs typeface="Georgia"/>
              </a:rPr>
              <a:t>significantly</a:t>
            </a:r>
            <a:r>
              <a:rPr sz="1687" spc="-32" dirty="0">
                <a:latin typeface="Georgia"/>
                <a:cs typeface="Georgia"/>
              </a:rPr>
              <a:t> </a:t>
            </a:r>
            <a:r>
              <a:rPr sz="1687" dirty="0">
                <a:latin typeface="Georgia"/>
                <a:cs typeface="Georgia"/>
              </a:rPr>
              <a:t>larger</a:t>
            </a:r>
            <a:r>
              <a:rPr sz="1687" spc="-32" dirty="0">
                <a:latin typeface="Georgia"/>
                <a:cs typeface="Georgia"/>
              </a:rPr>
              <a:t> </a:t>
            </a:r>
            <a:r>
              <a:rPr sz="1687" dirty="0">
                <a:latin typeface="Georgia"/>
                <a:cs typeface="Georgia"/>
              </a:rPr>
              <a:t>then</a:t>
            </a:r>
            <a:r>
              <a:rPr sz="1687" spc="-35" dirty="0">
                <a:latin typeface="Georgia"/>
                <a:cs typeface="Georgia"/>
              </a:rPr>
              <a:t> </a:t>
            </a:r>
            <a:r>
              <a:rPr sz="1687" dirty="0">
                <a:latin typeface="Georgia"/>
                <a:cs typeface="Georgia"/>
              </a:rPr>
              <a:t>the</a:t>
            </a:r>
            <a:r>
              <a:rPr sz="1687" spc="-28" dirty="0">
                <a:latin typeface="Georgia"/>
                <a:cs typeface="Georgia"/>
              </a:rPr>
              <a:t> </a:t>
            </a:r>
            <a:r>
              <a:rPr sz="1687" spc="-14" dirty="0">
                <a:latin typeface="Georgia"/>
                <a:cs typeface="Georgia"/>
              </a:rPr>
              <a:t>1.8% </a:t>
            </a:r>
            <a:r>
              <a:rPr sz="1687" dirty="0">
                <a:latin typeface="Georgia"/>
                <a:cs typeface="Georgia"/>
              </a:rPr>
              <a:t>improvement</a:t>
            </a:r>
            <a:r>
              <a:rPr sz="1687" spc="-32" dirty="0">
                <a:latin typeface="Georgia"/>
                <a:cs typeface="Georgia"/>
              </a:rPr>
              <a:t> </a:t>
            </a:r>
            <a:r>
              <a:rPr sz="1687" dirty="0">
                <a:latin typeface="Georgia"/>
                <a:cs typeface="Georgia"/>
              </a:rPr>
              <a:t>from</a:t>
            </a:r>
            <a:r>
              <a:rPr sz="1687" spc="-25" dirty="0">
                <a:latin typeface="Georgia"/>
                <a:cs typeface="Georgia"/>
              </a:rPr>
              <a:t> </a:t>
            </a:r>
            <a:r>
              <a:rPr sz="1687" dirty="0">
                <a:latin typeface="Georgia"/>
                <a:cs typeface="Georgia"/>
              </a:rPr>
              <a:t>adding</a:t>
            </a:r>
            <a:r>
              <a:rPr sz="1687" spc="-25" dirty="0">
                <a:latin typeface="Georgia"/>
                <a:cs typeface="Georgia"/>
              </a:rPr>
              <a:t> </a:t>
            </a:r>
            <a:r>
              <a:rPr sz="1687" dirty="0">
                <a:latin typeface="Georgia"/>
                <a:cs typeface="Georgia"/>
              </a:rPr>
              <a:t>CoVe</a:t>
            </a:r>
            <a:r>
              <a:rPr sz="1687" spc="-25" dirty="0">
                <a:latin typeface="Georgia"/>
                <a:cs typeface="Georgia"/>
              </a:rPr>
              <a:t> </a:t>
            </a:r>
            <a:r>
              <a:rPr sz="1687" dirty="0">
                <a:latin typeface="Georgia"/>
                <a:cs typeface="Georgia"/>
              </a:rPr>
              <a:t>to</a:t>
            </a:r>
            <a:r>
              <a:rPr sz="1687" spc="-25" dirty="0">
                <a:latin typeface="Georgia"/>
                <a:cs typeface="Georgia"/>
              </a:rPr>
              <a:t> </a:t>
            </a:r>
            <a:r>
              <a:rPr sz="1687" dirty="0">
                <a:latin typeface="Georgia"/>
                <a:cs typeface="Georgia"/>
              </a:rPr>
              <a:t>a</a:t>
            </a:r>
            <a:r>
              <a:rPr sz="1687" spc="-25" dirty="0">
                <a:latin typeface="Georgia"/>
                <a:cs typeface="Georgia"/>
              </a:rPr>
              <a:t> </a:t>
            </a:r>
            <a:r>
              <a:rPr sz="1687" dirty="0">
                <a:latin typeface="Georgia"/>
                <a:cs typeface="Georgia"/>
              </a:rPr>
              <a:t>baseline</a:t>
            </a:r>
            <a:r>
              <a:rPr sz="1687" spc="-25" dirty="0">
                <a:latin typeface="Georgia"/>
                <a:cs typeface="Georgia"/>
              </a:rPr>
              <a:t> </a:t>
            </a:r>
            <a:r>
              <a:rPr sz="1687" spc="-7" dirty="0">
                <a:latin typeface="Georgia"/>
                <a:cs typeface="Georgia"/>
              </a:rPr>
              <a:t>model”</a:t>
            </a:r>
            <a:endParaRPr sz="1687">
              <a:latin typeface="Georgia"/>
              <a:cs typeface="Georgia"/>
            </a:endParaRPr>
          </a:p>
          <a:p>
            <a:pPr marL="8929">
              <a:lnSpc>
                <a:spcPct val="100000"/>
              </a:lnSpc>
              <a:spcBef>
                <a:spcPts val="534"/>
              </a:spcBef>
            </a:pPr>
            <a:r>
              <a:rPr sz="1687" spc="-14" dirty="0">
                <a:latin typeface="Georgia"/>
                <a:cs typeface="Georgia"/>
              </a:rPr>
              <a:t>SST-</a:t>
            </a:r>
            <a:r>
              <a:rPr sz="1687" dirty="0">
                <a:latin typeface="Georgia"/>
                <a:cs typeface="Georgia"/>
              </a:rPr>
              <a:t>5:</a:t>
            </a:r>
            <a:r>
              <a:rPr sz="1687" spc="-28" dirty="0">
                <a:latin typeface="Georgia"/>
                <a:cs typeface="Georgia"/>
              </a:rPr>
              <a:t> </a:t>
            </a:r>
            <a:r>
              <a:rPr sz="1687" dirty="0">
                <a:latin typeface="Georgia"/>
                <a:cs typeface="Georgia"/>
              </a:rPr>
              <a:t>“Replacing</a:t>
            </a:r>
            <a:r>
              <a:rPr sz="1687" spc="-25" dirty="0">
                <a:latin typeface="Georgia"/>
                <a:cs typeface="Georgia"/>
              </a:rPr>
              <a:t> </a:t>
            </a:r>
            <a:r>
              <a:rPr sz="1687" dirty="0">
                <a:latin typeface="Georgia"/>
                <a:cs typeface="Georgia"/>
              </a:rPr>
              <a:t>CoVe</a:t>
            </a:r>
            <a:r>
              <a:rPr sz="1687" spc="-28" dirty="0">
                <a:latin typeface="Georgia"/>
                <a:cs typeface="Georgia"/>
              </a:rPr>
              <a:t> </a:t>
            </a:r>
            <a:r>
              <a:rPr sz="1687" dirty="0">
                <a:latin typeface="Georgia"/>
                <a:cs typeface="Georgia"/>
              </a:rPr>
              <a:t>with</a:t>
            </a:r>
            <a:r>
              <a:rPr sz="1687" spc="-28" dirty="0">
                <a:latin typeface="Georgia"/>
                <a:cs typeface="Georgia"/>
              </a:rPr>
              <a:t> </a:t>
            </a:r>
            <a:r>
              <a:rPr sz="1687" dirty="0">
                <a:latin typeface="Georgia"/>
                <a:cs typeface="Georgia"/>
              </a:rPr>
              <a:t>ELMo</a:t>
            </a:r>
            <a:r>
              <a:rPr sz="1687" spc="-28" dirty="0">
                <a:latin typeface="Georgia"/>
                <a:cs typeface="Georgia"/>
              </a:rPr>
              <a:t> </a:t>
            </a:r>
            <a:r>
              <a:rPr sz="1687" dirty="0">
                <a:latin typeface="Georgia"/>
                <a:cs typeface="Georgia"/>
              </a:rPr>
              <a:t>results</a:t>
            </a:r>
            <a:r>
              <a:rPr sz="1687" spc="-28" dirty="0">
                <a:latin typeface="Georgia"/>
                <a:cs typeface="Georgia"/>
              </a:rPr>
              <a:t> </a:t>
            </a:r>
            <a:r>
              <a:rPr sz="1687" dirty="0">
                <a:latin typeface="Georgia"/>
                <a:cs typeface="Georgia"/>
              </a:rPr>
              <a:t>in</a:t>
            </a:r>
            <a:r>
              <a:rPr sz="1687" spc="-28" dirty="0">
                <a:latin typeface="Georgia"/>
                <a:cs typeface="Georgia"/>
              </a:rPr>
              <a:t> </a:t>
            </a:r>
            <a:r>
              <a:rPr sz="1687" dirty="0">
                <a:latin typeface="Georgia"/>
                <a:cs typeface="Georgia"/>
              </a:rPr>
              <a:t>a</a:t>
            </a:r>
            <a:r>
              <a:rPr sz="1687" spc="-28" dirty="0">
                <a:latin typeface="Georgia"/>
                <a:cs typeface="Georgia"/>
              </a:rPr>
              <a:t> </a:t>
            </a:r>
            <a:r>
              <a:rPr sz="1687" dirty="0">
                <a:latin typeface="Georgia"/>
                <a:cs typeface="Georgia"/>
              </a:rPr>
              <a:t>1.0%</a:t>
            </a:r>
            <a:r>
              <a:rPr sz="1687" spc="-25" dirty="0">
                <a:latin typeface="Georgia"/>
                <a:cs typeface="Georgia"/>
              </a:rPr>
              <a:t> </a:t>
            </a:r>
            <a:r>
              <a:rPr sz="1687" dirty="0">
                <a:latin typeface="Georgia"/>
                <a:cs typeface="Georgia"/>
              </a:rPr>
              <a:t>absolute</a:t>
            </a:r>
            <a:r>
              <a:rPr sz="1687" spc="-28" dirty="0">
                <a:latin typeface="Georgia"/>
                <a:cs typeface="Georgia"/>
              </a:rPr>
              <a:t> </a:t>
            </a:r>
            <a:r>
              <a:rPr sz="1687" spc="-7" dirty="0">
                <a:latin typeface="Georgia"/>
                <a:cs typeface="Georgia"/>
              </a:rPr>
              <a:t>accuracy”</a:t>
            </a:r>
            <a:endParaRPr sz="1687">
              <a:latin typeface="Georgia"/>
              <a:cs typeface="Georgi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056791">
              <a:lnSpc>
                <a:spcPct val="100000"/>
              </a:lnSpc>
              <a:spcBef>
                <a:spcPts val="70"/>
              </a:spcBef>
            </a:pPr>
            <a:r>
              <a:rPr spc="-169" dirty="0"/>
              <a:t>Experimental</a:t>
            </a:r>
            <a:r>
              <a:rPr spc="-42" dirty="0"/>
              <a:t> </a:t>
            </a:r>
            <a:r>
              <a:rPr spc="-127" dirty="0"/>
              <a:t>results</a:t>
            </a:r>
          </a:p>
        </p:txBody>
      </p:sp>
      <p:pic>
        <p:nvPicPr>
          <p:cNvPr id="3" name="object 3"/>
          <p:cNvPicPr/>
          <p:nvPr/>
        </p:nvPicPr>
        <p:blipFill>
          <a:blip r:embed="rId2" cstate="print"/>
          <a:stretch>
            <a:fillRect/>
          </a:stretch>
        </p:blipFill>
        <p:spPr>
          <a:xfrm>
            <a:off x="3140611" y="1746188"/>
            <a:ext cx="5962658" cy="4564547"/>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8102" y="437554"/>
            <a:ext cx="6370439" cy="968414"/>
          </a:xfrm>
          <a:prstGeom prst="rect">
            <a:avLst/>
          </a:prstGeom>
        </p:spPr>
        <p:txBody>
          <a:bodyPr vert="horz" wrap="square" lIns="0" tIns="44648" rIns="0" bIns="0" rtlCol="0">
            <a:spAutoFit/>
          </a:bodyPr>
          <a:lstStyle/>
          <a:p>
            <a:pPr marL="1848380" marR="3572" indent="-1839450">
              <a:lnSpc>
                <a:spcPts val="3586"/>
              </a:lnSpc>
              <a:spcBef>
                <a:spcPts val="352"/>
              </a:spcBef>
              <a:tabLst>
                <a:tab pos="3403429" algn="l"/>
                <a:tab pos="4942852" algn="l"/>
                <a:tab pos="5427718" algn="l"/>
              </a:tabLst>
            </a:pPr>
            <a:r>
              <a:rPr sz="3164" dirty="0"/>
              <a:t>What</a:t>
            </a:r>
            <a:r>
              <a:rPr sz="3164" spc="-165" dirty="0"/>
              <a:t> </a:t>
            </a:r>
            <a:r>
              <a:rPr sz="3164" spc="-60" dirty="0"/>
              <a:t>information</a:t>
            </a:r>
            <a:r>
              <a:rPr sz="3164" spc="-158" dirty="0"/>
              <a:t> </a:t>
            </a:r>
            <a:r>
              <a:rPr sz="3164" spc="-218" dirty="0"/>
              <a:t>is</a:t>
            </a:r>
            <a:r>
              <a:rPr sz="3164" dirty="0"/>
              <a:t>	</a:t>
            </a:r>
            <a:r>
              <a:rPr sz="3164" spc="-32" dirty="0"/>
              <a:t>captured</a:t>
            </a:r>
            <a:r>
              <a:rPr sz="3164" dirty="0"/>
              <a:t>	</a:t>
            </a:r>
            <a:r>
              <a:rPr sz="3164" spc="-225" dirty="0"/>
              <a:t>by</a:t>
            </a:r>
            <a:r>
              <a:rPr sz="3164" dirty="0"/>
              <a:t>	</a:t>
            </a:r>
            <a:r>
              <a:rPr sz="3164" spc="-253" dirty="0"/>
              <a:t>ELMo </a:t>
            </a:r>
            <a:r>
              <a:rPr sz="3164" spc="-120" dirty="0"/>
              <a:t>representations?</a:t>
            </a:r>
            <a:endParaRPr sz="3164"/>
          </a:p>
        </p:txBody>
      </p:sp>
      <p:pic>
        <p:nvPicPr>
          <p:cNvPr id="3" name="object 3"/>
          <p:cNvPicPr/>
          <p:nvPr/>
        </p:nvPicPr>
        <p:blipFill>
          <a:blip r:embed="rId2" cstate="print"/>
          <a:stretch>
            <a:fillRect/>
          </a:stretch>
        </p:blipFill>
        <p:spPr>
          <a:xfrm>
            <a:off x="2260111" y="2113095"/>
            <a:ext cx="3506770" cy="2487629"/>
          </a:xfrm>
          <a:prstGeom prst="rect">
            <a:avLst/>
          </a:prstGeom>
        </p:spPr>
      </p:pic>
      <p:pic>
        <p:nvPicPr>
          <p:cNvPr id="4" name="object 4"/>
          <p:cNvPicPr/>
          <p:nvPr/>
        </p:nvPicPr>
        <p:blipFill>
          <a:blip r:embed="rId3" cstate="print"/>
          <a:stretch>
            <a:fillRect/>
          </a:stretch>
        </p:blipFill>
        <p:spPr>
          <a:xfrm>
            <a:off x="6555454" y="2162776"/>
            <a:ext cx="3285180" cy="2389222"/>
          </a:xfrm>
          <a:prstGeom prst="rect">
            <a:avLst/>
          </a:prstGeom>
        </p:spPr>
      </p:pic>
      <p:sp>
        <p:nvSpPr>
          <p:cNvPr id="5" name="object 5"/>
          <p:cNvSpPr txBox="1"/>
          <p:nvPr/>
        </p:nvSpPr>
        <p:spPr>
          <a:xfrm>
            <a:off x="2631281" y="4839891"/>
            <a:ext cx="7139285" cy="317897"/>
          </a:xfrm>
          <a:prstGeom prst="rect">
            <a:avLst/>
          </a:prstGeom>
        </p:spPr>
        <p:txBody>
          <a:bodyPr vert="horz" wrap="square" lIns="0" tIns="8930" rIns="0" bIns="0" rtlCol="0">
            <a:spAutoFit/>
          </a:bodyPr>
          <a:lstStyle/>
          <a:p>
            <a:pPr marL="8929">
              <a:lnSpc>
                <a:spcPct val="100000"/>
              </a:lnSpc>
              <a:spcBef>
                <a:spcPts val="70"/>
              </a:spcBef>
              <a:tabLst>
                <a:tab pos="4160640" algn="l"/>
              </a:tabLst>
            </a:pPr>
            <a:r>
              <a:rPr sz="1969" dirty="0">
                <a:latin typeface="Georgia"/>
                <a:cs typeface="Georgia"/>
              </a:rPr>
              <a:t>First</a:t>
            </a:r>
            <a:r>
              <a:rPr sz="1969" spc="-32" dirty="0">
                <a:latin typeface="Georgia"/>
                <a:cs typeface="Georgia"/>
              </a:rPr>
              <a:t> </a:t>
            </a:r>
            <a:r>
              <a:rPr sz="1969" dirty="0">
                <a:latin typeface="Georgia"/>
                <a:cs typeface="Georgia"/>
              </a:rPr>
              <a:t>Layer</a:t>
            </a:r>
            <a:r>
              <a:rPr sz="1969" spc="-28" dirty="0">
                <a:latin typeface="Georgia"/>
                <a:cs typeface="Georgia"/>
              </a:rPr>
              <a:t> </a:t>
            </a:r>
            <a:r>
              <a:rPr sz="1969" dirty="0">
                <a:latin typeface="Georgia"/>
                <a:cs typeface="Georgia"/>
              </a:rPr>
              <a:t>&gt;</a:t>
            </a:r>
            <a:r>
              <a:rPr sz="1969" spc="-25" dirty="0">
                <a:latin typeface="Georgia"/>
                <a:cs typeface="Georgia"/>
              </a:rPr>
              <a:t> </a:t>
            </a:r>
            <a:r>
              <a:rPr sz="1969" dirty="0">
                <a:latin typeface="Georgia"/>
                <a:cs typeface="Georgia"/>
              </a:rPr>
              <a:t>Second</a:t>
            </a:r>
            <a:r>
              <a:rPr sz="1969" spc="-32" dirty="0">
                <a:latin typeface="Georgia"/>
                <a:cs typeface="Georgia"/>
              </a:rPr>
              <a:t> </a:t>
            </a:r>
            <a:r>
              <a:rPr sz="1969" spc="-7" dirty="0">
                <a:latin typeface="Georgia"/>
                <a:cs typeface="Georgia"/>
              </a:rPr>
              <a:t>Layer</a:t>
            </a:r>
            <a:r>
              <a:rPr sz="1969" dirty="0">
                <a:latin typeface="Georgia"/>
                <a:cs typeface="Georgia"/>
              </a:rPr>
              <a:t>	Second</a:t>
            </a:r>
            <a:r>
              <a:rPr sz="1969" spc="-32" dirty="0">
                <a:latin typeface="Georgia"/>
                <a:cs typeface="Georgia"/>
              </a:rPr>
              <a:t> </a:t>
            </a:r>
            <a:r>
              <a:rPr sz="1969" dirty="0">
                <a:latin typeface="Georgia"/>
                <a:cs typeface="Georgia"/>
              </a:rPr>
              <a:t>Layer</a:t>
            </a:r>
            <a:r>
              <a:rPr sz="1969" spc="-28" dirty="0">
                <a:latin typeface="Georgia"/>
                <a:cs typeface="Georgia"/>
              </a:rPr>
              <a:t> </a:t>
            </a:r>
            <a:r>
              <a:rPr sz="1969" dirty="0">
                <a:latin typeface="Georgia"/>
                <a:cs typeface="Georgia"/>
              </a:rPr>
              <a:t>&gt;</a:t>
            </a:r>
            <a:r>
              <a:rPr sz="1969" spc="-25" dirty="0">
                <a:latin typeface="Georgia"/>
                <a:cs typeface="Georgia"/>
              </a:rPr>
              <a:t> </a:t>
            </a:r>
            <a:r>
              <a:rPr sz="1969" dirty="0">
                <a:latin typeface="Georgia"/>
                <a:cs typeface="Georgia"/>
              </a:rPr>
              <a:t>First</a:t>
            </a:r>
            <a:r>
              <a:rPr sz="1969" spc="-32" dirty="0">
                <a:latin typeface="Georgia"/>
                <a:cs typeface="Georgia"/>
              </a:rPr>
              <a:t> </a:t>
            </a:r>
            <a:r>
              <a:rPr sz="1969" spc="-7" dirty="0">
                <a:latin typeface="Georgia"/>
                <a:cs typeface="Georgia"/>
              </a:rPr>
              <a:t>Layer</a:t>
            </a:r>
            <a:endParaRPr sz="1969">
              <a:latin typeface="Georgia"/>
              <a:cs typeface="Georgia"/>
            </a:endParaRPr>
          </a:p>
        </p:txBody>
      </p:sp>
      <p:sp>
        <p:nvSpPr>
          <p:cNvPr id="6" name="object 6"/>
          <p:cNvSpPr txBox="1"/>
          <p:nvPr/>
        </p:nvSpPr>
        <p:spPr>
          <a:xfrm>
            <a:off x="3305372" y="5511621"/>
            <a:ext cx="5710089" cy="515316"/>
          </a:xfrm>
          <a:prstGeom prst="rect">
            <a:avLst/>
          </a:prstGeom>
          <a:ln w="38100">
            <a:solidFill>
              <a:srgbClr val="919191"/>
            </a:solidFill>
          </a:ln>
        </p:spPr>
        <p:txBody>
          <a:bodyPr vert="horz" wrap="square" lIns="0" tIns="53132" rIns="0" bIns="0" rtlCol="0">
            <a:spAutoFit/>
          </a:bodyPr>
          <a:lstStyle/>
          <a:p>
            <a:pPr marL="49112" marR="429949">
              <a:lnSpc>
                <a:spcPts val="1828"/>
              </a:lnSpc>
              <a:spcBef>
                <a:spcPts val="418"/>
              </a:spcBef>
            </a:pPr>
            <a:r>
              <a:rPr sz="1617" dirty="0">
                <a:latin typeface="Georgia"/>
                <a:cs typeface="Georgia"/>
              </a:rPr>
              <a:t>syntactic</a:t>
            </a:r>
            <a:r>
              <a:rPr sz="1617" spc="-39" dirty="0">
                <a:latin typeface="Georgia"/>
                <a:cs typeface="Georgia"/>
              </a:rPr>
              <a:t> </a:t>
            </a:r>
            <a:r>
              <a:rPr sz="1617" dirty="0">
                <a:latin typeface="Georgia"/>
                <a:cs typeface="Georgia"/>
              </a:rPr>
              <a:t>information</a:t>
            </a:r>
            <a:r>
              <a:rPr sz="1617" spc="-42" dirty="0">
                <a:latin typeface="Georgia"/>
                <a:cs typeface="Georgia"/>
              </a:rPr>
              <a:t> </a:t>
            </a:r>
            <a:r>
              <a:rPr sz="1617" dirty="0">
                <a:latin typeface="Georgia"/>
                <a:cs typeface="Georgia"/>
              </a:rPr>
              <a:t>is</a:t>
            </a:r>
            <a:r>
              <a:rPr sz="1617" spc="-42" dirty="0">
                <a:latin typeface="Georgia"/>
                <a:cs typeface="Georgia"/>
              </a:rPr>
              <a:t> </a:t>
            </a:r>
            <a:r>
              <a:rPr sz="1617" dirty="0">
                <a:latin typeface="Georgia"/>
                <a:cs typeface="Georgia"/>
              </a:rPr>
              <a:t>better</a:t>
            </a:r>
            <a:r>
              <a:rPr sz="1617" spc="-39" dirty="0">
                <a:latin typeface="Georgia"/>
                <a:cs typeface="Georgia"/>
              </a:rPr>
              <a:t> </a:t>
            </a:r>
            <a:r>
              <a:rPr sz="1617" dirty="0">
                <a:latin typeface="Georgia"/>
                <a:cs typeface="Georgia"/>
              </a:rPr>
              <a:t>represented</a:t>
            </a:r>
            <a:r>
              <a:rPr sz="1617" spc="-42" dirty="0">
                <a:latin typeface="Georgia"/>
                <a:cs typeface="Georgia"/>
              </a:rPr>
              <a:t> </a:t>
            </a:r>
            <a:r>
              <a:rPr sz="1617" dirty="0">
                <a:latin typeface="Georgia"/>
                <a:cs typeface="Georgia"/>
              </a:rPr>
              <a:t>at</a:t>
            </a:r>
            <a:r>
              <a:rPr sz="1617" spc="-42" dirty="0">
                <a:latin typeface="Georgia"/>
                <a:cs typeface="Georgia"/>
              </a:rPr>
              <a:t> </a:t>
            </a:r>
            <a:r>
              <a:rPr sz="1617" dirty="0">
                <a:latin typeface="Georgia"/>
                <a:cs typeface="Georgia"/>
              </a:rPr>
              <a:t>lower</a:t>
            </a:r>
            <a:r>
              <a:rPr sz="1617" spc="-39" dirty="0">
                <a:latin typeface="Georgia"/>
                <a:cs typeface="Georgia"/>
              </a:rPr>
              <a:t> </a:t>
            </a:r>
            <a:r>
              <a:rPr sz="1617" spc="-7" dirty="0">
                <a:latin typeface="Georgia"/>
                <a:cs typeface="Georgia"/>
              </a:rPr>
              <a:t>layers </a:t>
            </a:r>
            <a:r>
              <a:rPr sz="1617" dirty="0">
                <a:latin typeface="Georgia"/>
                <a:cs typeface="Georgia"/>
              </a:rPr>
              <a:t>while</a:t>
            </a:r>
            <a:r>
              <a:rPr sz="1617" spc="-39" dirty="0">
                <a:latin typeface="Georgia"/>
                <a:cs typeface="Georgia"/>
              </a:rPr>
              <a:t> </a:t>
            </a:r>
            <a:r>
              <a:rPr sz="1617" dirty="0">
                <a:latin typeface="Georgia"/>
                <a:cs typeface="Georgia"/>
              </a:rPr>
              <a:t>semantic</a:t>
            </a:r>
            <a:r>
              <a:rPr sz="1617" spc="-35" dirty="0">
                <a:latin typeface="Georgia"/>
                <a:cs typeface="Georgia"/>
              </a:rPr>
              <a:t> </a:t>
            </a:r>
            <a:r>
              <a:rPr sz="1617" dirty="0">
                <a:latin typeface="Georgia"/>
                <a:cs typeface="Georgia"/>
              </a:rPr>
              <a:t>information</a:t>
            </a:r>
            <a:r>
              <a:rPr sz="1617" spc="-42" dirty="0">
                <a:latin typeface="Georgia"/>
                <a:cs typeface="Georgia"/>
              </a:rPr>
              <a:t> </a:t>
            </a:r>
            <a:r>
              <a:rPr sz="1617" dirty="0">
                <a:latin typeface="Georgia"/>
                <a:cs typeface="Georgia"/>
              </a:rPr>
              <a:t>is</a:t>
            </a:r>
            <a:r>
              <a:rPr sz="1617" spc="-39" dirty="0">
                <a:latin typeface="Georgia"/>
                <a:cs typeface="Georgia"/>
              </a:rPr>
              <a:t> </a:t>
            </a:r>
            <a:r>
              <a:rPr sz="1617" dirty="0">
                <a:latin typeface="Georgia"/>
                <a:cs typeface="Georgia"/>
              </a:rPr>
              <a:t>captured</a:t>
            </a:r>
            <a:r>
              <a:rPr sz="1617" spc="-42" dirty="0">
                <a:latin typeface="Georgia"/>
                <a:cs typeface="Georgia"/>
              </a:rPr>
              <a:t> </a:t>
            </a:r>
            <a:r>
              <a:rPr sz="1617" dirty="0">
                <a:latin typeface="Georgia"/>
                <a:cs typeface="Georgia"/>
              </a:rPr>
              <a:t>a</a:t>
            </a:r>
            <a:r>
              <a:rPr sz="1617" spc="-35" dirty="0">
                <a:latin typeface="Georgia"/>
                <a:cs typeface="Georgia"/>
              </a:rPr>
              <a:t> </a:t>
            </a:r>
            <a:r>
              <a:rPr sz="1617" dirty="0">
                <a:latin typeface="Georgia"/>
                <a:cs typeface="Georgia"/>
              </a:rPr>
              <a:t>higher</a:t>
            </a:r>
            <a:r>
              <a:rPr sz="1617" spc="-39" dirty="0">
                <a:latin typeface="Georgia"/>
                <a:cs typeface="Georgia"/>
              </a:rPr>
              <a:t> </a:t>
            </a:r>
            <a:r>
              <a:rPr sz="1617" spc="-7" dirty="0">
                <a:latin typeface="Georgia"/>
                <a:cs typeface="Georgia"/>
              </a:rPr>
              <a:t>layers</a:t>
            </a:r>
            <a:endParaRPr sz="1617">
              <a:latin typeface="Georgia"/>
              <a:cs typeface="Georgi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9266" y="616149"/>
            <a:ext cx="4895701" cy="596503"/>
          </a:xfrm>
          <a:prstGeom prst="rect">
            <a:avLst/>
          </a:prstGeom>
        </p:spPr>
        <p:txBody>
          <a:bodyPr vert="horz" wrap="square" lIns="0" tIns="8930" rIns="0" bIns="0" rtlCol="0">
            <a:spAutoFit/>
          </a:bodyPr>
          <a:lstStyle/>
          <a:p>
            <a:pPr marL="8929">
              <a:lnSpc>
                <a:spcPct val="100000"/>
              </a:lnSpc>
              <a:spcBef>
                <a:spcPts val="70"/>
              </a:spcBef>
              <a:tabLst>
                <a:tab pos="2089919" algn="l"/>
              </a:tabLst>
            </a:pPr>
            <a:r>
              <a:rPr spc="-14" dirty="0"/>
              <a:t>Where</a:t>
            </a:r>
            <a:r>
              <a:rPr spc="-236" dirty="0"/>
              <a:t> </a:t>
            </a:r>
            <a:r>
              <a:rPr spc="77" dirty="0"/>
              <a:t>to</a:t>
            </a:r>
            <a:r>
              <a:rPr dirty="0"/>
              <a:t>	</a:t>
            </a:r>
            <a:r>
              <a:rPr spc="-179" dirty="0"/>
              <a:t>include</a:t>
            </a:r>
            <a:r>
              <a:rPr spc="18" dirty="0"/>
              <a:t> </a:t>
            </a:r>
            <a:r>
              <a:rPr spc="-408" dirty="0"/>
              <a:t>ELMo?</a:t>
            </a:r>
          </a:p>
        </p:txBody>
      </p:sp>
      <p:pic>
        <p:nvPicPr>
          <p:cNvPr id="3" name="object 3"/>
          <p:cNvPicPr/>
          <p:nvPr/>
        </p:nvPicPr>
        <p:blipFill>
          <a:blip r:embed="rId2" cstate="print"/>
          <a:stretch>
            <a:fillRect/>
          </a:stretch>
        </p:blipFill>
        <p:spPr>
          <a:xfrm>
            <a:off x="3112997" y="2513707"/>
            <a:ext cx="5759648" cy="201810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8930" rIns="0" bIns="0" rtlCol="0">
            <a:spAutoFit/>
          </a:bodyPr>
          <a:lstStyle/>
          <a:p>
            <a:pPr marL="8929">
              <a:lnSpc>
                <a:spcPct val="100000"/>
              </a:lnSpc>
              <a:spcBef>
                <a:spcPts val="70"/>
              </a:spcBef>
              <a:tabLst>
                <a:tab pos="1222431" algn="l"/>
                <a:tab pos="3008751" algn="l"/>
                <a:tab pos="3424413" algn="l"/>
              </a:tabLst>
            </a:pPr>
            <a:r>
              <a:rPr spc="-257" dirty="0"/>
              <a:t>Using</a:t>
            </a:r>
            <a:r>
              <a:rPr dirty="0"/>
              <a:t>	</a:t>
            </a:r>
            <a:r>
              <a:rPr spc="-183" dirty="0"/>
              <a:t>all</a:t>
            </a:r>
            <a:r>
              <a:rPr dirty="0"/>
              <a:t> </a:t>
            </a:r>
            <a:r>
              <a:rPr spc="-264" dirty="0"/>
              <a:t>layers</a:t>
            </a:r>
            <a:r>
              <a:rPr dirty="0"/>
              <a:t>	</a:t>
            </a:r>
            <a:r>
              <a:rPr spc="-35" dirty="0"/>
              <a:t>&gt;</a:t>
            </a:r>
            <a:r>
              <a:rPr dirty="0"/>
              <a:t>	</a:t>
            </a:r>
            <a:r>
              <a:rPr spc="-197" dirty="0"/>
              <a:t>last</a:t>
            </a:r>
            <a:r>
              <a:rPr dirty="0"/>
              <a:t> </a:t>
            </a:r>
            <a:r>
              <a:rPr spc="-232" dirty="0"/>
              <a:t>layer</a:t>
            </a:r>
          </a:p>
        </p:txBody>
      </p:sp>
      <p:grpSp>
        <p:nvGrpSpPr>
          <p:cNvPr id="3" name="object 3"/>
          <p:cNvGrpSpPr/>
          <p:nvPr/>
        </p:nvGrpSpPr>
        <p:grpSpPr>
          <a:xfrm>
            <a:off x="2760623" y="2540586"/>
            <a:ext cx="6704856" cy="2165896"/>
            <a:chOff x="1758752" y="3613278"/>
            <a:chExt cx="9535795" cy="3080385"/>
          </a:xfrm>
        </p:grpSpPr>
        <p:pic>
          <p:nvPicPr>
            <p:cNvPr id="4" name="object 4"/>
            <p:cNvPicPr/>
            <p:nvPr/>
          </p:nvPicPr>
          <p:blipFill>
            <a:blip r:embed="rId2" cstate="print"/>
            <a:stretch>
              <a:fillRect/>
            </a:stretch>
          </p:blipFill>
          <p:spPr>
            <a:xfrm>
              <a:off x="1758752" y="3824196"/>
              <a:ext cx="9535514" cy="2869093"/>
            </a:xfrm>
            <a:prstGeom prst="rect">
              <a:avLst/>
            </a:prstGeom>
          </p:spPr>
        </p:pic>
        <p:sp>
          <p:nvSpPr>
            <p:cNvPr id="5" name="object 5"/>
            <p:cNvSpPr/>
            <p:nvPr/>
          </p:nvSpPr>
          <p:spPr>
            <a:xfrm>
              <a:off x="10890018" y="3632328"/>
              <a:ext cx="287655" cy="547370"/>
            </a:xfrm>
            <a:custGeom>
              <a:avLst/>
              <a:gdLst/>
              <a:ahLst/>
              <a:cxnLst/>
              <a:rect l="l" t="t" r="r" b="b"/>
              <a:pathLst>
                <a:path w="287654" h="547370">
                  <a:moveTo>
                    <a:pt x="287165" y="0"/>
                  </a:moveTo>
                  <a:lnTo>
                    <a:pt x="8851" y="530388"/>
                  </a:lnTo>
                  <a:lnTo>
                    <a:pt x="0" y="547256"/>
                  </a:lnTo>
                </a:path>
              </a:pathLst>
            </a:custGeom>
            <a:ln w="38099">
              <a:solidFill>
                <a:srgbClr val="941100"/>
              </a:solidFill>
            </a:ln>
          </p:spPr>
          <p:txBody>
            <a:bodyPr wrap="square" lIns="0" tIns="0" rIns="0" bIns="0" rtlCol="0"/>
            <a:lstStyle/>
            <a:p>
              <a:endParaRPr/>
            </a:p>
          </p:txBody>
        </p:sp>
        <p:sp>
          <p:nvSpPr>
            <p:cNvPr id="6" name="object 6"/>
            <p:cNvSpPr/>
            <p:nvPr/>
          </p:nvSpPr>
          <p:spPr>
            <a:xfrm>
              <a:off x="10820976" y="4123770"/>
              <a:ext cx="152400" cy="187960"/>
            </a:xfrm>
            <a:custGeom>
              <a:avLst/>
              <a:gdLst/>
              <a:ahLst/>
              <a:cxnLst/>
              <a:rect l="l" t="t" r="r" b="b"/>
              <a:pathLst>
                <a:path w="152400" h="187960">
                  <a:moveTo>
                    <a:pt x="3671" y="0"/>
                  </a:moveTo>
                  <a:lnTo>
                    <a:pt x="0" y="187391"/>
                  </a:lnTo>
                  <a:lnTo>
                    <a:pt x="152115" y="77894"/>
                  </a:lnTo>
                  <a:lnTo>
                    <a:pt x="3671" y="0"/>
                  </a:lnTo>
                  <a:close/>
                </a:path>
              </a:pathLst>
            </a:custGeom>
            <a:solidFill>
              <a:srgbClr val="941100"/>
            </a:solidFill>
          </p:spPr>
          <p:txBody>
            <a:bodyPr wrap="square" lIns="0" tIns="0" rIns="0" bIns="0" rtlCol="0"/>
            <a:lstStyle/>
            <a:p>
              <a:endParaRPr/>
            </a:p>
          </p:txBody>
        </p:sp>
      </p:grpSp>
      <p:sp>
        <p:nvSpPr>
          <p:cNvPr id="7" name="object 7"/>
          <p:cNvSpPr txBox="1"/>
          <p:nvPr/>
        </p:nvSpPr>
        <p:spPr>
          <a:xfrm>
            <a:off x="8382000" y="2187773"/>
            <a:ext cx="1726555" cy="317897"/>
          </a:xfrm>
          <a:prstGeom prst="rect">
            <a:avLst/>
          </a:prstGeom>
        </p:spPr>
        <p:txBody>
          <a:bodyPr vert="horz" wrap="square" lIns="0" tIns="8930" rIns="0" bIns="0" rtlCol="0">
            <a:spAutoFit/>
          </a:bodyPr>
          <a:lstStyle/>
          <a:p>
            <a:pPr marL="8929">
              <a:lnSpc>
                <a:spcPct val="100000"/>
              </a:lnSpc>
              <a:spcBef>
                <a:spcPts val="70"/>
              </a:spcBef>
            </a:pPr>
            <a:r>
              <a:rPr sz="1969" dirty="0">
                <a:latin typeface="Georgia"/>
                <a:cs typeface="Georgia"/>
              </a:rPr>
              <a:t>Reg.</a:t>
            </a:r>
            <a:r>
              <a:rPr sz="1969" spc="-4" dirty="0">
                <a:latin typeface="Georgia"/>
                <a:cs typeface="Georgia"/>
              </a:rPr>
              <a:t> </a:t>
            </a:r>
            <a:r>
              <a:rPr sz="1969" spc="-7" dirty="0">
                <a:latin typeface="Georgia"/>
                <a:cs typeface="Georgia"/>
              </a:rPr>
              <a:t>Parameter</a:t>
            </a:r>
            <a:endParaRPr sz="1969">
              <a:latin typeface="Georgia"/>
              <a:cs typeface="Georgi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396107">
              <a:lnSpc>
                <a:spcPct val="100000"/>
              </a:lnSpc>
              <a:spcBef>
                <a:spcPts val="70"/>
              </a:spcBef>
            </a:pPr>
            <a:r>
              <a:rPr spc="-352" dirty="0"/>
              <a:t>Sample</a:t>
            </a:r>
            <a:r>
              <a:rPr spc="11" dirty="0"/>
              <a:t> </a:t>
            </a:r>
            <a:r>
              <a:rPr spc="-214" dirty="0"/>
              <a:t>Efficiency</a:t>
            </a:r>
          </a:p>
        </p:txBody>
      </p:sp>
      <p:pic>
        <p:nvPicPr>
          <p:cNvPr id="3" name="object 3"/>
          <p:cNvPicPr/>
          <p:nvPr/>
        </p:nvPicPr>
        <p:blipFill>
          <a:blip r:embed="rId2" cstate="print"/>
          <a:stretch>
            <a:fillRect/>
          </a:stretch>
        </p:blipFill>
        <p:spPr>
          <a:xfrm>
            <a:off x="2630021" y="1845691"/>
            <a:ext cx="7174143" cy="4124406"/>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2688" y="660797"/>
            <a:ext cx="7282607" cy="510778"/>
          </a:xfrm>
          <a:prstGeom prst="rect">
            <a:avLst/>
          </a:prstGeom>
        </p:spPr>
        <p:txBody>
          <a:bodyPr vert="horz" wrap="square" lIns="0" tIns="8930" rIns="0" bIns="0" rtlCol="0">
            <a:spAutoFit/>
          </a:bodyPr>
          <a:lstStyle/>
          <a:p>
            <a:pPr marL="8929">
              <a:lnSpc>
                <a:spcPct val="100000"/>
              </a:lnSpc>
              <a:spcBef>
                <a:spcPts val="70"/>
              </a:spcBef>
              <a:tabLst>
                <a:tab pos="6023307" algn="l"/>
              </a:tabLst>
            </a:pPr>
            <a:r>
              <a:rPr sz="3234" spc="-158" dirty="0"/>
              <a:t>Visualization</a:t>
            </a:r>
            <a:r>
              <a:rPr sz="3234" spc="-67" dirty="0"/>
              <a:t> </a:t>
            </a:r>
            <a:r>
              <a:rPr sz="3234" dirty="0"/>
              <a:t>of</a:t>
            </a:r>
            <a:r>
              <a:rPr sz="3234" spc="-70" dirty="0"/>
              <a:t> </a:t>
            </a:r>
            <a:r>
              <a:rPr sz="3234" spc="-127" dirty="0"/>
              <a:t>softmax</a:t>
            </a:r>
            <a:r>
              <a:rPr sz="3234" spc="-67" dirty="0"/>
              <a:t> </a:t>
            </a:r>
            <a:r>
              <a:rPr sz="3234" spc="-32" dirty="0"/>
              <a:t>normalized</a:t>
            </a:r>
            <a:r>
              <a:rPr sz="3234" dirty="0"/>
              <a:t>	</a:t>
            </a:r>
            <a:r>
              <a:rPr sz="3234" spc="-161" dirty="0"/>
              <a:t>weights</a:t>
            </a:r>
            <a:endParaRPr sz="3234"/>
          </a:p>
        </p:txBody>
      </p:sp>
      <p:pic>
        <p:nvPicPr>
          <p:cNvPr id="3" name="object 3"/>
          <p:cNvPicPr/>
          <p:nvPr/>
        </p:nvPicPr>
        <p:blipFill>
          <a:blip r:embed="rId2" cstate="print"/>
          <a:stretch>
            <a:fillRect/>
          </a:stretch>
        </p:blipFill>
        <p:spPr>
          <a:xfrm>
            <a:off x="2299756" y="2170947"/>
            <a:ext cx="7627274" cy="317103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882" y="527601"/>
            <a:ext cx="6699369" cy="747681"/>
          </a:xfrm>
          <a:prstGeom prst="rect">
            <a:avLst/>
          </a:prstGeom>
        </p:spPr>
        <p:txBody>
          <a:bodyPr vert="horz" wrap="square" lIns="0" tIns="8930" rIns="0" bIns="0" rtlCol="0">
            <a:spAutoFit/>
          </a:bodyPr>
          <a:lstStyle/>
          <a:p>
            <a:pPr marL="8929">
              <a:lnSpc>
                <a:spcPct val="100000"/>
              </a:lnSpc>
              <a:spcBef>
                <a:spcPts val="70"/>
              </a:spcBef>
              <a:tabLst>
                <a:tab pos="4035629" algn="l"/>
              </a:tabLst>
            </a:pPr>
            <a:r>
              <a:rPr spc="-204" dirty="0"/>
              <a:t>Discussion:</a:t>
            </a:r>
            <a:r>
              <a:rPr spc="-373" dirty="0"/>
              <a:t> </a:t>
            </a:r>
            <a:r>
              <a:rPr spc="-151" dirty="0"/>
              <a:t>Co</a:t>
            </a:r>
            <a:r>
              <a:rPr spc="-580" dirty="0"/>
              <a:t>V</a:t>
            </a:r>
            <a:r>
              <a:rPr spc="-151" dirty="0"/>
              <a:t>e</a:t>
            </a:r>
            <a:r>
              <a:rPr spc="11" dirty="0"/>
              <a:t> </a:t>
            </a:r>
            <a:r>
              <a:rPr spc="-362" dirty="0"/>
              <a:t>vs</a:t>
            </a:r>
            <a:r>
              <a:rPr dirty="0"/>
              <a:t>	</a:t>
            </a:r>
            <a:r>
              <a:rPr spc="-299" dirty="0"/>
              <a:t>ELMo</a:t>
            </a:r>
          </a:p>
        </p:txBody>
      </p:sp>
      <p:sp>
        <p:nvSpPr>
          <p:cNvPr id="3" name="object 3"/>
          <p:cNvSpPr txBox="1"/>
          <p:nvPr/>
        </p:nvSpPr>
        <p:spPr>
          <a:xfrm>
            <a:off x="2220516" y="2655689"/>
            <a:ext cx="160288" cy="1884471"/>
          </a:xfrm>
          <a:prstGeom prst="rect">
            <a:avLst/>
          </a:prstGeom>
        </p:spPr>
        <p:txBody>
          <a:bodyPr vert="horz" wrap="square" lIns="0" tIns="9823" rIns="0" bIns="0" rtlCol="0">
            <a:spAutoFit/>
          </a:bodyPr>
          <a:lstStyle/>
          <a:p>
            <a:pPr marL="8929">
              <a:lnSpc>
                <a:spcPts val="3185"/>
              </a:lnSpc>
              <a:spcBef>
                <a:spcPts val="77"/>
              </a:spcBef>
            </a:pPr>
            <a:r>
              <a:rPr sz="2848" spc="-35" dirty="0">
                <a:latin typeface="Georgia"/>
                <a:cs typeface="Georgia"/>
              </a:rPr>
              <a:t>•</a:t>
            </a:r>
            <a:endParaRPr sz="2848">
              <a:latin typeface="Georgia"/>
              <a:cs typeface="Georgia"/>
            </a:endParaRPr>
          </a:p>
          <a:p>
            <a:pPr marL="8929">
              <a:lnSpc>
                <a:spcPts val="2953"/>
              </a:lnSpc>
            </a:pPr>
            <a:r>
              <a:rPr sz="2848" spc="-35" dirty="0">
                <a:latin typeface="Georgia"/>
                <a:cs typeface="Georgia"/>
              </a:rPr>
              <a:t>•</a:t>
            </a:r>
            <a:endParaRPr sz="2848">
              <a:latin typeface="Georgia"/>
              <a:cs typeface="Georgia"/>
            </a:endParaRPr>
          </a:p>
          <a:p>
            <a:pPr marL="8929">
              <a:lnSpc>
                <a:spcPts val="3185"/>
              </a:lnSpc>
            </a:pPr>
            <a:r>
              <a:rPr sz="2848" spc="-35" dirty="0">
                <a:latin typeface="Georgia"/>
                <a:cs typeface="Georgia"/>
              </a:rPr>
              <a:t>•</a:t>
            </a:r>
            <a:endParaRPr sz="2848">
              <a:latin typeface="Georgia"/>
              <a:cs typeface="Georgia"/>
            </a:endParaRPr>
          </a:p>
          <a:p>
            <a:pPr marL="8929">
              <a:lnSpc>
                <a:spcPct val="100000"/>
              </a:lnSpc>
              <a:spcBef>
                <a:spcPts val="1786"/>
              </a:spcBef>
            </a:pPr>
            <a:r>
              <a:rPr sz="2848" spc="-35" dirty="0">
                <a:latin typeface="Georgia"/>
                <a:cs typeface="Georgia"/>
              </a:rPr>
              <a:t>•</a:t>
            </a:r>
            <a:endParaRPr sz="2848">
              <a:latin typeface="Georgia"/>
              <a:cs typeface="Georgia"/>
            </a:endParaRPr>
          </a:p>
        </p:txBody>
      </p:sp>
      <p:sp>
        <p:nvSpPr>
          <p:cNvPr id="4" name="object 4"/>
          <p:cNvSpPr txBox="1"/>
          <p:nvPr/>
        </p:nvSpPr>
        <p:spPr>
          <a:xfrm>
            <a:off x="2533055" y="2657475"/>
            <a:ext cx="7156698" cy="1826310"/>
          </a:xfrm>
          <a:prstGeom prst="rect">
            <a:avLst/>
          </a:prstGeom>
        </p:spPr>
        <p:txBody>
          <a:bodyPr vert="horz" wrap="square" lIns="0" tIns="8930" rIns="0" bIns="0" rtlCol="0">
            <a:spAutoFit/>
          </a:bodyPr>
          <a:lstStyle/>
          <a:p>
            <a:pPr marL="8929" marR="1426467">
              <a:lnSpc>
                <a:spcPct val="125000"/>
              </a:lnSpc>
              <a:spcBef>
                <a:spcPts val="70"/>
              </a:spcBef>
            </a:pPr>
            <a:r>
              <a:rPr sz="1969" dirty="0">
                <a:latin typeface="Georgia"/>
                <a:cs typeface="Georgia"/>
              </a:rPr>
              <a:t>Data</a:t>
            </a:r>
            <a:r>
              <a:rPr sz="1969" spc="-42" dirty="0">
                <a:latin typeface="Georgia"/>
                <a:cs typeface="Georgia"/>
              </a:rPr>
              <a:t> </a:t>
            </a:r>
            <a:r>
              <a:rPr sz="1969" dirty="0">
                <a:latin typeface="Georgia"/>
                <a:cs typeface="Georgia"/>
              </a:rPr>
              <a:t>dependence:</a:t>
            </a:r>
            <a:r>
              <a:rPr sz="1969" spc="-42" dirty="0">
                <a:latin typeface="Georgia"/>
                <a:cs typeface="Georgia"/>
              </a:rPr>
              <a:t> </a:t>
            </a:r>
            <a:r>
              <a:rPr sz="1969" dirty="0">
                <a:latin typeface="Georgia"/>
                <a:cs typeface="Georgia"/>
              </a:rPr>
              <a:t>monolingual</a:t>
            </a:r>
            <a:r>
              <a:rPr sz="1969" spc="-46" dirty="0">
                <a:latin typeface="Georgia"/>
                <a:cs typeface="Georgia"/>
              </a:rPr>
              <a:t> </a:t>
            </a:r>
            <a:r>
              <a:rPr sz="1969" dirty="0">
                <a:latin typeface="Georgia"/>
                <a:cs typeface="Georgia"/>
              </a:rPr>
              <a:t>data</a:t>
            </a:r>
            <a:r>
              <a:rPr sz="1969" spc="-42" dirty="0">
                <a:latin typeface="Georgia"/>
                <a:cs typeface="Georgia"/>
              </a:rPr>
              <a:t> </a:t>
            </a:r>
            <a:r>
              <a:rPr sz="1969" dirty="0">
                <a:latin typeface="Georgia"/>
                <a:cs typeface="Georgia"/>
              </a:rPr>
              <a:t>vs</a:t>
            </a:r>
            <a:r>
              <a:rPr sz="1969" spc="-46" dirty="0">
                <a:latin typeface="Georgia"/>
                <a:cs typeface="Georgia"/>
              </a:rPr>
              <a:t> </a:t>
            </a:r>
            <a:r>
              <a:rPr sz="1969" dirty="0">
                <a:latin typeface="Georgia"/>
                <a:cs typeface="Georgia"/>
              </a:rPr>
              <a:t>parallel</a:t>
            </a:r>
            <a:r>
              <a:rPr sz="1969" spc="-46" dirty="0">
                <a:latin typeface="Georgia"/>
                <a:cs typeface="Georgia"/>
              </a:rPr>
              <a:t> </a:t>
            </a:r>
            <a:r>
              <a:rPr sz="1969" spc="-14" dirty="0">
                <a:latin typeface="Georgia"/>
                <a:cs typeface="Georgia"/>
              </a:rPr>
              <a:t>data </a:t>
            </a:r>
            <a:r>
              <a:rPr sz="1969" dirty="0">
                <a:latin typeface="Georgia"/>
                <a:cs typeface="Georgia"/>
              </a:rPr>
              <a:t>Training</a:t>
            </a:r>
            <a:r>
              <a:rPr sz="1969" spc="-39" dirty="0">
                <a:latin typeface="Georgia"/>
                <a:cs typeface="Georgia"/>
              </a:rPr>
              <a:t> </a:t>
            </a:r>
            <a:r>
              <a:rPr sz="1969" dirty="0">
                <a:latin typeface="Georgia"/>
                <a:cs typeface="Georgia"/>
              </a:rPr>
              <a:t>efficiency:</a:t>
            </a:r>
            <a:r>
              <a:rPr sz="1969" spc="-35" dirty="0">
                <a:latin typeface="Georgia"/>
                <a:cs typeface="Georgia"/>
              </a:rPr>
              <a:t> </a:t>
            </a:r>
            <a:r>
              <a:rPr sz="1969" dirty="0">
                <a:latin typeface="Georgia"/>
                <a:cs typeface="Georgia"/>
              </a:rPr>
              <a:t>ELMo</a:t>
            </a:r>
            <a:r>
              <a:rPr sz="1969" spc="-39" dirty="0">
                <a:latin typeface="Georgia"/>
                <a:cs typeface="Georgia"/>
              </a:rPr>
              <a:t> </a:t>
            </a:r>
            <a:r>
              <a:rPr sz="1969" dirty="0">
                <a:latin typeface="Georgia"/>
                <a:cs typeface="Georgia"/>
              </a:rPr>
              <a:t>slightly</a:t>
            </a:r>
            <a:r>
              <a:rPr sz="1969" spc="-35" dirty="0">
                <a:latin typeface="Georgia"/>
                <a:cs typeface="Georgia"/>
              </a:rPr>
              <a:t> </a:t>
            </a:r>
            <a:r>
              <a:rPr sz="1969" dirty="0">
                <a:latin typeface="Georgia"/>
                <a:cs typeface="Georgia"/>
              </a:rPr>
              <a:t>better</a:t>
            </a:r>
            <a:r>
              <a:rPr sz="1969" spc="-39" dirty="0">
                <a:latin typeface="Georgia"/>
                <a:cs typeface="Georgia"/>
              </a:rPr>
              <a:t> </a:t>
            </a:r>
            <a:r>
              <a:rPr sz="1969" dirty="0">
                <a:latin typeface="Georgia"/>
                <a:cs typeface="Georgia"/>
              </a:rPr>
              <a:t>than</a:t>
            </a:r>
            <a:r>
              <a:rPr sz="1969" spc="-39" dirty="0">
                <a:latin typeface="Georgia"/>
                <a:cs typeface="Georgia"/>
              </a:rPr>
              <a:t> </a:t>
            </a:r>
            <a:r>
              <a:rPr sz="1969" spc="-14" dirty="0">
                <a:latin typeface="Georgia"/>
                <a:cs typeface="Georgia"/>
              </a:rPr>
              <a:t>CoVe</a:t>
            </a:r>
            <a:endParaRPr sz="1969">
              <a:latin typeface="Georgia"/>
              <a:cs typeface="Georgia"/>
            </a:endParaRPr>
          </a:p>
          <a:p>
            <a:pPr marL="8929" marR="95991">
              <a:lnSpc>
                <a:spcPts val="2250"/>
              </a:lnSpc>
              <a:spcBef>
                <a:spcPts val="759"/>
              </a:spcBef>
              <a:tabLst>
                <a:tab pos="5456738" algn="l"/>
              </a:tabLst>
            </a:pPr>
            <a:r>
              <a:rPr sz="1969" dirty="0">
                <a:latin typeface="Georgia"/>
                <a:cs typeface="Georgia"/>
              </a:rPr>
              <a:t>Objectives:</a:t>
            </a:r>
            <a:r>
              <a:rPr sz="1969" spc="-35" dirty="0">
                <a:latin typeface="Georgia"/>
                <a:cs typeface="Georgia"/>
              </a:rPr>
              <a:t> </a:t>
            </a:r>
            <a:r>
              <a:rPr sz="1969" dirty="0">
                <a:latin typeface="Georgia"/>
                <a:cs typeface="Georgia"/>
              </a:rPr>
              <a:t>predicting</a:t>
            </a:r>
            <a:r>
              <a:rPr sz="1969" spc="-35" dirty="0">
                <a:latin typeface="Georgia"/>
                <a:cs typeface="Georgia"/>
              </a:rPr>
              <a:t> </a:t>
            </a:r>
            <a:r>
              <a:rPr sz="1969" dirty="0">
                <a:latin typeface="Georgia"/>
                <a:cs typeface="Georgia"/>
              </a:rPr>
              <a:t>each</a:t>
            </a:r>
            <a:r>
              <a:rPr sz="1969" spc="-35" dirty="0">
                <a:latin typeface="Georgia"/>
                <a:cs typeface="Georgia"/>
              </a:rPr>
              <a:t> </a:t>
            </a:r>
            <a:r>
              <a:rPr sz="1969" dirty="0">
                <a:latin typeface="Georgia"/>
                <a:cs typeface="Georgia"/>
              </a:rPr>
              <a:t>word</a:t>
            </a:r>
            <a:r>
              <a:rPr sz="1969" spc="-39" dirty="0">
                <a:latin typeface="Georgia"/>
                <a:cs typeface="Georgia"/>
              </a:rPr>
              <a:t> </a:t>
            </a:r>
            <a:r>
              <a:rPr sz="1969" dirty="0">
                <a:latin typeface="Georgia"/>
                <a:cs typeface="Georgia"/>
              </a:rPr>
              <a:t>in</a:t>
            </a:r>
            <a:r>
              <a:rPr sz="1969" spc="-35" dirty="0">
                <a:latin typeface="Georgia"/>
                <a:cs typeface="Georgia"/>
              </a:rPr>
              <a:t> </a:t>
            </a:r>
            <a:r>
              <a:rPr sz="1969" dirty="0">
                <a:latin typeface="Georgia"/>
                <a:cs typeface="Georgia"/>
              </a:rPr>
              <a:t>the</a:t>
            </a:r>
            <a:r>
              <a:rPr sz="1969" spc="-35" dirty="0">
                <a:latin typeface="Georgia"/>
                <a:cs typeface="Georgia"/>
              </a:rPr>
              <a:t> </a:t>
            </a:r>
            <a:r>
              <a:rPr sz="1969" spc="-7" dirty="0">
                <a:latin typeface="Georgia"/>
                <a:cs typeface="Georgia"/>
              </a:rPr>
              <a:t>sentence</a:t>
            </a:r>
            <a:r>
              <a:rPr sz="1969" dirty="0">
                <a:latin typeface="Georgia"/>
                <a:cs typeface="Georgia"/>
              </a:rPr>
              <a:t>	vs</a:t>
            </a:r>
            <a:r>
              <a:rPr sz="1969" spc="-14" dirty="0">
                <a:latin typeface="Georgia"/>
                <a:cs typeface="Georgia"/>
              </a:rPr>
              <a:t> </a:t>
            </a:r>
            <a:r>
              <a:rPr sz="1969" spc="-7" dirty="0">
                <a:latin typeface="Georgia"/>
                <a:cs typeface="Georgia"/>
              </a:rPr>
              <a:t>“translating </a:t>
            </a:r>
            <a:r>
              <a:rPr sz="1969" dirty="0">
                <a:latin typeface="Georgia"/>
                <a:cs typeface="Georgia"/>
              </a:rPr>
              <a:t>source</a:t>
            </a:r>
            <a:r>
              <a:rPr sz="1969" spc="-28" dirty="0">
                <a:latin typeface="Georgia"/>
                <a:cs typeface="Georgia"/>
              </a:rPr>
              <a:t> </a:t>
            </a:r>
            <a:r>
              <a:rPr sz="1969" dirty="0">
                <a:latin typeface="Georgia"/>
                <a:cs typeface="Georgia"/>
              </a:rPr>
              <a:t>sentence</a:t>
            </a:r>
            <a:r>
              <a:rPr sz="1969" spc="-28" dirty="0">
                <a:latin typeface="Georgia"/>
                <a:cs typeface="Georgia"/>
              </a:rPr>
              <a:t> </a:t>
            </a:r>
            <a:r>
              <a:rPr sz="1969" dirty="0">
                <a:latin typeface="Georgia"/>
                <a:cs typeface="Georgia"/>
              </a:rPr>
              <a:t>as</a:t>
            </a:r>
            <a:r>
              <a:rPr sz="1969" spc="-28" dirty="0">
                <a:latin typeface="Georgia"/>
                <a:cs typeface="Georgia"/>
              </a:rPr>
              <a:t> </a:t>
            </a:r>
            <a:r>
              <a:rPr sz="1969" dirty="0">
                <a:latin typeface="Georgia"/>
                <a:cs typeface="Georgia"/>
              </a:rPr>
              <a:t>a</a:t>
            </a:r>
            <a:r>
              <a:rPr sz="1969" spc="-28" dirty="0">
                <a:latin typeface="Georgia"/>
                <a:cs typeface="Georgia"/>
              </a:rPr>
              <a:t> </a:t>
            </a:r>
            <a:r>
              <a:rPr sz="1969" spc="-7" dirty="0">
                <a:latin typeface="Georgia"/>
                <a:cs typeface="Georgia"/>
              </a:rPr>
              <a:t>whole”</a:t>
            </a:r>
            <a:endParaRPr sz="1969">
              <a:latin typeface="Georgia"/>
              <a:cs typeface="Georgia"/>
            </a:endParaRPr>
          </a:p>
          <a:p>
            <a:pPr marL="8929">
              <a:lnSpc>
                <a:spcPct val="100000"/>
              </a:lnSpc>
              <a:spcBef>
                <a:spcPts val="534"/>
              </a:spcBef>
            </a:pPr>
            <a:r>
              <a:rPr sz="1969" dirty="0">
                <a:latin typeface="Georgia"/>
                <a:cs typeface="Georgia"/>
              </a:rPr>
              <a:t>Directionality:</a:t>
            </a:r>
            <a:r>
              <a:rPr sz="1969" spc="-49" dirty="0">
                <a:latin typeface="Georgia"/>
                <a:cs typeface="Georgia"/>
              </a:rPr>
              <a:t> </a:t>
            </a:r>
            <a:r>
              <a:rPr sz="1969" dirty="0">
                <a:latin typeface="Georgia"/>
                <a:cs typeface="Georgia"/>
              </a:rPr>
              <a:t>bidirectional</a:t>
            </a:r>
            <a:r>
              <a:rPr sz="1969" spc="-53" dirty="0">
                <a:latin typeface="Georgia"/>
                <a:cs typeface="Georgia"/>
              </a:rPr>
              <a:t> </a:t>
            </a:r>
            <a:r>
              <a:rPr sz="1969" dirty="0">
                <a:latin typeface="Georgia"/>
                <a:cs typeface="Georgia"/>
              </a:rPr>
              <a:t>encoder</a:t>
            </a:r>
            <a:r>
              <a:rPr sz="1969" spc="-49" dirty="0">
                <a:latin typeface="Georgia"/>
                <a:cs typeface="Georgia"/>
              </a:rPr>
              <a:t> </a:t>
            </a:r>
            <a:r>
              <a:rPr sz="1969" dirty="0">
                <a:latin typeface="Georgia"/>
                <a:cs typeface="Georgia"/>
              </a:rPr>
              <a:t>vs</a:t>
            </a:r>
            <a:r>
              <a:rPr sz="1969" spc="-53" dirty="0">
                <a:latin typeface="Georgia"/>
                <a:cs typeface="Georgia"/>
              </a:rPr>
              <a:t> </a:t>
            </a:r>
            <a:r>
              <a:rPr sz="1969" dirty="0">
                <a:latin typeface="Georgia"/>
                <a:cs typeface="Georgia"/>
              </a:rPr>
              <a:t>forward</a:t>
            </a:r>
            <a:r>
              <a:rPr sz="1969" spc="-53" dirty="0">
                <a:latin typeface="Georgia"/>
                <a:cs typeface="Georgia"/>
              </a:rPr>
              <a:t> </a:t>
            </a:r>
            <a:r>
              <a:rPr sz="1969" dirty="0">
                <a:latin typeface="Georgia"/>
                <a:cs typeface="Georgia"/>
              </a:rPr>
              <a:t>+</a:t>
            </a:r>
            <a:r>
              <a:rPr sz="1969" spc="-49" dirty="0">
                <a:latin typeface="Georgia"/>
                <a:cs typeface="Georgia"/>
              </a:rPr>
              <a:t> </a:t>
            </a:r>
            <a:r>
              <a:rPr sz="1969" dirty="0">
                <a:latin typeface="Georgia"/>
                <a:cs typeface="Georgia"/>
              </a:rPr>
              <a:t>backward</a:t>
            </a:r>
            <a:r>
              <a:rPr sz="1969" spc="-53" dirty="0">
                <a:latin typeface="Georgia"/>
                <a:cs typeface="Georgia"/>
              </a:rPr>
              <a:t> </a:t>
            </a:r>
            <a:r>
              <a:rPr sz="1969" spc="-18" dirty="0">
                <a:latin typeface="Georgia"/>
                <a:cs typeface="Georgia"/>
              </a:rPr>
              <a:t>LMs</a:t>
            </a:r>
            <a:endParaRPr sz="1969">
              <a:latin typeface="Georgia"/>
              <a:cs typeface="Georgi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5321" y="897363"/>
            <a:ext cx="5154662" cy="596503"/>
          </a:xfrm>
          <a:prstGeom prst="rect">
            <a:avLst/>
          </a:prstGeom>
        </p:spPr>
        <p:txBody>
          <a:bodyPr vert="horz" wrap="square" lIns="0" tIns="8930" rIns="0" bIns="0" rtlCol="0">
            <a:spAutoFit/>
          </a:bodyPr>
          <a:lstStyle/>
          <a:p>
            <a:pPr marL="8929">
              <a:lnSpc>
                <a:spcPct val="100000"/>
              </a:lnSpc>
              <a:spcBef>
                <a:spcPts val="70"/>
              </a:spcBef>
              <a:tabLst>
                <a:tab pos="2287705" algn="l"/>
              </a:tabLst>
            </a:pPr>
            <a:r>
              <a:rPr spc="-28" dirty="0"/>
              <a:t>Limitations</a:t>
            </a:r>
            <a:r>
              <a:rPr dirty="0"/>
              <a:t>	of</a:t>
            </a:r>
            <a:r>
              <a:rPr spc="-130" dirty="0"/>
              <a:t> </a:t>
            </a:r>
            <a:r>
              <a:rPr spc="-204" dirty="0"/>
              <a:t>EL</a:t>
            </a:r>
            <a:r>
              <a:rPr spc="-197" dirty="0"/>
              <a:t>Mo/Co</a:t>
            </a:r>
            <a:r>
              <a:rPr spc="-626" dirty="0"/>
              <a:t>V</a:t>
            </a:r>
            <a:r>
              <a:rPr spc="-197" dirty="0"/>
              <a:t>e</a:t>
            </a:r>
          </a:p>
        </p:txBody>
      </p:sp>
      <p:sp>
        <p:nvSpPr>
          <p:cNvPr id="3" name="object 3"/>
          <p:cNvSpPr txBox="1"/>
          <p:nvPr/>
        </p:nvSpPr>
        <p:spPr>
          <a:xfrm>
            <a:off x="2158008" y="1912024"/>
            <a:ext cx="160288" cy="1714500"/>
          </a:xfrm>
          <a:prstGeom prst="rect">
            <a:avLst/>
          </a:prstGeom>
        </p:spPr>
        <p:txBody>
          <a:bodyPr vert="horz" wrap="square" lIns="0" tIns="235297" rIns="0" bIns="0" rtlCol="0">
            <a:spAutoFit/>
          </a:bodyPr>
          <a:lstStyle/>
          <a:p>
            <a:pPr marL="8929">
              <a:lnSpc>
                <a:spcPct val="100000"/>
              </a:lnSpc>
              <a:spcBef>
                <a:spcPts val="1853"/>
              </a:spcBef>
            </a:pPr>
            <a:r>
              <a:rPr sz="2848" spc="-35" dirty="0">
                <a:latin typeface="Georgia"/>
                <a:cs typeface="Georgia"/>
              </a:rPr>
              <a:t>•</a:t>
            </a:r>
            <a:endParaRPr sz="2848">
              <a:latin typeface="Georgia"/>
              <a:cs typeface="Georgia"/>
            </a:endParaRPr>
          </a:p>
          <a:p>
            <a:pPr marL="8929">
              <a:lnSpc>
                <a:spcPts val="3185"/>
              </a:lnSpc>
              <a:spcBef>
                <a:spcPts val="1786"/>
              </a:spcBef>
            </a:pPr>
            <a:r>
              <a:rPr sz="2848" spc="-35" dirty="0">
                <a:latin typeface="Georgia"/>
                <a:cs typeface="Georgia"/>
              </a:rPr>
              <a:t>•</a:t>
            </a:r>
            <a:endParaRPr sz="2848">
              <a:latin typeface="Georgia"/>
              <a:cs typeface="Georgia"/>
            </a:endParaRPr>
          </a:p>
          <a:p>
            <a:pPr marL="8929">
              <a:lnSpc>
                <a:spcPts val="3185"/>
              </a:lnSpc>
            </a:pPr>
            <a:r>
              <a:rPr sz="2848" spc="-35" dirty="0">
                <a:latin typeface="Georgia"/>
                <a:cs typeface="Georgia"/>
              </a:rPr>
              <a:t>•</a:t>
            </a:r>
            <a:endParaRPr sz="2848">
              <a:latin typeface="Georgia"/>
              <a:cs typeface="Georgia"/>
            </a:endParaRPr>
          </a:p>
        </p:txBody>
      </p:sp>
      <p:sp>
        <p:nvSpPr>
          <p:cNvPr id="4" name="object 4"/>
          <p:cNvSpPr txBox="1">
            <a:spLocks noGrp="1"/>
          </p:cNvSpPr>
          <p:nvPr>
            <p:ph type="body" idx="1"/>
          </p:nvPr>
        </p:nvSpPr>
        <p:spPr>
          <a:xfrm>
            <a:off x="2394495" y="2180771"/>
            <a:ext cx="10058401" cy="1805310"/>
          </a:xfrm>
          <a:prstGeom prst="rect">
            <a:avLst/>
          </a:prstGeom>
        </p:spPr>
        <p:txBody>
          <a:bodyPr vert="horz" wrap="square" lIns="0" tIns="30361" rIns="0" bIns="0" rtlCol="0">
            <a:spAutoFit/>
          </a:bodyPr>
          <a:lstStyle/>
          <a:p>
            <a:pPr marL="8929" marR="3572">
              <a:lnSpc>
                <a:spcPts val="2250"/>
              </a:lnSpc>
              <a:spcBef>
                <a:spcPts val="239"/>
              </a:spcBef>
            </a:pPr>
            <a:r>
              <a:rPr sz="2400" spc="-18" dirty="0"/>
              <a:t>Task-</a:t>
            </a:r>
            <a:r>
              <a:rPr sz="2400" dirty="0"/>
              <a:t>specific</a:t>
            </a:r>
            <a:r>
              <a:rPr sz="2400" spc="-53" dirty="0"/>
              <a:t> </a:t>
            </a:r>
            <a:r>
              <a:rPr sz="2400" dirty="0"/>
              <a:t>architectures:</a:t>
            </a:r>
            <a:r>
              <a:rPr sz="2400" spc="-53" dirty="0"/>
              <a:t> </a:t>
            </a:r>
            <a:r>
              <a:rPr sz="2400" dirty="0"/>
              <a:t>Contextualized</a:t>
            </a:r>
            <a:r>
              <a:rPr sz="2400" spc="-56" dirty="0"/>
              <a:t> </a:t>
            </a:r>
            <a:r>
              <a:rPr sz="2400" dirty="0"/>
              <a:t>word</a:t>
            </a:r>
            <a:r>
              <a:rPr sz="2400" spc="-56" dirty="0"/>
              <a:t> </a:t>
            </a:r>
            <a:r>
              <a:rPr sz="2400" spc="-7" dirty="0"/>
              <a:t>embeddings </a:t>
            </a:r>
            <a:r>
              <a:rPr sz="2400" dirty="0"/>
              <a:t>are</a:t>
            </a:r>
            <a:r>
              <a:rPr sz="2400" spc="-28" dirty="0"/>
              <a:t> </a:t>
            </a:r>
            <a:r>
              <a:rPr sz="2400" dirty="0"/>
              <a:t>used</a:t>
            </a:r>
            <a:r>
              <a:rPr sz="2400" spc="-32" dirty="0"/>
              <a:t> </a:t>
            </a:r>
            <a:r>
              <a:rPr sz="2400" dirty="0"/>
              <a:t>as</a:t>
            </a:r>
            <a:r>
              <a:rPr sz="2400" spc="-32" dirty="0"/>
              <a:t> </a:t>
            </a:r>
            <a:r>
              <a:rPr sz="2400" dirty="0"/>
              <a:t>an</a:t>
            </a:r>
            <a:r>
              <a:rPr sz="2400" spc="-28" dirty="0"/>
              <a:t> </a:t>
            </a:r>
            <a:r>
              <a:rPr sz="2400" dirty="0"/>
              <a:t>augmentation</a:t>
            </a:r>
            <a:r>
              <a:rPr sz="2400" spc="-32" dirty="0"/>
              <a:t> </a:t>
            </a:r>
            <a:r>
              <a:rPr sz="2400" dirty="0"/>
              <a:t>to</a:t>
            </a:r>
            <a:r>
              <a:rPr sz="2400" spc="-28" dirty="0"/>
              <a:t> </a:t>
            </a:r>
            <a:r>
              <a:rPr sz="2400" dirty="0"/>
              <a:t>static</a:t>
            </a:r>
            <a:r>
              <a:rPr sz="2400" spc="-25" dirty="0"/>
              <a:t> </a:t>
            </a:r>
            <a:r>
              <a:rPr sz="2400" dirty="0"/>
              <a:t>word</a:t>
            </a:r>
            <a:r>
              <a:rPr sz="2400" spc="-32" dirty="0"/>
              <a:t> </a:t>
            </a:r>
            <a:r>
              <a:rPr sz="2400" spc="-7" dirty="0"/>
              <a:t>embeddings</a:t>
            </a:r>
          </a:p>
          <a:p>
            <a:pPr marL="8929">
              <a:lnSpc>
                <a:spcPct val="100000"/>
              </a:lnSpc>
              <a:spcBef>
                <a:spcPts val="534"/>
              </a:spcBef>
            </a:pPr>
            <a:r>
              <a:rPr sz="2400" dirty="0"/>
              <a:t>Trained</a:t>
            </a:r>
            <a:r>
              <a:rPr sz="2400" spc="-42" dirty="0"/>
              <a:t> </a:t>
            </a:r>
            <a:r>
              <a:rPr sz="2400" dirty="0"/>
              <a:t>on</a:t>
            </a:r>
            <a:r>
              <a:rPr sz="2400" spc="-39" dirty="0"/>
              <a:t> </a:t>
            </a:r>
            <a:r>
              <a:rPr sz="2400" dirty="0"/>
              <a:t>single</a:t>
            </a:r>
            <a:r>
              <a:rPr sz="2400" spc="-39" dirty="0"/>
              <a:t> </a:t>
            </a:r>
            <a:r>
              <a:rPr sz="2400" spc="-7" dirty="0"/>
              <a:t>sentences</a:t>
            </a:r>
          </a:p>
          <a:p>
            <a:pPr marL="8929" marR="86168">
              <a:lnSpc>
                <a:spcPts val="2250"/>
              </a:lnSpc>
              <a:spcBef>
                <a:spcPts val="759"/>
              </a:spcBef>
            </a:pPr>
            <a:r>
              <a:rPr sz="2400" dirty="0"/>
              <a:t>Training</a:t>
            </a:r>
            <a:r>
              <a:rPr sz="2400" spc="-32" dirty="0"/>
              <a:t> </a:t>
            </a:r>
            <a:r>
              <a:rPr sz="2400" dirty="0"/>
              <a:t>corpus</a:t>
            </a:r>
            <a:r>
              <a:rPr sz="2400" spc="-35" dirty="0"/>
              <a:t> </a:t>
            </a:r>
            <a:r>
              <a:rPr sz="2400" dirty="0"/>
              <a:t>is</a:t>
            </a:r>
            <a:r>
              <a:rPr sz="2400" spc="-35" dirty="0"/>
              <a:t> </a:t>
            </a:r>
            <a:r>
              <a:rPr sz="2400" dirty="0"/>
              <a:t>much</a:t>
            </a:r>
            <a:r>
              <a:rPr sz="2400" spc="-35" dirty="0"/>
              <a:t> </a:t>
            </a:r>
            <a:r>
              <a:rPr sz="2400" dirty="0"/>
              <a:t>smaller</a:t>
            </a:r>
            <a:r>
              <a:rPr sz="2400" spc="-32" dirty="0"/>
              <a:t> </a:t>
            </a:r>
            <a:r>
              <a:rPr sz="2400" dirty="0"/>
              <a:t>than</a:t>
            </a:r>
            <a:r>
              <a:rPr sz="2400" spc="-35" dirty="0"/>
              <a:t> </a:t>
            </a:r>
            <a:r>
              <a:rPr sz="2400" dirty="0"/>
              <a:t>those</a:t>
            </a:r>
            <a:r>
              <a:rPr sz="2400" spc="-32" dirty="0"/>
              <a:t> </a:t>
            </a:r>
            <a:r>
              <a:rPr sz="2400" dirty="0"/>
              <a:t>used</a:t>
            </a:r>
            <a:r>
              <a:rPr sz="2400" spc="-35" dirty="0"/>
              <a:t> </a:t>
            </a:r>
            <a:r>
              <a:rPr sz="2400" dirty="0"/>
              <a:t>for</a:t>
            </a:r>
            <a:r>
              <a:rPr sz="2400" spc="-32" dirty="0"/>
              <a:t> </a:t>
            </a:r>
            <a:r>
              <a:rPr sz="2400" spc="-7" dirty="0"/>
              <a:t>training </a:t>
            </a:r>
            <a:r>
              <a:rPr sz="2400" dirty="0"/>
              <a:t>word2vec/GloVe</a:t>
            </a:r>
            <a:r>
              <a:rPr sz="2400" spc="-74" dirty="0"/>
              <a:t> </a:t>
            </a:r>
            <a:r>
              <a:rPr sz="2400" spc="-7" dirty="0"/>
              <a:t>vectors</a:t>
            </a:r>
          </a:p>
        </p:txBody>
      </p:sp>
    </p:spTree>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41149</TotalTime>
  <Words>10644</Words>
  <Application>Microsoft Office PowerPoint</Application>
  <PresentationFormat>Widescreen</PresentationFormat>
  <Paragraphs>895</Paragraphs>
  <Slides>75</Slides>
  <Notes>34</Notes>
  <HiddenSlides>3</HiddenSlides>
  <MMClips>0</MMClip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1_Retrospect</vt:lpstr>
      <vt:lpstr>Vector Semantics &amp; Embeddings</vt:lpstr>
      <vt:lpstr>Sparse versus dense vectors</vt:lpstr>
      <vt:lpstr>Sparse versus dense vectors</vt:lpstr>
      <vt:lpstr>Common methods for getting short dense vectors</vt:lpstr>
      <vt:lpstr>Simple static embeddings you can download!</vt:lpstr>
      <vt:lpstr>Word2vec</vt:lpstr>
      <vt:lpstr>Word2vec</vt:lpstr>
      <vt:lpstr>Approach: predict if candidate word c is a "neighbor"</vt:lpstr>
      <vt:lpstr>Skip-Gram Training Data</vt:lpstr>
      <vt:lpstr>Skip-Gram Classifier</vt:lpstr>
      <vt:lpstr>Similarity is computed from dot product</vt:lpstr>
      <vt:lpstr>Turning dot products into probabilities</vt:lpstr>
      <vt:lpstr>How Skip-Gram Classifier computes P(+|w, c) </vt:lpstr>
      <vt:lpstr>Skip-gram classifier: summary</vt:lpstr>
      <vt:lpstr>These embeddings we'll need: a set for w, a set for c</vt:lpstr>
      <vt:lpstr>Vector Semantics &amp; Embeddings</vt:lpstr>
      <vt:lpstr>Vector Semantics &amp; Embeddings</vt:lpstr>
      <vt:lpstr>Skip-Gram Training data</vt:lpstr>
      <vt:lpstr>Skip-Gram Training data</vt:lpstr>
      <vt:lpstr>Skip-Gram Training data</vt:lpstr>
      <vt:lpstr>Word2vec: how to learn vectors</vt:lpstr>
      <vt:lpstr>Loss function for one w with cpos , cneg1 ...cnegk </vt:lpstr>
      <vt:lpstr>Learning the classifier</vt:lpstr>
      <vt:lpstr>Intuition of one step of gradient descent</vt:lpstr>
      <vt:lpstr>Reminder: gradient descent</vt:lpstr>
      <vt:lpstr>The derivatives of the loss function</vt:lpstr>
      <vt:lpstr>Update equation in SGD</vt:lpstr>
      <vt:lpstr>Two sets of embeddings</vt:lpstr>
      <vt:lpstr>Summary: How to learn word2vec (skip-gram) embeddings</vt:lpstr>
      <vt:lpstr>Vector Semantics &amp; Embeddings</vt:lpstr>
      <vt:lpstr>Vector Semantics &amp; Embeddings</vt:lpstr>
      <vt:lpstr>The kinds of neighbors depend on window size</vt:lpstr>
      <vt:lpstr>Analogical relations</vt:lpstr>
      <vt:lpstr>Analogical relations via parallelogram</vt:lpstr>
      <vt:lpstr>PowerPoint Presentation</vt:lpstr>
      <vt:lpstr>Caveats with the parallelogram method</vt:lpstr>
      <vt:lpstr>Embeddings as a window onto historical semantics</vt:lpstr>
      <vt:lpstr>Embeddings reflect cultural bias!</vt:lpstr>
      <vt:lpstr>Historical embedding as a tool to study cultural biases</vt:lpstr>
      <vt:lpstr>Vector Semantics &amp; Embeddings</vt:lpstr>
      <vt:lpstr>PowerPoint Presentation</vt:lpstr>
      <vt:lpstr>Overview</vt:lpstr>
      <vt:lpstr>Limitations of word2vec</vt:lpstr>
      <vt:lpstr>Contextualized word embeddings</vt:lpstr>
      <vt:lpstr>Contextualized word embeddings</vt:lpstr>
      <vt:lpstr>Contextualized word embeddings</vt:lpstr>
      <vt:lpstr>Noah Smith. 2019. Contextual Word Representations: A Contextual Introduction</vt:lpstr>
      <vt:lpstr>CoVe</vt:lpstr>
      <vt:lpstr>Sequence-to-sequence with attention</vt:lpstr>
      <vt:lpstr>CoVe</vt:lpstr>
      <vt:lpstr>Training details</vt:lpstr>
      <vt:lpstr>Evaluation</vt:lpstr>
      <vt:lpstr>Evaluation: SNLI</vt:lpstr>
      <vt:lpstr>Evaluation: SQuAD</vt:lpstr>
      <vt:lpstr>Evaluation</vt:lpstr>
      <vt:lpstr>Evaluation</vt:lpstr>
      <vt:lpstr>More MT —&gt; Better CoVe</vt:lpstr>
      <vt:lpstr>ELMo</vt:lpstr>
      <vt:lpstr>ELMo</vt:lpstr>
      <vt:lpstr>ELMo != bidirectional LSTMs</vt:lpstr>
      <vt:lpstr>How to use ELMo? # of layers</vt:lpstr>
      <vt:lpstr>How to use ELMo?</vt:lpstr>
      <vt:lpstr>Training details</vt:lpstr>
      <vt:lpstr>Evaluation</vt:lpstr>
      <vt:lpstr>Baseline models</vt:lpstr>
      <vt:lpstr>Baseline models</vt:lpstr>
      <vt:lpstr>Experimental results</vt:lpstr>
      <vt:lpstr>Experimental results</vt:lpstr>
      <vt:lpstr>What information is captured by ELMo representations?</vt:lpstr>
      <vt:lpstr>Where to include ELMo?</vt:lpstr>
      <vt:lpstr>Using all layers &gt; last layer</vt:lpstr>
      <vt:lpstr>Sample Efficiency</vt:lpstr>
      <vt:lpstr>Visualization of softmax normalized weights</vt:lpstr>
      <vt:lpstr>Discussion: CoVe vs ELMo</vt:lpstr>
      <vt:lpstr>Limitations of ELMo/CoVe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 Semantics and Embeddings</dc:title>
  <dc:subject>Speech and Language Processing</dc:subject>
  <dc:creator>Dan Jurafsky</dc:creator>
  <cp:keywords/>
  <dc:description/>
  <cp:lastModifiedBy>Dan Jurafsky</cp:lastModifiedBy>
  <cp:revision>1895</cp:revision>
  <cp:lastPrinted>2019-02-07T01:34:53Z</cp:lastPrinted>
  <dcterms:created xsi:type="dcterms:W3CDTF">2009-06-12T17:14:38Z</dcterms:created>
  <dcterms:modified xsi:type="dcterms:W3CDTF">2025-11-10T03:01:09Z</dcterms:modified>
  <cp:category/>
</cp:coreProperties>
</file>