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8" r:id="rId2"/>
    <p:sldId id="265" r:id="rId3"/>
    <p:sldId id="289" r:id="rId4"/>
    <p:sldId id="290" r:id="rId5"/>
    <p:sldId id="278" r:id="rId6"/>
    <p:sldId id="281" r:id="rId7"/>
    <p:sldId id="292" r:id="rId8"/>
    <p:sldId id="267" r:id="rId9"/>
    <p:sldId id="283" r:id="rId10"/>
    <p:sldId id="269" r:id="rId11"/>
    <p:sldId id="284" r:id="rId12"/>
    <p:sldId id="271" r:id="rId13"/>
    <p:sldId id="273" r:id="rId14"/>
    <p:sldId id="277" r:id="rId15"/>
    <p:sldId id="293" r:id="rId16"/>
    <p:sldId id="280" r:id="rId17"/>
    <p:sldId id="294"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5E4F83-1099-18DD-42B0-BF7E02B14782}" v="308" dt="2025-08-27T17:52:04.9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D8A436-7A66-4A37-A93A-9C00156094B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9846C012-0458-4DBF-9D20-3895F54E3E5A}">
      <dgm:prSet/>
      <dgm:spPr/>
      <dgm:t>
        <a:bodyPr/>
        <a:lstStyle/>
        <a:p>
          <a:r>
            <a:rPr lang="en-US" b="0" i="0" dirty="0"/>
            <a:t>Grade Breakdown</a:t>
          </a:r>
          <a:endParaRPr lang="en-US" dirty="0"/>
        </a:p>
      </dgm:t>
    </dgm:pt>
    <dgm:pt modelId="{AC85DFE0-B702-4914-BE0D-9777269FAE4A}" type="parTrans" cxnId="{3A2B0E0C-3375-4BAE-B5C6-DEB2250B1B17}">
      <dgm:prSet/>
      <dgm:spPr/>
      <dgm:t>
        <a:bodyPr/>
        <a:lstStyle/>
        <a:p>
          <a:endParaRPr lang="en-US"/>
        </a:p>
      </dgm:t>
    </dgm:pt>
    <dgm:pt modelId="{A0CF81BD-6D93-4A21-9B10-8E172A0363A5}" type="sibTrans" cxnId="{3A2B0E0C-3375-4BAE-B5C6-DEB2250B1B17}">
      <dgm:prSet/>
      <dgm:spPr/>
      <dgm:t>
        <a:bodyPr/>
        <a:lstStyle/>
        <a:p>
          <a:endParaRPr lang="en-US"/>
        </a:p>
      </dgm:t>
    </dgm:pt>
    <dgm:pt modelId="{28FEC0A4-38CD-4C8C-9BE8-50443171A798}">
      <dgm:prSet/>
      <dgm:spPr/>
      <dgm:t>
        <a:bodyPr/>
        <a:lstStyle/>
        <a:p>
          <a:r>
            <a:rPr lang="en-US" b="0" i="0" dirty="0"/>
            <a:t>Proposal</a:t>
          </a:r>
          <a:endParaRPr lang="en-US" dirty="0"/>
        </a:p>
      </dgm:t>
    </dgm:pt>
    <dgm:pt modelId="{F287E7E7-5085-4D20-A7CC-284F5740DEDD}" type="parTrans" cxnId="{80CEEE4C-D1EE-44FB-A293-DEC27737B351}">
      <dgm:prSet/>
      <dgm:spPr/>
      <dgm:t>
        <a:bodyPr/>
        <a:lstStyle/>
        <a:p>
          <a:endParaRPr lang="en-US"/>
        </a:p>
      </dgm:t>
    </dgm:pt>
    <dgm:pt modelId="{C7A16EA3-281B-4BED-A85E-944E5E5E847E}" type="sibTrans" cxnId="{80CEEE4C-D1EE-44FB-A293-DEC27737B351}">
      <dgm:prSet/>
      <dgm:spPr/>
      <dgm:t>
        <a:bodyPr/>
        <a:lstStyle/>
        <a:p>
          <a:endParaRPr lang="en-US"/>
        </a:p>
      </dgm:t>
    </dgm:pt>
    <dgm:pt modelId="{DC93352F-82CD-4DA9-B608-3E6B382908FC}">
      <dgm:prSet/>
      <dgm:spPr/>
      <dgm:t>
        <a:bodyPr/>
        <a:lstStyle/>
        <a:p>
          <a:r>
            <a:rPr lang="en-US" b="0" i="0" dirty="0"/>
            <a:t>Project Update 1</a:t>
          </a:r>
          <a:endParaRPr lang="en-US" dirty="0"/>
        </a:p>
      </dgm:t>
    </dgm:pt>
    <dgm:pt modelId="{EC1A2A3B-E92A-4F22-939F-5F77C3828F51}" type="parTrans" cxnId="{FBC91108-471A-46E4-A5A6-D2D7FAB20656}">
      <dgm:prSet/>
      <dgm:spPr/>
      <dgm:t>
        <a:bodyPr/>
        <a:lstStyle/>
        <a:p>
          <a:endParaRPr lang="en-US"/>
        </a:p>
      </dgm:t>
    </dgm:pt>
    <dgm:pt modelId="{C17B70BC-F170-4194-8E44-B5FBC003B352}" type="sibTrans" cxnId="{FBC91108-471A-46E4-A5A6-D2D7FAB20656}">
      <dgm:prSet/>
      <dgm:spPr/>
      <dgm:t>
        <a:bodyPr/>
        <a:lstStyle/>
        <a:p>
          <a:endParaRPr lang="en-US"/>
        </a:p>
      </dgm:t>
    </dgm:pt>
    <dgm:pt modelId="{E44FBC09-2AE1-4BE9-B10A-E5933C610745}">
      <dgm:prSet/>
      <dgm:spPr/>
      <dgm:t>
        <a:bodyPr/>
        <a:lstStyle/>
        <a:p>
          <a:r>
            <a:rPr lang="en-US" b="0" i="0" dirty="0"/>
            <a:t>Project Update 2</a:t>
          </a:r>
          <a:endParaRPr lang="en-US" dirty="0"/>
        </a:p>
      </dgm:t>
    </dgm:pt>
    <dgm:pt modelId="{71B7F226-CB54-43F7-8504-14D8603FCEC4}" type="parTrans" cxnId="{9BFF5450-0017-4F4B-BD54-BB5AD5F980EF}">
      <dgm:prSet/>
      <dgm:spPr/>
      <dgm:t>
        <a:bodyPr/>
        <a:lstStyle/>
        <a:p>
          <a:endParaRPr lang="en-US"/>
        </a:p>
      </dgm:t>
    </dgm:pt>
    <dgm:pt modelId="{8BFDE6F3-59C0-42A6-972C-90472E72873F}" type="sibTrans" cxnId="{9BFF5450-0017-4F4B-BD54-BB5AD5F980EF}">
      <dgm:prSet/>
      <dgm:spPr/>
      <dgm:t>
        <a:bodyPr/>
        <a:lstStyle/>
        <a:p>
          <a:endParaRPr lang="en-US"/>
        </a:p>
      </dgm:t>
    </dgm:pt>
    <dgm:pt modelId="{EE71041B-5139-4AD4-8BA9-E70EB0E1F789}">
      <dgm:prSet/>
      <dgm:spPr/>
      <dgm:t>
        <a:bodyPr/>
        <a:lstStyle/>
        <a:p>
          <a:r>
            <a:rPr lang="en-US" b="0" i="0" dirty="0"/>
            <a:t>Final Paper</a:t>
          </a:r>
          <a:endParaRPr lang="en-US" dirty="0"/>
        </a:p>
      </dgm:t>
    </dgm:pt>
    <dgm:pt modelId="{584B05CA-90D3-46D3-BA38-2BD0B4BE7ED1}" type="parTrans" cxnId="{A028DF28-67BD-4CCE-9D2E-4B203B5FF645}">
      <dgm:prSet/>
      <dgm:spPr/>
      <dgm:t>
        <a:bodyPr/>
        <a:lstStyle/>
        <a:p>
          <a:endParaRPr lang="en-US"/>
        </a:p>
      </dgm:t>
    </dgm:pt>
    <dgm:pt modelId="{C1C15F13-14F1-42CC-A6BC-E7A673FFFCA7}" type="sibTrans" cxnId="{A028DF28-67BD-4CCE-9D2E-4B203B5FF645}">
      <dgm:prSet/>
      <dgm:spPr/>
      <dgm:t>
        <a:bodyPr/>
        <a:lstStyle/>
        <a:p>
          <a:endParaRPr lang="en-US"/>
        </a:p>
      </dgm:t>
    </dgm:pt>
    <dgm:pt modelId="{5F6611EC-4224-46FF-9F01-B155433F2570}">
      <dgm:prSet/>
      <dgm:spPr/>
      <dgm:t>
        <a:bodyPr/>
        <a:lstStyle/>
        <a:p>
          <a:r>
            <a:rPr lang="en-US" b="0" i="0" dirty="0"/>
            <a:t>Final Presentation</a:t>
          </a:r>
          <a:endParaRPr lang="en-US" dirty="0"/>
        </a:p>
      </dgm:t>
    </dgm:pt>
    <dgm:pt modelId="{D66778BA-C6D2-4456-B8B0-2F1160C4C1D4}" type="parTrans" cxnId="{0BCC24C0-95C0-4367-9E55-F5DC9A2C3489}">
      <dgm:prSet/>
      <dgm:spPr/>
      <dgm:t>
        <a:bodyPr/>
        <a:lstStyle/>
        <a:p>
          <a:endParaRPr lang="en-US"/>
        </a:p>
      </dgm:t>
    </dgm:pt>
    <dgm:pt modelId="{43FE4454-B60F-42A0-B143-C671F5F0DC6C}" type="sibTrans" cxnId="{0BCC24C0-95C0-4367-9E55-F5DC9A2C3489}">
      <dgm:prSet/>
      <dgm:spPr/>
      <dgm:t>
        <a:bodyPr/>
        <a:lstStyle/>
        <a:p>
          <a:endParaRPr lang="en-US"/>
        </a:p>
      </dgm:t>
    </dgm:pt>
    <dgm:pt modelId="{8F362C24-E2A3-4DAA-9231-A23D1FBE759D}">
      <dgm:prSet phldr="0"/>
      <dgm:spPr/>
      <dgm:t>
        <a:bodyPr/>
        <a:lstStyle/>
        <a:p>
          <a:pPr rtl="0"/>
          <a:r>
            <a:rPr lang="en-US" dirty="0">
              <a:latin typeface="Seaford Display"/>
            </a:rPr>
            <a:t>Other details</a:t>
          </a:r>
        </a:p>
      </dgm:t>
    </dgm:pt>
    <dgm:pt modelId="{C41F9AAA-AE8A-42A0-B04A-7B27669B9DA8}" type="parTrans" cxnId="{992D7ACA-4917-46AA-8ABF-7B096D48D04F}">
      <dgm:prSet/>
      <dgm:spPr/>
    </dgm:pt>
    <dgm:pt modelId="{B30E3849-89D3-451C-86B2-BB316E06279C}" type="sibTrans" cxnId="{992D7ACA-4917-46AA-8ABF-7B096D48D04F}">
      <dgm:prSet/>
      <dgm:spPr/>
    </dgm:pt>
    <dgm:pt modelId="{F38C3B51-BD7F-4F84-A5B8-AFC11B27E411}">
      <dgm:prSet phldr="0"/>
      <dgm:spPr/>
      <dgm:t>
        <a:bodyPr/>
        <a:lstStyle/>
        <a:p>
          <a:pPr rtl="0"/>
          <a:r>
            <a:rPr lang="en-US" b="0" i="0" dirty="0">
              <a:latin typeface="Seaford Display"/>
            </a:rPr>
            <a:t>Final Project</a:t>
          </a:r>
        </a:p>
      </dgm:t>
    </dgm:pt>
    <dgm:pt modelId="{0603D930-AB94-4415-A910-299DB661D82B}" type="parTrans" cxnId="{97E026C8-9072-4CEB-B000-0CA348646834}">
      <dgm:prSet/>
      <dgm:spPr/>
    </dgm:pt>
    <dgm:pt modelId="{26290ADF-9346-4981-B544-85A2ECF63C50}" type="sibTrans" cxnId="{97E026C8-9072-4CEB-B000-0CA348646834}">
      <dgm:prSet/>
      <dgm:spPr/>
    </dgm:pt>
    <dgm:pt modelId="{51595CE0-CA37-48E9-9BDA-4F8A8F937EA8}" type="pres">
      <dgm:prSet presAssocID="{DCD8A436-7A66-4A37-A93A-9C00156094B8}" presName="linear" presStyleCnt="0">
        <dgm:presLayoutVars>
          <dgm:animLvl val="lvl"/>
          <dgm:resizeHandles val="exact"/>
        </dgm:presLayoutVars>
      </dgm:prSet>
      <dgm:spPr/>
    </dgm:pt>
    <dgm:pt modelId="{DB08AAB0-EDF5-4FAE-9026-D4DA3BD22903}" type="pres">
      <dgm:prSet presAssocID="{F38C3B51-BD7F-4F84-A5B8-AFC11B27E411}" presName="parentText" presStyleLbl="node1" presStyleIdx="0" presStyleCnt="8">
        <dgm:presLayoutVars>
          <dgm:chMax val="0"/>
          <dgm:bulletEnabled val="1"/>
        </dgm:presLayoutVars>
      </dgm:prSet>
      <dgm:spPr/>
    </dgm:pt>
    <dgm:pt modelId="{648A28D9-AD54-48E6-908C-58B5EF4EA684}" type="pres">
      <dgm:prSet presAssocID="{26290ADF-9346-4981-B544-85A2ECF63C50}" presName="spacer" presStyleCnt="0"/>
      <dgm:spPr/>
    </dgm:pt>
    <dgm:pt modelId="{7676C640-D083-4651-B633-FDC3E72B3D6E}" type="pres">
      <dgm:prSet presAssocID="{9846C012-0458-4DBF-9D20-3895F54E3E5A}" presName="parentText" presStyleLbl="node1" presStyleIdx="1" presStyleCnt="8">
        <dgm:presLayoutVars>
          <dgm:chMax val="0"/>
          <dgm:bulletEnabled val="1"/>
        </dgm:presLayoutVars>
      </dgm:prSet>
      <dgm:spPr/>
    </dgm:pt>
    <dgm:pt modelId="{DA34C4DD-E08F-4057-B161-DD9ED4BB6218}" type="pres">
      <dgm:prSet presAssocID="{A0CF81BD-6D93-4A21-9B10-8E172A0363A5}" presName="spacer" presStyleCnt="0"/>
      <dgm:spPr/>
    </dgm:pt>
    <dgm:pt modelId="{37B2063A-3EFB-4D47-A5CA-78310CBF3BFF}" type="pres">
      <dgm:prSet presAssocID="{28FEC0A4-38CD-4C8C-9BE8-50443171A798}" presName="parentText" presStyleLbl="node1" presStyleIdx="2" presStyleCnt="8">
        <dgm:presLayoutVars>
          <dgm:chMax val="0"/>
          <dgm:bulletEnabled val="1"/>
        </dgm:presLayoutVars>
      </dgm:prSet>
      <dgm:spPr/>
    </dgm:pt>
    <dgm:pt modelId="{28F34FEF-C548-46D3-A0A5-C31D0F27E53F}" type="pres">
      <dgm:prSet presAssocID="{C7A16EA3-281B-4BED-A85E-944E5E5E847E}" presName="spacer" presStyleCnt="0"/>
      <dgm:spPr/>
    </dgm:pt>
    <dgm:pt modelId="{0A97E5AA-A96A-4C64-ABDC-E802AD5C548E}" type="pres">
      <dgm:prSet presAssocID="{DC93352F-82CD-4DA9-B608-3E6B382908FC}" presName="parentText" presStyleLbl="node1" presStyleIdx="3" presStyleCnt="8">
        <dgm:presLayoutVars>
          <dgm:chMax val="0"/>
          <dgm:bulletEnabled val="1"/>
        </dgm:presLayoutVars>
      </dgm:prSet>
      <dgm:spPr/>
    </dgm:pt>
    <dgm:pt modelId="{FE19F58E-8279-4214-A4AC-DEC4A4DC7839}" type="pres">
      <dgm:prSet presAssocID="{C17B70BC-F170-4194-8E44-B5FBC003B352}" presName="spacer" presStyleCnt="0"/>
      <dgm:spPr/>
    </dgm:pt>
    <dgm:pt modelId="{EF47DE17-C3B4-49FC-82AD-64E3AB743219}" type="pres">
      <dgm:prSet presAssocID="{E44FBC09-2AE1-4BE9-B10A-E5933C610745}" presName="parentText" presStyleLbl="node1" presStyleIdx="4" presStyleCnt="8">
        <dgm:presLayoutVars>
          <dgm:chMax val="0"/>
          <dgm:bulletEnabled val="1"/>
        </dgm:presLayoutVars>
      </dgm:prSet>
      <dgm:spPr/>
    </dgm:pt>
    <dgm:pt modelId="{43810AA7-26AB-42AE-A97D-6202DC853745}" type="pres">
      <dgm:prSet presAssocID="{8BFDE6F3-59C0-42A6-972C-90472E72873F}" presName="spacer" presStyleCnt="0"/>
      <dgm:spPr/>
    </dgm:pt>
    <dgm:pt modelId="{DD138441-773D-41F1-BC4F-55BFB8ADFD97}" type="pres">
      <dgm:prSet presAssocID="{EE71041B-5139-4AD4-8BA9-E70EB0E1F789}" presName="parentText" presStyleLbl="node1" presStyleIdx="5" presStyleCnt="8">
        <dgm:presLayoutVars>
          <dgm:chMax val="0"/>
          <dgm:bulletEnabled val="1"/>
        </dgm:presLayoutVars>
      </dgm:prSet>
      <dgm:spPr/>
    </dgm:pt>
    <dgm:pt modelId="{9EB7668F-0DF7-47BD-927E-575D03D08A4D}" type="pres">
      <dgm:prSet presAssocID="{C1C15F13-14F1-42CC-A6BC-E7A673FFFCA7}" presName="spacer" presStyleCnt="0"/>
      <dgm:spPr/>
    </dgm:pt>
    <dgm:pt modelId="{17E0DCBD-5007-4D57-AF22-3330C4FA02D1}" type="pres">
      <dgm:prSet presAssocID="{5F6611EC-4224-46FF-9F01-B155433F2570}" presName="parentText" presStyleLbl="node1" presStyleIdx="6" presStyleCnt="8">
        <dgm:presLayoutVars>
          <dgm:chMax val="0"/>
          <dgm:bulletEnabled val="1"/>
        </dgm:presLayoutVars>
      </dgm:prSet>
      <dgm:spPr/>
    </dgm:pt>
    <dgm:pt modelId="{36E7A0E9-0799-49C4-9E5D-CBF415DD8673}" type="pres">
      <dgm:prSet presAssocID="{43FE4454-B60F-42A0-B143-C671F5F0DC6C}" presName="spacer" presStyleCnt="0"/>
      <dgm:spPr/>
    </dgm:pt>
    <dgm:pt modelId="{F3994CB8-9293-4578-9470-AD3FF4FB7159}" type="pres">
      <dgm:prSet presAssocID="{8F362C24-E2A3-4DAA-9231-A23D1FBE759D}" presName="parentText" presStyleLbl="node1" presStyleIdx="7" presStyleCnt="8">
        <dgm:presLayoutVars>
          <dgm:chMax val="0"/>
          <dgm:bulletEnabled val="1"/>
        </dgm:presLayoutVars>
      </dgm:prSet>
      <dgm:spPr/>
    </dgm:pt>
  </dgm:ptLst>
  <dgm:cxnLst>
    <dgm:cxn modelId="{FBC91108-471A-46E4-A5A6-D2D7FAB20656}" srcId="{DCD8A436-7A66-4A37-A93A-9C00156094B8}" destId="{DC93352F-82CD-4DA9-B608-3E6B382908FC}" srcOrd="3" destOrd="0" parTransId="{EC1A2A3B-E92A-4F22-939F-5F77C3828F51}" sibTransId="{C17B70BC-F170-4194-8E44-B5FBC003B352}"/>
    <dgm:cxn modelId="{3A2B0E0C-3375-4BAE-B5C6-DEB2250B1B17}" srcId="{DCD8A436-7A66-4A37-A93A-9C00156094B8}" destId="{9846C012-0458-4DBF-9D20-3895F54E3E5A}" srcOrd="1" destOrd="0" parTransId="{AC85DFE0-B702-4914-BE0D-9777269FAE4A}" sibTransId="{A0CF81BD-6D93-4A21-9B10-8E172A0363A5}"/>
    <dgm:cxn modelId="{6B9C8216-273D-4B99-A4E4-BC0100DD687B}" type="presOf" srcId="{F38C3B51-BD7F-4F84-A5B8-AFC11B27E411}" destId="{DB08AAB0-EDF5-4FAE-9026-D4DA3BD22903}" srcOrd="0" destOrd="0" presId="urn:microsoft.com/office/officeart/2005/8/layout/vList2"/>
    <dgm:cxn modelId="{979AD619-ACB5-4174-938B-2763F2BEA263}" type="presOf" srcId="{DCD8A436-7A66-4A37-A93A-9C00156094B8}" destId="{51595CE0-CA37-48E9-9BDA-4F8A8F937EA8}" srcOrd="0" destOrd="0" presId="urn:microsoft.com/office/officeart/2005/8/layout/vList2"/>
    <dgm:cxn modelId="{E963401A-162A-4147-B0DE-00E7D2823A5F}" type="presOf" srcId="{9846C012-0458-4DBF-9D20-3895F54E3E5A}" destId="{7676C640-D083-4651-B633-FDC3E72B3D6E}" srcOrd="0" destOrd="0" presId="urn:microsoft.com/office/officeart/2005/8/layout/vList2"/>
    <dgm:cxn modelId="{A028DF28-67BD-4CCE-9D2E-4B203B5FF645}" srcId="{DCD8A436-7A66-4A37-A93A-9C00156094B8}" destId="{EE71041B-5139-4AD4-8BA9-E70EB0E1F789}" srcOrd="5" destOrd="0" parTransId="{584B05CA-90D3-46D3-BA38-2BD0B4BE7ED1}" sibTransId="{C1C15F13-14F1-42CC-A6BC-E7A673FFFCA7}"/>
    <dgm:cxn modelId="{80CEEE4C-D1EE-44FB-A293-DEC27737B351}" srcId="{DCD8A436-7A66-4A37-A93A-9C00156094B8}" destId="{28FEC0A4-38CD-4C8C-9BE8-50443171A798}" srcOrd="2" destOrd="0" parTransId="{F287E7E7-5085-4D20-A7CC-284F5740DEDD}" sibTransId="{C7A16EA3-281B-4BED-A85E-944E5E5E847E}"/>
    <dgm:cxn modelId="{9BFF5450-0017-4F4B-BD54-BB5AD5F980EF}" srcId="{DCD8A436-7A66-4A37-A93A-9C00156094B8}" destId="{E44FBC09-2AE1-4BE9-B10A-E5933C610745}" srcOrd="4" destOrd="0" parTransId="{71B7F226-CB54-43F7-8504-14D8603FCEC4}" sibTransId="{8BFDE6F3-59C0-42A6-972C-90472E72873F}"/>
    <dgm:cxn modelId="{E3E11271-0A6B-477C-A742-ED80971D45DA}" type="presOf" srcId="{28FEC0A4-38CD-4C8C-9BE8-50443171A798}" destId="{37B2063A-3EFB-4D47-A5CA-78310CBF3BFF}" srcOrd="0" destOrd="0" presId="urn:microsoft.com/office/officeart/2005/8/layout/vList2"/>
    <dgm:cxn modelId="{2D0DFF8A-5546-498D-ACCD-CB652A1E61EC}" type="presOf" srcId="{5F6611EC-4224-46FF-9F01-B155433F2570}" destId="{17E0DCBD-5007-4D57-AF22-3330C4FA02D1}" srcOrd="0" destOrd="0" presId="urn:microsoft.com/office/officeart/2005/8/layout/vList2"/>
    <dgm:cxn modelId="{4308D8AC-83EF-4485-97BC-D413441FD94E}" type="presOf" srcId="{E44FBC09-2AE1-4BE9-B10A-E5933C610745}" destId="{EF47DE17-C3B4-49FC-82AD-64E3AB743219}" srcOrd="0" destOrd="0" presId="urn:microsoft.com/office/officeart/2005/8/layout/vList2"/>
    <dgm:cxn modelId="{F95443BC-AE77-4894-BFE6-00A810EEE453}" type="presOf" srcId="{EE71041B-5139-4AD4-8BA9-E70EB0E1F789}" destId="{DD138441-773D-41F1-BC4F-55BFB8ADFD97}" srcOrd="0" destOrd="0" presId="urn:microsoft.com/office/officeart/2005/8/layout/vList2"/>
    <dgm:cxn modelId="{0BCC24C0-95C0-4367-9E55-F5DC9A2C3489}" srcId="{DCD8A436-7A66-4A37-A93A-9C00156094B8}" destId="{5F6611EC-4224-46FF-9F01-B155433F2570}" srcOrd="6" destOrd="0" parTransId="{D66778BA-C6D2-4456-B8B0-2F1160C4C1D4}" sibTransId="{43FE4454-B60F-42A0-B143-C671F5F0DC6C}"/>
    <dgm:cxn modelId="{97E026C8-9072-4CEB-B000-0CA348646834}" srcId="{DCD8A436-7A66-4A37-A93A-9C00156094B8}" destId="{F38C3B51-BD7F-4F84-A5B8-AFC11B27E411}" srcOrd="0" destOrd="0" parTransId="{0603D930-AB94-4415-A910-299DB661D82B}" sibTransId="{26290ADF-9346-4981-B544-85A2ECF63C50}"/>
    <dgm:cxn modelId="{992D7ACA-4917-46AA-8ABF-7B096D48D04F}" srcId="{DCD8A436-7A66-4A37-A93A-9C00156094B8}" destId="{8F362C24-E2A3-4DAA-9231-A23D1FBE759D}" srcOrd="7" destOrd="0" parTransId="{C41F9AAA-AE8A-42A0-B04A-7B27669B9DA8}" sibTransId="{B30E3849-89D3-451C-86B2-BB316E06279C}"/>
    <dgm:cxn modelId="{14C49ADE-5226-443F-AAB9-C7DFCCDF3831}" type="presOf" srcId="{8F362C24-E2A3-4DAA-9231-A23D1FBE759D}" destId="{F3994CB8-9293-4578-9470-AD3FF4FB7159}" srcOrd="0" destOrd="0" presId="urn:microsoft.com/office/officeart/2005/8/layout/vList2"/>
    <dgm:cxn modelId="{78EE58F5-12BF-4ED7-A957-17E1D3091CA4}" type="presOf" srcId="{DC93352F-82CD-4DA9-B608-3E6B382908FC}" destId="{0A97E5AA-A96A-4C64-ABDC-E802AD5C548E}" srcOrd="0" destOrd="0" presId="urn:microsoft.com/office/officeart/2005/8/layout/vList2"/>
    <dgm:cxn modelId="{C60E307E-8514-4C90-B3F6-ECB97CB37303}" type="presParOf" srcId="{51595CE0-CA37-48E9-9BDA-4F8A8F937EA8}" destId="{DB08AAB0-EDF5-4FAE-9026-D4DA3BD22903}" srcOrd="0" destOrd="0" presId="urn:microsoft.com/office/officeart/2005/8/layout/vList2"/>
    <dgm:cxn modelId="{C6E75AAF-64BF-4B7D-982D-258039855420}" type="presParOf" srcId="{51595CE0-CA37-48E9-9BDA-4F8A8F937EA8}" destId="{648A28D9-AD54-48E6-908C-58B5EF4EA684}" srcOrd="1" destOrd="0" presId="urn:microsoft.com/office/officeart/2005/8/layout/vList2"/>
    <dgm:cxn modelId="{258D4E07-ED88-4915-9AF2-98E75B639676}" type="presParOf" srcId="{51595CE0-CA37-48E9-9BDA-4F8A8F937EA8}" destId="{7676C640-D083-4651-B633-FDC3E72B3D6E}" srcOrd="2" destOrd="0" presId="urn:microsoft.com/office/officeart/2005/8/layout/vList2"/>
    <dgm:cxn modelId="{3A44738B-16E1-4855-86DF-37DB83F6D4B3}" type="presParOf" srcId="{51595CE0-CA37-48E9-9BDA-4F8A8F937EA8}" destId="{DA34C4DD-E08F-4057-B161-DD9ED4BB6218}" srcOrd="3" destOrd="0" presId="urn:microsoft.com/office/officeart/2005/8/layout/vList2"/>
    <dgm:cxn modelId="{49B3FA9C-C2E6-48DD-A121-2ED0949238AB}" type="presParOf" srcId="{51595CE0-CA37-48E9-9BDA-4F8A8F937EA8}" destId="{37B2063A-3EFB-4D47-A5CA-78310CBF3BFF}" srcOrd="4" destOrd="0" presId="urn:microsoft.com/office/officeart/2005/8/layout/vList2"/>
    <dgm:cxn modelId="{B40EC723-59EC-4E9C-961A-7E897AB2A8D3}" type="presParOf" srcId="{51595CE0-CA37-48E9-9BDA-4F8A8F937EA8}" destId="{28F34FEF-C548-46D3-A0A5-C31D0F27E53F}" srcOrd="5" destOrd="0" presId="urn:microsoft.com/office/officeart/2005/8/layout/vList2"/>
    <dgm:cxn modelId="{5F8CE3DB-4DAD-4111-BDA7-154BCCF842F1}" type="presParOf" srcId="{51595CE0-CA37-48E9-9BDA-4F8A8F937EA8}" destId="{0A97E5AA-A96A-4C64-ABDC-E802AD5C548E}" srcOrd="6" destOrd="0" presId="urn:microsoft.com/office/officeart/2005/8/layout/vList2"/>
    <dgm:cxn modelId="{C2767755-0231-4D33-99E0-F0627730112F}" type="presParOf" srcId="{51595CE0-CA37-48E9-9BDA-4F8A8F937EA8}" destId="{FE19F58E-8279-4214-A4AC-DEC4A4DC7839}" srcOrd="7" destOrd="0" presId="urn:microsoft.com/office/officeart/2005/8/layout/vList2"/>
    <dgm:cxn modelId="{D1E3D176-90D1-41E2-ADAF-30F11A451695}" type="presParOf" srcId="{51595CE0-CA37-48E9-9BDA-4F8A8F937EA8}" destId="{EF47DE17-C3B4-49FC-82AD-64E3AB743219}" srcOrd="8" destOrd="0" presId="urn:microsoft.com/office/officeart/2005/8/layout/vList2"/>
    <dgm:cxn modelId="{2ECCD830-75F3-451A-85BE-19B39C881997}" type="presParOf" srcId="{51595CE0-CA37-48E9-9BDA-4F8A8F937EA8}" destId="{43810AA7-26AB-42AE-A97D-6202DC853745}" srcOrd="9" destOrd="0" presId="urn:microsoft.com/office/officeart/2005/8/layout/vList2"/>
    <dgm:cxn modelId="{510E92EA-3F64-4624-B1A7-8F30FA7F5563}" type="presParOf" srcId="{51595CE0-CA37-48E9-9BDA-4F8A8F937EA8}" destId="{DD138441-773D-41F1-BC4F-55BFB8ADFD97}" srcOrd="10" destOrd="0" presId="urn:microsoft.com/office/officeart/2005/8/layout/vList2"/>
    <dgm:cxn modelId="{CF5E0A4B-574D-4FCC-8844-309FCAAE3653}" type="presParOf" srcId="{51595CE0-CA37-48E9-9BDA-4F8A8F937EA8}" destId="{9EB7668F-0DF7-47BD-927E-575D03D08A4D}" srcOrd="11" destOrd="0" presId="urn:microsoft.com/office/officeart/2005/8/layout/vList2"/>
    <dgm:cxn modelId="{1EE5C968-35C3-4B0A-9D20-9E00FF646066}" type="presParOf" srcId="{51595CE0-CA37-48E9-9BDA-4F8A8F937EA8}" destId="{17E0DCBD-5007-4D57-AF22-3330C4FA02D1}" srcOrd="12" destOrd="0" presId="urn:microsoft.com/office/officeart/2005/8/layout/vList2"/>
    <dgm:cxn modelId="{4A0E2196-B519-445A-9951-6E058B3AE779}" type="presParOf" srcId="{51595CE0-CA37-48E9-9BDA-4F8A8F937EA8}" destId="{36E7A0E9-0799-49C4-9E5D-CBF415DD8673}" srcOrd="13" destOrd="0" presId="urn:microsoft.com/office/officeart/2005/8/layout/vList2"/>
    <dgm:cxn modelId="{97CD63E6-BD80-4EFB-B2A0-652CA8CB56D7}" type="presParOf" srcId="{51595CE0-CA37-48E9-9BDA-4F8A8F937EA8}" destId="{F3994CB8-9293-4578-9470-AD3FF4FB7159}" srcOrd="1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08AAB0-EDF5-4FAE-9026-D4DA3BD22903}">
      <dsp:nvSpPr>
        <dsp:cNvPr id="0" name=""/>
        <dsp:cNvSpPr/>
      </dsp:nvSpPr>
      <dsp:spPr>
        <a:xfrm>
          <a:off x="0" y="18786"/>
          <a:ext cx="6728905" cy="4914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0" i="0" kern="1200" dirty="0">
              <a:latin typeface="Seaford Display"/>
            </a:rPr>
            <a:t>Final Project</a:t>
          </a:r>
        </a:p>
      </dsp:txBody>
      <dsp:txXfrm>
        <a:off x="23988" y="42774"/>
        <a:ext cx="6680929" cy="443424"/>
      </dsp:txXfrm>
    </dsp:sp>
    <dsp:sp modelId="{7676C640-D083-4651-B633-FDC3E72B3D6E}">
      <dsp:nvSpPr>
        <dsp:cNvPr id="0" name=""/>
        <dsp:cNvSpPr/>
      </dsp:nvSpPr>
      <dsp:spPr>
        <a:xfrm>
          <a:off x="0" y="567786"/>
          <a:ext cx="6728905" cy="491400"/>
        </a:xfrm>
        <a:prstGeom prst="roundRect">
          <a:avLst/>
        </a:prstGeom>
        <a:solidFill>
          <a:schemeClr val="accent2">
            <a:hueOff val="213495"/>
            <a:satOff val="-46"/>
            <a:lumOff val="98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Grade Breakdown</a:t>
          </a:r>
          <a:endParaRPr lang="en-US" sz="2000" kern="1200" dirty="0"/>
        </a:p>
      </dsp:txBody>
      <dsp:txXfrm>
        <a:off x="23988" y="591774"/>
        <a:ext cx="6680929" cy="443424"/>
      </dsp:txXfrm>
    </dsp:sp>
    <dsp:sp modelId="{37B2063A-3EFB-4D47-A5CA-78310CBF3BFF}">
      <dsp:nvSpPr>
        <dsp:cNvPr id="0" name=""/>
        <dsp:cNvSpPr/>
      </dsp:nvSpPr>
      <dsp:spPr>
        <a:xfrm>
          <a:off x="0" y="1116786"/>
          <a:ext cx="6728905" cy="491400"/>
        </a:xfrm>
        <a:prstGeom prst="roundRect">
          <a:avLst/>
        </a:prstGeom>
        <a:solidFill>
          <a:schemeClr val="accent2">
            <a:hueOff val="426990"/>
            <a:satOff val="-93"/>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Proposal</a:t>
          </a:r>
          <a:endParaRPr lang="en-US" sz="2000" kern="1200" dirty="0"/>
        </a:p>
      </dsp:txBody>
      <dsp:txXfrm>
        <a:off x="23988" y="1140774"/>
        <a:ext cx="6680929" cy="443424"/>
      </dsp:txXfrm>
    </dsp:sp>
    <dsp:sp modelId="{0A97E5AA-A96A-4C64-ABDC-E802AD5C548E}">
      <dsp:nvSpPr>
        <dsp:cNvPr id="0" name=""/>
        <dsp:cNvSpPr/>
      </dsp:nvSpPr>
      <dsp:spPr>
        <a:xfrm>
          <a:off x="0" y="1665786"/>
          <a:ext cx="6728905" cy="491400"/>
        </a:xfrm>
        <a:prstGeom prst="roundRect">
          <a:avLst/>
        </a:prstGeom>
        <a:solidFill>
          <a:schemeClr val="accent2">
            <a:hueOff val="640485"/>
            <a:satOff val="-139"/>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Project Update 1</a:t>
          </a:r>
          <a:endParaRPr lang="en-US" sz="2000" kern="1200" dirty="0"/>
        </a:p>
      </dsp:txBody>
      <dsp:txXfrm>
        <a:off x="23988" y="1689774"/>
        <a:ext cx="6680929" cy="443424"/>
      </dsp:txXfrm>
    </dsp:sp>
    <dsp:sp modelId="{EF47DE17-C3B4-49FC-82AD-64E3AB743219}">
      <dsp:nvSpPr>
        <dsp:cNvPr id="0" name=""/>
        <dsp:cNvSpPr/>
      </dsp:nvSpPr>
      <dsp:spPr>
        <a:xfrm>
          <a:off x="0" y="2214786"/>
          <a:ext cx="6728905" cy="491400"/>
        </a:xfrm>
        <a:prstGeom prst="roundRect">
          <a:avLst/>
        </a:prstGeom>
        <a:solidFill>
          <a:schemeClr val="accent2">
            <a:hueOff val="853979"/>
            <a:satOff val="-186"/>
            <a:lumOff val="392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Project Update 2</a:t>
          </a:r>
          <a:endParaRPr lang="en-US" sz="2000" kern="1200" dirty="0"/>
        </a:p>
      </dsp:txBody>
      <dsp:txXfrm>
        <a:off x="23988" y="2238774"/>
        <a:ext cx="6680929" cy="443424"/>
      </dsp:txXfrm>
    </dsp:sp>
    <dsp:sp modelId="{DD138441-773D-41F1-BC4F-55BFB8ADFD97}">
      <dsp:nvSpPr>
        <dsp:cNvPr id="0" name=""/>
        <dsp:cNvSpPr/>
      </dsp:nvSpPr>
      <dsp:spPr>
        <a:xfrm>
          <a:off x="0" y="2763786"/>
          <a:ext cx="6728905" cy="491400"/>
        </a:xfrm>
        <a:prstGeom prst="roundRect">
          <a:avLst/>
        </a:prstGeom>
        <a:solidFill>
          <a:schemeClr val="accent2">
            <a:hueOff val="1067474"/>
            <a:satOff val="-232"/>
            <a:lumOff val="490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Final Paper</a:t>
          </a:r>
          <a:endParaRPr lang="en-US" sz="2000" kern="1200" dirty="0"/>
        </a:p>
      </dsp:txBody>
      <dsp:txXfrm>
        <a:off x="23988" y="2787774"/>
        <a:ext cx="6680929" cy="443424"/>
      </dsp:txXfrm>
    </dsp:sp>
    <dsp:sp modelId="{17E0DCBD-5007-4D57-AF22-3330C4FA02D1}">
      <dsp:nvSpPr>
        <dsp:cNvPr id="0" name=""/>
        <dsp:cNvSpPr/>
      </dsp:nvSpPr>
      <dsp:spPr>
        <a:xfrm>
          <a:off x="0" y="3312786"/>
          <a:ext cx="6728905" cy="491400"/>
        </a:xfrm>
        <a:prstGeom prst="roundRect">
          <a:avLst/>
        </a:prstGeom>
        <a:solidFill>
          <a:schemeClr val="accent2">
            <a:hueOff val="1280969"/>
            <a:satOff val="-279"/>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0" i="0" kern="1200" dirty="0"/>
            <a:t>Final Presentation</a:t>
          </a:r>
          <a:endParaRPr lang="en-US" sz="2000" kern="1200" dirty="0"/>
        </a:p>
      </dsp:txBody>
      <dsp:txXfrm>
        <a:off x="23988" y="3336774"/>
        <a:ext cx="6680929" cy="443424"/>
      </dsp:txXfrm>
    </dsp:sp>
    <dsp:sp modelId="{F3994CB8-9293-4578-9470-AD3FF4FB7159}">
      <dsp:nvSpPr>
        <dsp:cNvPr id="0" name=""/>
        <dsp:cNvSpPr/>
      </dsp:nvSpPr>
      <dsp:spPr>
        <a:xfrm>
          <a:off x="0" y="3861786"/>
          <a:ext cx="6728905" cy="491400"/>
        </a:xfrm>
        <a:prstGeom prst="roundRect">
          <a:avLst/>
        </a:prstGeom>
        <a:solidFill>
          <a:schemeClr val="accent2">
            <a:hueOff val="1494464"/>
            <a:satOff val="-325"/>
            <a:lumOff val="686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dirty="0">
              <a:latin typeface="Seaford Display"/>
            </a:rPr>
            <a:t>Other details</a:t>
          </a:r>
        </a:p>
      </dsp:txBody>
      <dsp:txXfrm>
        <a:off x="23988" y="3885774"/>
        <a:ext cx="6680929" cy="4434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1D227D51-204B-ED48-AF9A-0BE9633FE04A}"/>
              </a:ext>
            </a:extLst>
          </p:cNvPr>
          <p:cNvSpPr/>
          <p:nvPr/>
        </p:nvSpPr>
        <p:spPr>
          <a:xfrm>
            <a:off x="5224243" y="1096772"/>
            <a:ext cx="6503180"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57A23F45-CDAE-8A40-8DE7-92A0BBC119B7}"/>
              </a:ext>
            </a:extLst>
          </p:cNvPr>
          <p:cNvSpPr/>
          <p:nvPr/>
        </p:nvSpPr>
        <p:spPr>
          <a:xfrm>
            <a:off x="501681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68546383-CCC4-544B-B0D8-DE78DE39BB78}"/>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5D1728-714F-2942-A0D1-82FF9419B496}"/>
              </a:ext>
            </a:extLst>
          </p:cNvPr>
          <p:cNvSpPr>
            <a:spLocks noGrp="1"/>
          </p:cNvSpPr>
          <p:nvPr>
            <p:ph type="ctrTitle"/>
          </p:nvPr>
        </p:nvSpPr>
        <p:spPr>
          <a:xfrm>
            <a:off x="797106" y="1625608"/>
            <a:ext cx="8035342" cy="2722164"/>
          </a:xfrm>
        </p:spPr>
        <p:txBody>
          <a:bodyPr anchor="b"/>
          <a:lstStyle>
            <a:lvl1pPr algn="l">
              <a:defRPr sz="8000" spc="-150"/>
            </a:lvl1pPr>
          </a:lstStyle>
          <a:p>
            <a:r>
              <a:rPr lang="en-US"/>
              <a:t>Click to edit Master title style</a:t>
            </a:r>
          </a:p>
        </p:txBody>
      </p:sp>
      <p:sp>
        <p:nvSpPr>
          <p:cNvPr id="3" name="Subtitle 2">
            <a:extLst>
              <a:ext uri="{FF2B5EF4-FFF2-40B4-BE49-F238E27FC236}">
                <a16:creationId xmlns:a16="http://schemas.microsoft.com/office/drawing/2014/main" id="{5BD072D4-1496-3347-BBF8-5879DF263BBD}"/>
              </a:ext>
            </a:extLst>
          </p:cNvPr>
          <p:cNvSpPr>
            <a:spLocks noGrp="1"/>
          </p:cNvSpPr>
          <p:nvPr>
            <p:ph type="subTitle" idx="1"/>
          </p:nvPr>
        </p:nvSpPr>
        <p:spPr>
          <a:xfrm>
            <a:off x="797106" y="4466845"/>
            <a:ext cx="8035342" cy="88290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EFC724-B499-364B-AEB5-B6517F6AD52B}"/>
              </a:ext>
            </a:extLst>
          </p:cNvPr>
          <p:cNvSpPr>
            <a:spLocks noGrp="1"/>
          </p:cNvSpPr>
          <p:nvPr>
            <p:ph type="dt" sz="half" idx="10"/>
          </p:nvPr>
        </p:nvSpPr>
        <p:spPr>
          <a:xfrm>
            <a:off x="797105" y="5708747"/>
            <a:ext cx="3882843" cy="365125"/>
          </a:xfrm>
        </p:spPr>
        <p:txBody>
          <a:bodyPr/>
          <a:lstStyle>
            <a:lvl1pPr>
              <a:defRPr sz="1400"/>
            </a:lvl1pPr>
          </a:lstStyle>
          <a:p>
            <a:fld id="{73C3BD54-29B9-3D42-B178-776ED395AA85}" type="datetimeFigureOut">
              <a:rPr lang="en-US" smtClean="0"/>
              <a:pPr/>
              <a:t>9/19/2025</a:t>
            </a:fld>
            <a:endParaRPr lang="en-US" sz="1400"/>
          </a:p>
        </p:txBody>
      </p:sp>
      <p:sp>
        <p:nvSpPr>
          <p:cNvPr id="5" name="Footer Placeholder 4">
            <a:extLst>
              <a:ext uri="{FF2B5EF4-FFF2-40B4-BE49-F238E27FC236}">
                <a16:creationId xmlns:a16="http://schemas.microsoft.com/office/drawing/2014/main" id="{8033889C-A4E9-B24E-818F-46A1124C5D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40F50F-250E-6D45-AEBC-2573FED0C310}"/>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3075779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9F291BE0-7A7E-D04F-974F-9F4577FB2F46}"/>
              </a:ext>
            </a:extLst>
          </p:cNvPr>
          <p:cNvSpPr/>
          <p:nvPr/>
        </p:nvSpPr>
        <p:spPr>
          <a:xfrm>
            <a:off x="6163735" y="1096772"/>
            <a:ext cx="557106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BD33FF1F-6094-0B4A-A3E4-6B0D9283DB44}"/>
              </a:ext>
            </a:extLst>
          </p:cNvPr>
          <p:cNvSpPr/>
          <p:nvPr/>
        </p:nvSpPr>
        <p:spPr>
          <a:xfrm>
            <a:off x="11529484"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B78A6D9C-C7A5-414B-8CB7-E31470D7D280}"/>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1D850E-6310-C04D-8CAC-B7FA9F332D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5B7FB3-5DFC-6547-9567-C0ABE874C6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27D2DB-A7B1-204E-8416-E938952BCC83}"/>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5" name="Footer Placeholder 4">
            <a:extLst>
              <a:ext uri="{FF2B5EF4-FFF2-40B4-BE49-F238E27FC236}">
                <a16:creationId xmlns:a16="http://schemas.microsoft.com/office/drawing/2014/main" id="{FD324BA1-E2D0-1E4B-9DB3-664FE27337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AE64B2-36E4-5A4E-A78A-A629829A334F}"/>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2429143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9" name="Rectangle 48">
            <a:extLst>
              <a:ext uri="{FF2B5EF4-FFF2-40B4-BE49-F238E27FC236}">
                <a16:creationId xmlns:a16="http://schemas.microsoft.com/office/drawing/2014/main" id="{C97F6C6D-13AE-FD40-841C-4AB96460C390}"/>
              </a:ext>
            </a:extLst>
          </p:cNvPr>
          <p:cNvSpPr/>
          <p:nvPr/>
        </p:nvSpPr>
        <p:spPr>
          <a:xfrm>
            <a:off x="4291015" y="1096772"/>
            <a:ext cx="7436404"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Cross 49">
            <a:extLst>
              <a:ext uri="{FF2B5EF4-FFF2-40B4-BE49-F238E27FC236}">
                <a16:creationId xmlns:a16="http://schemas.microsoft.com/office/drawing/2014/main" id="{24E27617-2112-2342-9FF1-39F2A241CCCC}"/>
              </a:ext>
            </a:extLst>
          </p:cNvPr>
          <p:cNvSpPr/>
          <p:nvPr/>
        </p:nvSpPr>
        <p:spPr>
          <a:xfrm>
            <a:off x="408637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C33CE582-7AFE-D048-B5BC-212A12A28F25}"/>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9EAEF4-E84F-CF40-B27B-01E1D2AFC96D}"/>
              </a:ext>
            </a:extLst>
          </p:cNvPr>
          <p:cNvSpPr>
            <a:spLocks noGrp="1"/>
          </p:cNvSpPr>
          <p:nvPr>
            <p:ph type="title"/>
          </p:nvPr>
        </p:nvSpPr>
        <p:spPr>
          <a:xfrm>
            <a:off x="565150" y="1881951"/>
            <a:ext cx="7335836" cy="1987707"/>
          </a:xfrm>
        </p:spPr>
        <p:txBody>
          <a:bodyPr anchor="b"/>
          <a:lstStyle>
            <a:lvl1pPr>
              <a:defRPr sz="6000" spc="-150"/>
            </a:lvl1pPr>
          </a:lstStyle>
          <a:p>
            <a:r>
              <a:rPr lang="en-US" dirty="0"/>
              <a:t>Click to edit Master title style</a:t>
            </a:r>
          </a:p>
        </p:txBody>
      </p:sp>
      <p:sp>
        <p:nvSpPr>
          <p:cNvPr id="3" name="Text Placeholder 2">
            <a:extLst>
              <a:ext uri="{FF2B5EF4-FFF2-40B4-BE49-F238E27FC236}">
                <a16:creationId xmlns:a16="http://schemas.microsoft.com/office/drawing/2014/main" id="{5287B7E1-CC48-2441-975D-F1A5412B8A49}"/>
              </a:ext>
            </a:extLst>
          </p:cNvPr>
          <p:cNvSpPr>
            <a:spLocks noGrp="1"/>
          </p:cNvSpPr>
          <p:nvPr>
            <p:ph type="body" idx="1"/>
          </p:nvPr>
        </p:nvSpPr>
        <p:spPr>
          <a:xfrm>
            <a:off x="565149" y="3869661"/>
            <a:ext cx="7335836" cy="948465"/>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526218-1FCF-7A4D-B138-D1B1DE91A4B7}"/>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5" name="Footer Placeholder 4">
            <a:extLst>
              <a:ext uri="{FF2B5EF4-FFF2-40B4-BE49-F238E27FC236}">
                <a16:creationId xmlns:a16="http://schemas.microsoft.com/office/drawing/2014/main" id="{50984204-038C-FD4B-8E1C-0A9967BF2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59AB9-E1C6-C841-B423-FD2BB13C333F}"/>
              </a:ext>
            </a:extLst>
          </p:cNvPr>
          <p:cNvSpPr>
            <a:spLocks noGrp="1"/>
          </p:cNvSpPr>
          <p:nvPr>
            <p:ph type="sldNum" sz="quarter" idx="12"/>
          </p:nvPr>
        </p:nvSpPr>
        <p:spPr/>
        <p:txBody>
          <a:bodyPr/>
          <a:lstStyle/>
          <a:p>
            <a:fld id="{86BB3423-611C-6944-BA94-F2572F362413}" type="slidenum">
              <a:rPr lang="en-US" smtClean="0"/>
              <a:t>‹#›</a:t>
            </a:fld>
            <a:endParaRPr lang="en-US"/>
          </a:p>
        </p:txBody>
      </p:sp>
    </p:spTree>
    <p:extLst>
      <p:ext uri="{BB962C8B-B14F-4D97-AF65-F5344CB8AC3E}">
        <p14:creationId xmlns:p14="http://schemas.microsoft.com/office/powerpoint/2010/main" val="3771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B057A-C120-5E4E-BB74-223EB6D005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9EB7BE-6258-C84C-8242-9865D1361C9E}"/>
              </a:ext>
            </a:extLst>
          </p:cNvPr>
          <p:cNvSpPr>
            <a:spLocks noGrp="1"/>
          </p:cNvSpPr>
          <p:nvPr>
            <p:ph sz="half" idx="1"/>
          </p:nvPr>
        </p:nvSpPr>
        <p:spPr>
          <a:xfrm>
            <a:off x="565111" y="2691637"/>
            <a:ext cx="4946643" cy="3189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3D23CD-80DB-5740-AE68-76414CA31A26}"/>
              </a:ext>
            </a:extLst>
          </p:cNvPr>
          <p:cNvSpPr>
            <a:spLocks noGrp="1"/>
          </p:cNvSpPr>
          <p:nvPr>
            <p:ph sz="half" idx="2"/>
          </p:nvPr>
        </p:nvSpPr>
        <p:spPr>
          <a:xfrm>
            <a:off x="6076903" y="2691637"/>
            <a:ext cx="4946639" cy="31897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FE0921-9102-1440-B315-778888723C9D}"/>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6" name="Footer Placeholder 5">
            <a:extLst>
              <a:ext uri="{FF2B5EF4-FFF2-40B4-BE49-F238E27FC236}">
                <a16:creationId xmlns:a16="http://schemas.microsoft.com/office/drawing/2014/main" id="{24D7802F-1937-2F43-8FF4-846135D6FC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609C72-E794-4F4F-8E09-D4883EED723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0" name="Rectangle 49">
            <a:extLst>
              <a:ext uri="{FF2B5EF4-FFF2-40B4-BE49-F238E27FC236}">
                <a16:creationId xmlns:a16="http://schemas.microsoft.com/office/drawing/2014/main" id="{FFEFA3E2-0F30-664C-AAE4-DE6526B5C716}"/>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55" name="Rectangle 54">
            <a:extLst>
              <a:ext uri="{FF2B5EF4-FFF2-40B4-BE49-F238E27FC236}">
                <a16:creationId xmlns:a16="http://schemas.microsoft.com/office/drawing/2014/main" id="{0C3D7AFF-BC7E-BA41-9C64-B5F9619C0EA1}"/>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671D2311-E9B8-F041-A7B8-D5696903F22A}"/>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4552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9CA91-F119-0244-888A-95539A84DD6F}"/>
              </a:ext>
            </a:extLst>
          </p:cNvPr>
          <p:cNvSpPr>
            <a:spLocks noGrp="1"/>
          </p:cNvSpPr>
          <p:nvPr>
            <p:ph type="title"/>
          </p:nvPr>
        </p:nvSpPr>
        <p:spPr>
          <a:xfrm>
            <a:off x="565110" y="1204721"/>
            <a:ext cx="8266175" cy="14447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08A3EAC-4422-D548-8D7F-E9944566FBA9}"/>
              </a:ext>
            </a:extLst>
          </p:cNvPr>
          <p:cNvSpPr>
            <a:spLocks noGrp="1"/>
          </p:cNvSpPr>
          <p:nvPr>
            <p:ph type="body" idx="1"/>
          </p:nvPr>
        </p:nvSpPr>
        <p:spPr>
          <a:xfrm>
            <a:off x="565111" y="2691638"/>
            <a:ext cx="4946644" cy="823912"/>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9140CA2-88A9-CC42-A375-8B87E47CC5F9}"/>
              </a:ext>
            </a:extLst>
          </p:cNvPr>
          <p:cNvSpPr>
            <a:spLocks noGrp="1"/>
          </p:cNvSpPr>
          <p:nvPr>
            <p:ph sz="half" idx="2"/>
          </p:nvPr>
        </p:nvSpPr>
        <p:spPr>
          <a:xfrm>
            <a:off x="565111" y="3515550"/>
            <a:ext cx="4946644" cy="2366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5F960C-714E-2E4A-8141-A88F38274E48}"/>
              </a:ext>
            </a:extLst>
          </p:cNvPr>
          <p:cNvSpPr>
            <a:spLocks noGrp="1"/>
          </p:cNvSpPr>
          <p:nvPr>
            <p:ph type="body" sz="quarter" idx="3"/>
          </p:nvPr>
        </p:nvSpPr>
        <p:spPr>
          <a:xfrm>
            <a:off x="6076866" y="2691162"/>
            <a:ext cx="4946644" cy="823912"/>
          </a:xfrm>
        </p:spPr>
        <p:txBody>
          <a:bodyPr anchor="b"/>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97BC24-C907-EC4B-872D-17429A657716}"/>
              </a:ext>
            </a:extLst>
          </p:cNvPr>
          <p:cNvSpPr>
            <a:spLocks noGrp="1"/>
          </p:cNvSpPr>
          <p:nvPr>
            <p:ph sz="quarter" idx="4"/>
          </p:nvPr>
        </p:nvSpPr>
        <p:spPr>
          <a:xfrm>
            <a:off x="6076866" y="3515074"/>
            <a:ext cx="4946644" cy="2366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E2A045-4283-3C47-B125-68CF3B19FB08}"/>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8" name="Footer Placeholder 7">
            <a:extLst>
              <a:ext uri="{FF2B5EF4-FFF2-40B4-BE49-F238E27FC236}">
                <a16:creationId xmlns:a16="http://schemas.microsoft.com/office/drawing/2014/main" id="{7EBC25BC-2C98-574D-BCCD-E36CAB07F2F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A5C95A-7789-E042-8471-D442D9BB545F}"/>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2" name="Rectangle 51">
            <a:extLst>
              <a:ext uri="{FF2B5EF4-FFF2-40B4-BE49-F238E27FC236}">
                <a16:creationId xmlns:a16="http://schemas.microsoft.com/office/drawing/2014/main" id="{3DF1BA5B-EDD8-B648-8A3E-E2B3570B1EA0}"/>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57" name="Rectangle 56">
            <a:extLst>
              <a:ext uri="{FF2B5EF4-FFF2-40B4-BE49-F238E27FC236}">
                <a16:creationId xmlns:a16="http://schemas.microsoft.com/office/drawing/2014/main" id="{D7476360-629C-DE48-85B7-F4BE6CC457DB}"/>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ross 13">
            <a:extLst>
              <a:ext uri="{FF2B5EF4-FFF2-40B4-BE49-F238E27FC236}">
                <a16:creationId xmlns:a16="http://schemas.microsoft.com/office/drawing/2014/main" id="{C5F6C588-FC1B-3147-AFA1-CD7D76C5AEAC}"/>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4705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15401-5318-7045-8AE3-B1A99F2D82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E2F55F-EB76-AE49-B554-12B65B636A90}"/>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4" name="Footer Placeholder 3">
            <a:extLst>
              <a:ext uri="{FF2B5EF4-FFF2-40B4-BE49-F238E27FC236}">
                <a16:creationId xmlns:a16="http://schemas.microsoft.com/office/drawing/2014/main" id="{86CB6E6E-D81E-C44A-AC54-CBE0134C10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E025B9-9F46-3049-9977-0119B96D393C}"/>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8" name="Rectangle 47">
            <a:extLst>
              <a:ext uri="{FF2B5EF4-FFF2-40B4-BE49-F238E27FC236}">
                <a16:creationId xmlns:a16="http://schemas.microsoft.com/office/drawing/2014/main" id="{65760068-EADA-2B4B-9819-CF981184FAEB}"/>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81DA7622-137E-184A-A93C-8DBB10318AE6}"/>
              </a:ext>
            </a:extLst>
          </p:cNvPr>
          <p:cNvSpPr/>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9" name="Cross 8">
            <a:extLst>
              <a:ext uri="{FF2B5EF4-FFF2-40B4-BE49-F238E27FC236}">
                <a16:creationId xmlns:a16="http://schemas.microsoft.com/office/drawing/2014/main" id="{54FB0990-6F8D-B048-8309-19B0D1A41033}"/>
              </a:ext>
            </a:extLst>
          </p:cNvPr>
          <p:cNvSpPr/>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1058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AF81DD-2B1F-3444-8023-DD52318FE9F6}"/>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3" name="Footer Placeholder 2">
            <a:extLst>
              <a:ext uri="{FF2B5EF4-FFF2-40B4-BE49-F238E27FC236}">
                <a16:creationId xmlns:a16="http://schemas.microsoft.com/office/drawing/2014/main" id="{36927EE3-DAA3-D948-B8FD-48417540B5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4532D4-FFBF-6C47-A6C9-D55196D91B8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7" name="Rectangle 46">
            <a:extLst>
              <a:ext uri="{FF2B5EF4-FFF2-40B4-BE49-F238E27FC236}">
                <a16:creationId xmlns:a16="http://schemas.microsoft.com/office/drawing/2014/main" id="{DB8D5541-7726-BA46-8BFA-BF6AA8D42BD7}"/>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ross 47">
            <a:extLst>
              <a:ext uri="{FF2B5EF4-FFF2-40B4-BE49-F238E27FC236}">
                <a16:creationId xmlns:a16="http://schemas.microsoft.com/office/drawing/2014/main" id="{97F434CF-7503-CE4F-8426-C312C6315AD0}"/>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FEDBFB2F-FE34-E349-9484-C275FBE31614}"/>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8176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92DCFD-BEE6-AC49-BABD-D8B89C3B69D0}"/>
              </a:ext>
            </a:extLst>
          </p:cNvPr>
          <p:cNvSpPr>
            <a:spLocks noGrp="1"/>
          </p:cNvSpPr>
          <p:nvPr>
            <p:ph type="title"/>
          </p:nvPr>
        </p:nvSpPr>
        <p:spPr>
          <a:xfrm>
            <a:off x="565149" y="1203800"/>
            <a:ext cx="4114800" cy="1077218"/>
          </a:xfrm>
        </p:spPr>
        <p:txBody>
          <a:bodyPr anchor="b">
            <a:normAutofit/>
          </a:bodyPr>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431DE035-8260-4443-B1D9-A9C8D584039E}"/>
              </a:ext>
            </a:extLst>
          </p:cNvPr>
          <p:cNvSpPr>
            <a:spLocks noGrp="1"/>
          </p:cNvSpPr>
          <p:nvPr>
            <p:ph idx="1"/>
          </p:nvPr>
        </p:nvSpPr>
        <p:spPr>
          <a:xfrm>
            <a:off x="5611813" y="1508252"/>
            <a:ext cx="5606518" cy="4045881"/>
          </a:xfrm>
        </p:spPr>
        <p:txBody>
          <a:bodyPr/>
          <a:lstStyle>
            <a:lvl1pPr>
              <a:defRPr sz="2800"/>
            </a:lvl1pPr>
            <a:lvl2pPr>
              <a:defRPr sz="24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CCC1AA53-7507-D04B-9B8E-6A4F7122ECA5}"/>
              </a:ext>
            </a:extLst>
          </p:cNvPr>
          <p:cNvSpPr>
            <a:spLocks noGrp="1"/>
          </p:cNvSpPr>
          <p:nvPr>
            <p:ph type="body" sz="half" idx="2"/>
          </p:nvPr>
        </p:nvSpPr>
        <p:spPr>
          <a:xfrm>
            <a:off x="565149" y="2368295"/>
            <a:ext cx="4114800" cy="318583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56E11F-3003-0745-ACAB-FAA4E676EFCD}"/>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6" name="Footer Placeholder 5">
            <a:extLst>
              <a:ext uri="{FF2B5EF4-FFF2-40B4-BE49-F238E27FC236}">
                <a16:creationId xmlns:a16="http://schemas.microsoft.com/office/drawing/2014/main" id="{92BC11A6-59AC-FE45-8A1C-9DDC00582A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D6F51E-1A94-034C-BBEE-C26A3AF0E815}"/>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0" name="Rectangle 49">
            <a:extLst>
              <a:ext uri="{FF2B5EF4-FFF2-40B4-BE49-F238E27FC236}">
                <a16:creationId xmlns:a16="http://schemas.microsoft.com/office/drawing/2014/main" id="{50B7D330-76C0-224C-9C3C-27C4D2B0DDB4}"/>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35464D55-5C51-844B-A38A-8143590FB934}"/>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FD988250-C554-DE44-B887-57D0B2AA8E37}"/>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7025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86C7C-36AD-9A4E-8524-8F44E8839EA8}"/>
              </a:ext>
            </a:extLst>
          </p:cNvPr>
          <p:cNvSpPr>
            <a:spLocks noGrp="1"/>
          </p:cNvSpPr>
          <p:nvPr>
            <p:ph type="title"/>
          </p:nvPr>
        </p:nvSpPr>
        <p:spPr>
          <a:xfrm>
            <a:off x="565149" y="1203800"/>
            <a:ext cx="4114800" cy="1077218"/>
          </a:xfrm>
        </p:spPr>
        <p:txBody>
          <a:bodyPr anchor="b">
            <a:normAutofit/>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015248-4C80-3348-A8A9-6C9F5D32FCE3}"/>
              </a:ext>
            </a:extLst>
          </p:cNvPr>
          <p:cNvSpPr>
            <a:spLocks noGrp="1"/>
          </p:cNvSpPr>
          <p:nvPr>
            <p:ph type="pic" idx="1"/>
          </p:nvPr>
        </p:nvSpPr>
        <p:spPr>
          <a:xfrm>
            <a:off x="5631151" y="1096772"/>
            <a:ext cx="6096270" cy="5761228"/>
          </a:xfrm>
          <a:solidFill>
            <a:schemeClr val="bg2"/>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B3083-CA16-C54A-B130-7BEE6DF9D815}"/>
              </a:ext>
            </a:extLst>
          </p:cNvPr>
          <p:cNvSpPr>
            <a:spLocks noGrp="1"/>
          </p:cNvSpPr>
          <p:nvPr>
            <p:ph type="body" sz="half" idx="2"/>
          </p:nvPr>
        </p:nvSpPr>
        <p:spPr>
          <a:xfrm>
            <a:off x="565149" y="2370666"/>
            <a:ext cx="4114800" cy="318346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3C6EB5-D7D1-E247-B9D7-D319E5AAB962}"/>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6" name="Footer Placeholder 5">
            <a:extLst>
              <a:ext uri="{FF2B5EF4-FFF2-40B4-BE49-F238E27FC236}">
                <a16:creationId xmlns:a16="http://schemas.microsoft.com/office/drawing/2014/main" id="{75FBF6CC-F5C4-9847-BADB-8B7441C8F3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763FE4-B2F5-7741-B517-533F1C98CE1B}"/>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4" name="Rectangle 53">
            <a:extLst>
              <a:ext uri="{FF2B5EF4-FFF2-40B4-BE49-F238E27FC236}">
                <a16:creationId xmlns:a16="http://schemas.microsoft.com/office/drawing/2014/main" id="{AB80A771-7D8E-0F4A-93A3-B977667D338E}"/>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2C9320FA-0E3A-2749-9085-DF30FA26F4BD}"/>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ross 10">
            <a:extLst>
              <a:ext uri="{FF2B5EF4-FFF2-40B4-BE49-F238E27FC236}">
                <a16:creationId xmlns:a16="http://schemas.microsoft.com/office/drawing/2014/main" id="{5A3DF5D0-8A2C-A049-9132-EE1EF7D014D4}"/>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3977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50" name="Rectangle 49">
            <a:extLst>
              <a:ext uri="{FF2B5EF4-FFF2-40B4-BE49-F238E27FC236}">
                <a16:creationId xmlns:a16="http://schemas.microsoft.com/office/drawing/2014/main" id="{9F6C0E12-251D-EA44-BF81-4ABDFBB94321}"/>
              </a:ext>
            </a:extLst>
          </p:cNvPr>
          <p:cNvSpPr/>
          <p:nvPr/>
        </p:nvSpPr>
        <p:spPr>
          <a:xfrm>
            <a:off x="7087169" y="1096772"/>
            <a:ext cx="4652226"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DC5FF4-095A-114E-87B6-73C7ADFF97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1E6EC9-9650-2042-8581-5B4082F941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4A0800-B373-3B40-B187-30AFE44CDD1D}"/>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5" name="Footer Placeholder 4">
            <a:extLst>
              <a:ext uri="{FF2B5EF4-FFF2-40B4-BE49-F238E27FC236}">
                <a16:creationId xmlns:a16="http://schemas.microsoft.com/office/drawing/2014/main" id="{C10A4C1C-C790-B449-8C06-78E8303F94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3E620-F86B-F447-AB06-DDAB39192507}"/>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49" name="Rectangle 48">
            <a:extLst>
              <a:ext uri="{FF2B5EF4-FFF2-40B4-BE49-F238E27FC236}">
                <a16:creationId xmlns:a16="http://schemas.microsoft.com/office/drawing/2014/main" id="{80487CB5-43E0-974C-9DDC-252A8A37107F}"/>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ross 9">
            <a:extLst>
              <a:ext uri="{FF2B5EF4-FFF2-40B4-BE49-F238E27FC236}">
                <a16:creationId xmlns:a16="http://schemas.microsoft.com/office/drawing/2014/main" id="{E9CB83EF-4143-5A45-9B3A-9E70DD50253B}"/>
              </a:ext>
            </a:extLst>
          </p:cNvPr>
          <p:cNvSpPr/>
          <p:nvPr/>
        </p:nvSpPr>
        <p:spPr>
          <a:xfrm>
            <a:off x="11415183"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66641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9DF801-FF8E-6247-9065-D9304CD6093A}"/>
              </a:ext>
            </a:extLst>
          </p:cNvPr>
          <p:cNvSpPr>
            <a:spLocks noGrp="1"/>
          </p:cNvSpPr>
          <p:nvPr>
            <p:ph type="title" orient="vert"/>
          </p:nvPr>
        </p:nvSpPr>
        <p:spPr>
          <a:xfrm>
            <a:off x="9355667" y="1204722"/>
            <a:ext cx="1853360" cy="467664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20E2615-7E4D-AB47-ACE6-236D716D7D24}"/>
              </a:ext>
            </a:extLst>
          </p:cNvPr>
          <p:cNvSpPr>
            <a:spLocks noGrp="1"/>
          </p:cNvSpPr>
          <p:nvPr>
            <p:ph type="body" orient="vert" idx="1"/>
          </p:nvPr>
        </p:nvSpPr>
        <p:spPr>
          <a:xfrm>
            <a:off x="973667" y="1204722"/>
            <a:ext cx="8274047" cy="46969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1F0223-5AC9-374E-BD0C-344F67E2A85B}"/>
              </a:ext>
            </a:extLst>
          </p:cNvPr>
          <p:cNvSpPr>
            <a:spLocks noGrp="1"/>
          </p:cNvSpPr>
          <p:nvPr>
            <p:ph type="dt" sz="half" idx="10"/>
          </p:nvPr>
        </p:nvSpPr>
        <p:spPr/>
        <p:txBody>
          <a:bodyPr/>
          <a:lstStyle/>
          <a:p>
            <a:fld id="{73C3BD54-29B9-3D42-B178-776ED395AA85}" type="datetimeFigureOut">
              <a:rPr lang="en-US" smtClean="0"/>
              <a:t>9/19/2025</a:t>
            </a:fld>
            <a:endParaRPr lang="en-US"/>
          </a:p>
        </p:txBody>
      </p:sp>
      <p:sp>
        <p:nvSpPr>
          <p:cNvPr id="5" name="Footer Placeholder 4">
            <a:extLst>
              <a:ext uri="{FF2B5EF4-FFF2-40B4-BE49-F238E27FC236}">
                <a16:creationId xmlns:a16="http://schemas.microsoft.com/office/drawing/2014/main" id="{3EBEDD42-54A1-E648-8829-140EC4C57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8FDF8F-8DBC-8A47-8000-5BA35DF9F903}"/>
              </a:ext>
            </a:extLst>
          </p:cNvPr>
          <p:cNvSpPr>
            <a:spLocks noGrp="1"/>
          </p:cNvSpPr>
          <p:nvPr>
            <p:ph type="sldNum" sz="quarter" idx="12"/>
          </p:nvPr>
        </p:nvSpPr>
        <p:spPr/>
        <p:txBody>
          <a:bodyPr/>
          <a:lstStyle/>
          <a:p>
            <a:fld id="{86BB3423-611C-6944-BA94-F2572F362413}" type="slidenum">
              <a:rPr lang="en-US" smtClean="0"/>
              <a:t>‹#›</a:t>
            </a:fld>
            <a:endParaRPr lang="en-US"/>
          </a:p>
        </p:txBody>
      </p:sp>
      <p:sp>
        <p:nvSpPr>
          <p:cNvPr id="51" name="Rectangle 50">
            <a:extLst>
              <a:ext uri="{FF2B5EF4-FFF2-40B4-BE49-F238E27FC236}">
                <a16:creationId xmlns:a16="http://schemas.microsoft.com/office/drawing/2014/main" id="{F2CE2A98-5154-A544-BE2A-FDC0811C19A0}"/>
              </a:ext>
            </a:extLst>
          </p:cNvPr>
          <p:cNvSpPr/>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DC4EC832-8181-5643-8A62-117E43F0E498}"/>
              </a:ext>
            </a:extLst>
          </p:cNvPr>
          <p:cNvSpPr/>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ross 9">
            <a:extLst>
              <a:ext uri="{FF2B5EF4-FFF2-40B4-BE49-F238E27FC236}">
                <a16:creationId xmlns:a16="http://schemas.microsoft.com/office/drawing/2014/main" id="{24AF3281-BC22-374D-A461-8B3181F600AA}"/>
              </a:ext>
            </a:extLst>
          </p:cNvPr>
          <p:cNvSpPr/>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31266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952BFD-D607-6845-9C7B-1C8D3B4EE760}"/>
              </a:ext>
            </a:extLst>
          </p:cNvPr>
          <p:cNvSpPr>
            <a:spLocks noGrp="1"/>
          </p:cNvSpPr>
          <p:nvPr>
            <p:ph type="title"/>
          </p:nvPr>
        </p:nvSpPr>
        <p:spPr>
          <a:xfrm>
            <a:off x="565149" y="1204721"/>
            <a:ext cx="8267296" cy="144655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EBB52FF-3B04-8245-BF0B-89C9E293362A}"/>
              </a:ext>
            </a:extLst>
          </p:cNvPr>
          <p:cNvSpPr>
            <a:spLocks noGrp="1"/>
          </p:cNvSpPr>
          <p:nvPr>
            <p:ph type="body" idx="1"/>
          </p:nvPr>
        </p:nvSpPr>
        <p:spPr>
          <a:xfrm>
            <a:off x="565150" y="2691638"/>
            <a:ext cx="8267296" cy="318858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DA99BFE-CBDD-C344-A21E-44A52F11B662}"/>
              </a:ext>
            </a:extLst>
          </p:cNvPr>
          <p:cNvSpPr>
            <a:spLocks noGrp="1"/>
          </p:cNvSpPr>
          <p:nvPr>
            <p:ph type="dt" sz="half" idx="2"/>
          </p:nvPr>
        </p:nvSpPr>
        <p:spPr>
          <a:xfrm>
            <a:off x="565149" y="5949696"/>
            <a:ext cx="4114800" cy="365125"/>
          </a:xfrm>
          <a:prstGeom prst="rect">
            <a:avLst/>
          </a:prstGeom>
        </p:spPr>
        <p:txBody>
          <a:bodyPr vert="horz" lIns="91440" tIns="45720" rIns="91440" bIns="45720" rtlCol="0" anchor="ctr" anchorCtr="0"/>
          <a:lstStyle>
            <a:lvl1pPr algn="l">
              <a:defRPr lang="en-US" sz="1050" smtClean="0">
                <a:latin typeface="+mn-lt"/>
              </a:defRPr>
            </a:lvl1pPr>
          </a:lstStyle>
          <a:p>
            <a:fld id="{73C3BD54-29B9-3D42-B178-776ED395AA85}" type="datetimeFigureOut">
              <a:rPr lang="en-US" smtClean="0"/>
              <a:pPr/>
              <a:t>9/19/2025</a:t>
            </a:fld>
            <a:endParaRPr lang="en-US" dirty="0"/>
          </a:p>
        </p:txBody>
      </p:sp>
      <p:sp>
        <p:nvSpPr>
          <p:cNvPr id="5" name="Footer Placeholder 4">
            <a:extLst>
              <a:ext uri="{FF2B5EF4-FFF2-40B4-BE49-F238E27FC236}">
                <a16:creationId xmlns:a16="http://schemas.microsoft.com/office/drawing/2014/main" id="{BDC371C0-3DCE-0743-946F-C7540DD7895F}"/>
              </a:ext>
            </a:extLst>
          </p:cNvPr>
          <p:cNvSpPr>
            <a:spLocks noGrp="1"/>
          </p:cNvSpPr>
          <p:nvPr>
            <p:ph type="ftr" sz="quarter" idx="3"/>
          </p:nvPr>
        </p:nvSpPr>
        <p:spPr>
          <a:xfrm>
            <a:off x="565150" y="543179"/>
            <a:ext cx="4114800" cy="246888"/>
          </a:xfrm>
          <a:prstGeom prst="rect">
            <a:avLst/>
          </a:prstGeom>
        </p:spPr>
        <p:txBody>
          <a:bodyPr vert="horz" lIns="91440" tIns="45720" rIns="91440" bIns="45720" rtlCol="0" anchor="ctr" anchorCtr="0"/>
          <a:lstStyle>
            <a:lvl1pPr algn="l">
              <a:defRPr lang="en-US" sz="1050">
                <a:latin typeface="+mn-lt"/>
              </a:defRPr>
            </a:lvl1pPr>
          </a:lstStyle>
          <a:p>
            <a:endParaRPr lang="en-US" dirty="0"/>
          </a:p>
        </p:txBody>
      </p:sp>
      <p:sp>
        <p:nvSpPr>
          <p:cNvPr id="6" name="Slide Number Placeholder 5">
            <a:extLst>
              <a:ext uri="{FF2B5EF4-FFF2-40B4-BE49-F238E27FC236}">
                <a16:creationId xmlns:a16="http://schemas.microsoft.com/office/drawing/2014/main" id="{E6E32ADB-4517-194F-8B4B-A9D26B3C02E3}"/>
              </a:ext>
            </a:extLst>
          </p:cNvPr>
          <p:cNvSpPr>
            <a:spLocks noGrp="1"/>
          </p:cNvSpPr>
          <p:nvPr>
            <p:ph type="sldNum" sz="quarter" idx="4"/>
          </p:nvPr>
        </p:nvSpPr>
        <p:spPr>
          <a:xfrm>
            <a:off x="10813024" y="511175"/>
            <a:ext cx="914400" cy="310896"/>
          </a:xfrm>
          <a:prstGeom prst="rect">
            <a:avLst/>
          </a:prstGeom>
        </p:spPr>
        <p:txBody>
          <a:bodyPr vert="horz" lIns="91440" tIns="45720" rIns="91440" bIns="45720" rtlCol="0" anchor="ctr"/>
          <a:lstStyle>
            <a:lvl1pPr algn="r">
              <a:defRPr sz="1400" b="0" i="0">
                <a:solidFill>
                  <a:schemeClr val="tx1"/>
                </a:solidFill>
                <a:latin typeface="+mn-lt"/>
              </a:defRPr>
            </a:lvl1pPr>
          </a:lstStyle>
          <a:p>
            <a:fld id="{86BB3423-611C-6944-BA94-F2572F362413}" type="slidenum">
              <a:rPr lang="en-US" smtClean="0"/>
              <a:pPr/>
              <a:t>‹#›</a:t>
            </a:fld>
            <a:endParaRPr lang="en-US"/>
          </a:p>
        </p:txBody>
      </p:sp>
    </p:spTree>
    <p:extLst>
      <p:ext uri="{BB962C8B-B14F-4D97-AF65-F5344CB8AC3E}">
        <p14:creationId xmlns:p14="http://schemas.microsoft.com/office/powerpoint/2010/main" val="2813607797"/>
      </p:ext>
    </p:extLst>
  </p:cSld>
  <p:clrMap bg1="lt1" tx1="dk1" bg2="lt2" tx2="dk2" accent1="accent1" accent2="accent2" accent3="accent3" accent4="accent4" accent5="accent5" accent6="accent6" hlink="hlink" folHlink="folHlink"/>
  <p:sldLayoutIdLst>
    <p:sldLayoutId id="2147483683" r:id="rId1"/>
    <p:sldLayoutId id="2147483682" r:id="rId2"/>
    <p:sldLayoutId id="2147483681" r:id="rId3"/>
    <p:sldLayoutId id="2147483680" r:id="rId4"/>
    <p:sldLayoutId id="2147483679" r:id="rId5"/>
    <p:sldLayoutId id="2147483678" r:id="rId6"/>
    <p:sldLayoutId id="2147483677" r:id="rId7"/>
    <p:sldLayoutId id="2147483676" r:id="rId8"/>
    <p:sldLayoutId id="2147483675" r:id="rId9"/>
    <p:sldLayoutId id="2147483673" r:id="rId10"/>
    <p:sldLayoutId id="2147483674" r:id="rId11"/>
  </p:sldLayoutIdLst>
  <p:txStyles>
    <p:titleStyle>
      <a:lvl1pPr algn="l" defTabSz="914400" rtl="0" eaLnBrk="1" latinLnBrk="0" hangingPunct="1">
        <a:lnSpc>
          <a:spcPct val="10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System Font Regular"/>
        <a:buChar char="–"/>
        <a:defRPr sz="2400" b="0" i="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System Font Regular"/>
        <a:buChar char="–"/>
        <a:defRPr sz="2000" b="0" i="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System Font Regular"/>
        <a:buChar char="–"/>
        <a:defRPr sz="1800" b="0" i="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System Font Regular"/>
        <a:buChar char="–"/>
        <a:defRPr sz="1600" b="0" i="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System Font Regular"/>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semeval.github.io/SemEval2024/tasks" TargetMode="External"/><Relationship Id="rId7" Type="http://schemas.openxmlformats.org/officeDocument/2006/relationships/hyperlink" Target="https://aclanthology.org/events/naacl-2022/#2022-naacl-main" TargetMode="External"/><Relationship Id="rId2" Type="http://schemas.openxmlformats.org/officeDocument/2006/relationships/hyperlink" Target="https://semeval.github.io/SemEval2026/" TargetMode="External"/><Relationship Id="rId1" Type="http://schemas.openxmlformats.org/officeDocument/2006/relationships/slideLayout" Target="../slideLayouts/slideLayout2.xml"/><Relationship Id="rId6" Type="http://schemas.openxmlformats.org/officeDocument/2006/relationships/hyperlink" Target="https://aclanthology.org/events/acl-2022/#2022-acl-long" TargetMode="External"/><Relationship Id="rId5" Type="http://schemas.openxmlformats.org/officeDocument/2006/relationships/hyperlink" Target="https://aclanthology.org/" TargetMode="External"/><Relationship Id="rId4" Type="http://schemas.openxmlformats.org/officeDocument/2006/relationships/hyperlink" Target="https://semeval.github.io/SemEval2023/task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cl-org/acl-style-files/tree/master/latex" TargetMode="External"/><Relationship Id="rId2" Type="http://schemas.openxmlformats.org/officeDocument/2006/relationships/hyperlink" Target="https://aclrollingreview.org/authorchecklist" TargetMode="External"/><Relationship Id="rId1" Type="http://schemas.openxmlformats.org/officeDocument/2006/relationships/slideLayout" Target="../slideLayouts/slideLayout2.xml"/><Relationship Id="rId4" Type="http://schemas.openxmlformats.org/officeDocument/2006/relationships/hyperlink" Target="https://www.overleaf.com/latex/templates/association-for-computational-linguistics-acl-conference/jvxskxpnznfj"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www.overleaf.com/latex/templates/association-for-computational-linguistics-acl-conference/jvxskxpnznfj" TargetMode="External"/><Relationship Id="rId2" Type="http://schemas.openxmlformats.org/officeDocument/2006/relationships/hyperlink" Target="https://aclrollingreview.org/authorchecklist"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CA2C65D-0168-1245-86C8-62A8A6F7B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97106" y="1625608"/>
            <a:ext cx="3882844" cy="2722164"/>
          </a:xfrm>
        </p:spPr>
        <p:txBody>
          <a:bodyPr>
            <a:normAutofit/>
          </a:bodyPr>
          <a:lstStyle/>
          <a:p>
            <a:r>
              <a:rPr lang="en-US" sz="6000">
                <a:cs typeface="Calibri Light"/>
              </a:rPr>
              <a:t>Final Project NLP</a:t>
            </a:r>
            <a:endParaRPr lang="en-US" sz="6000"/>
          </a:p>
        </p:txBody>
      </p:sp>
      <p:sp>
        <p:nvSpPr>
          <p:cNvPr id="3" name="Subtitle 2"/>
          <p:cNvSpPr>
            <a:spLocks noGrp="1"/>
          </p:cNvSpPr>
          <p:nvPr>
            <p:ph type="subTitle" idx="1"/>
          </p:nvPr>
        </p:nvSpPr>
        <p:spPr>
          <a:xfrm>
            <a:off x="797106" y="4466845"/>
            <a:ext cx="3882844" cy="882904"/>
          </a:xfrm>
        </p:spPr>
        <p:txBody>
          <a:bodyPr vert="horz" lIns="91440" tIns="45720" rIns="91440" bIns="45720" rtlCol="0" anchor="t">
            <a:normAutofit/>
          </a:bodyPr>
          <a:lstStyle/>
          <a:p>
            <a:r>
              <a:rPr lang="en-US" dirty="0">
                <a:cs typeface="Calibri"/>
              </a:rPr>
              <a:t>Fall 2025</a:t>
            </a:r>
            <a:endParaRPr lang="en-US" dirty="0"/>
          </a:p>
        </p:txBody>
      </p:sp>
      <p:pic>
        <p:nvPicPr>
          <p:cNvPr id="4" name="Picture 3">
            <a:extLst>
              <a:ext uri="{FF2B5EF4-FFF2-40B4-BE49-F238E27FC236}">
                <a16:creationId xmlns:a16="http://schemas.microsoft.com/office/drawing/2014/main" id="{CC8D37E8-646B-1338-7F98-B5F799F02CE2}"/>
              </a:ext>
            </a:extLst>
          </p:cNvPr>
          <p:cNvPicPr>
            <a:picLocks noChangeAspect="1"/>
          </p:cNvPicPr>
          <p:nvPr/>
        </p:nvPicPr>
        <p:blipFill rotWithShape="1">
          <a:blip r:embed="rId2"/>
          <a:srcRect l="1432" r="33279" b="-5"/>
          <a:stretch/>
        </p:blipFill>
        <p:spPr>
          <a:xfrm>
            <a:off x="5224242" y="10"/>
            <a:ext cx="6967758" cy="6857990"/>
          </a:xfrm>
          <a:prstGeom prst="rect">
            <a:avLst/>
          </a:prstGeom>
        </p:spPr>
      </p:pic>
      <p:sp>
        <p:nvSpPr>
          <p:cNvPr id="12" name="Cross 11">
            <a:extLst>
              <a:ext uri="{FF2B5EF4-FFF2-40B4-BE49-F238E27FC236}">
                <a16:creationId xmlns:a16="http://schemas.microsoft.com/office/drawing/2014/main" id="{4029224B-C0FC-EC47-B248-0D4271BC7F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5751" y="5624450"/>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55E9273-3717-C94C-9BFF-75E87E47C4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0564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60448F-6D50-717B-EBB7-B4973517F56E}"/>
              </a:ext>
            </a:extLst>
          </p:cNvPr>
          <p:cNvSpPr>
            <a:spLocks noGrp="1"/>
          </p:cNvSpPr>
          <p:nvPr>
            <p:ph type="title"/>
          </p:nvPr>
        </p:nvSpPr>
        <p:spPr>
          <a:xfrm>
            <a:off x="565149" y="1204720"/>
            <a:ext cx="3198777" cy="4344711"/>
          </a:xfrm>
        </p:spPr>
        <p:txBody>
          <a:bodyPr>
            <a:normAutofit/>
          </a:bodyPr>
          <a:lstStyle/>
          <a:p>
            <a:r>
              <a:rPr lang="en-US">
                <a:cs typeface="Calibri Light"/>
              </a:rPr>
              <a:t>Contents</a:t>
            </a:r>
            <a:endParaRPr lang="en-US"/>
          </a:p>
        </p:txBody>
      </p:sp>
      <p:sp>
        <p:nvSpPr>
          <p:cNvPr id="12" name="Rectangle 11">
            <a:extLst>
              <a:ext uri="{FF2B5EF4-FFF2-40B4-BE49-F238E27FC236}">
                <a16:creationId xmlns:a16="http://schemas.microsoft.com/office/drawing/2014/main" id="{882E6E09-FCB0-5F41-8BAE-C0581D54B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E8B9AAF-3BFF-3546-915C-8BDE34AD7C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096772"/>
            <a:ext cx="263565"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ross 15">
            <a:extLst>
              <a:ext uri="{FF2B5EF4-FFF2-40B4-BE49-F238E27FC236}">
                <a16:creationId xmlns:a16="http://schemas.microsoft.com/office/drawing/2014/main" id="{90012D5C-1270-714B-AFB4-7E632827B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248"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2">
            <a:extLst>
              <a:ext uri="{FF2B5EF4-FFF2-40B4-BE49-F238E27FC236}">
                <a16:creationId xmlns:a16="http://schemas.microsoft.com/office/drawing/2014/main" id="{EA90BED8-6133-BCBA-755C-9893AAB4CB1E}"/>
              </a:ext>
            </a:extLst>
          </p:cNvPr>
          <p:cNvGraphicFramePr>
            <a:graphicFrameLocks noGrp="1"/>
          </p:cNvGraphicFramePr>
          <p:nvPr>
            <p:ph idx="1"/>
            <p:extLst>
              <p:ext uri="{D42A27DB-BD31-4B8C-83A1-F6EECF244321}">
                <p14:modId xmlns:p14="http://schemas.microsoft.com/office/powerpoint/2010/main" val="3897346091"/>
              </p:ext>
            </p:extLst>
          </p:nvPr>
        </p:nvGraphicFramePr>
        <p:xfrm>
          <a:off x="4395483" y="1205539"/>
          <a:ext cx="6728905" cy="4371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6174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0DDCB7-74A3-164E-667B-82265EE61F9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D1EDFC-BD04-38A7-E4B7-10376006A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52294E9-3505-D627-5A1B-C98D6547B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C982A23A-DB6A-1D3D-BFB7-A0463A1B2A5C}"/>
              </a:ext>
            </a:extLst>
          </p:cNvPr>
          <p:cNvSpPr>
            <a:spLocks noGrp="1"/>
          </p:cNvSpPr>
          <p:nvPr>
            <p:ph type="ctrTitle"/>
          </p:nvPr>
        </p:nvSpPr>
        <p:spPr>
          <a:xfrm>
            <a:off x="565148" y="1204721"/>
            <a:ext cx="8267299" cy="1446550"/>
          </a:xfrm>
        </p:spPr>
        <p:txBody>
          <a:bodyPr>
            <a:normAutofit/>
          </a:bodyPr>
          <a:lstStyle/>
          <a:p>
            <a:r>
              <a:rPr lang="en-US" dirty="0"/>
              <a:t>Final Project</a:t>
            </a:r>
          </a:p>
          <a:p>
            <a:endParaRPr lang="en-US" dirty="0"/>
          </a:p>
        </p:txBody>
      </p:sp>
      <p:sp>
        <p:nvSpPr>
          <p:cNvPr id="3" name="Content Placeholder">
            <a:extLst>
              <a:ext uri="{FF2B5EF4-FFF2-40B4-BE49-F238E27FC236}">
                <a16:creationId xmlns:a16="http://schemas.microsoft.com/office/drawing/2014/main" id="{9E1BC617-2052-B1E4-B649-96752ED2674B}"/>
              </a:ext>
            </a:extLst>
          </p:cNvPr>
          <p:cNvSpPr>
            <a:spLocks noGrp="1"/>
          </p:cNvSpPr>
          <p:nvPr>
            <p:ph idx="1"/>
          </p:nvPr>
        </p:nvSpPr>
        <p:spPr>
          <a:xfrm>
            <a:off x="565149" y="2085600"/>
            <a:ext cx="10074833" cy="4438975"/>
          </a:xfrm>
        </p:spPr>
        <p:txBody>
          <a:bodyPr vert="horz" lIns="91440" tIns="45720" rIns="91440" bIns="45720" rtlCol="0" anchor="t">
            <a:normAutofit/>
          </a:bodyPr>
          <a:lstStyle/>
          <a:p>
            <a:r>
              <a:rPr lang="en-US" dirty="0"/>
              <a:t>The final project is a semester long project which allows you to explore a problem talked about in class more in depth or explore a problem that is not covered in class but is related. </a:t>
            </a:r>
          </a:p>
          <a:p>
            <a:r>
              <a:rPr lang="en-US" dirty="0"/>
              <a:t>It will be worked on for up to 10 weeks of the semester, so it should involve a substantial enough idea. </a:t>
            </a:r>
          </a:p>
          <a:p>
            <a:pPr marL="560070" lvl="1" indent="-285750">
              <a:buFont typeface="Calibri,Sans-Serif"/>
              <a:buChar char="-"/>
            </a:pPr>
            <a:r>
              <a:rPr lang="en-US" dirty="0"/>
              <a:t>For example, if it is simpler than one of the </a:t>
            </a:r>
            <a:r>
              <a:rPr lang="en-US" dirty="0" err="1"/>
              <a:t>homeworks</a:t>
            </a:r>
            <a:r>
              <a:rPr lang="en-US" dirty="0"/>
              <a:t> examined, then it is not enough</a:t>
            </a:r>
          </a:p>
          <a:p>
            <a:pPr>
              <a:buFont typeface="Calibri,Sans-Serif"/>
              <a:buChar char="-"/>
            </a:pPr>
            <a:r>
              <a:rPr lang="en-US" dirty="0"/>
              <a:t>Title of class is "Natural Language Processing"</a:t>
            </a:r>
          </a:p>
          <a:p>
            <a:pPr marL="560070" lvl="1" indent="-285750">
              <a:buFont typeface="Calibri,Sans-Serif"/>
              <a:buChar char="-"/>
            </a:pPr>
            <a:r>
              <a:rPr lang="en-US" dirty="0"/>
              <a:t>Final project should involve an NLP idea or NLP problem (if it does not involve text in a major way, then probably not NLP).</a:t>
            </a:r>
          </a:p>
          <a:p>
            <a:pPr marL="560070" lvl="1" indent="-285750">
              <a:buFont typeface="Calibri,Sans-Serif"/>
              <a:buChar char="-"/>
            </a:pPr>
            <a:r>
              <a:rPr lang="en-US" dirty="0"/>
              <a:t>Final project should make use of AI, either to evaluate or use or both. </a:t>
            </a:r>
          </a:p>
          <a:p>
            <a:endParaRPr lang="en-US" dirty="0"/>
          </a:p>
          <a:p>
            <a:endParaRPr lang="en-US" dirty="0"/>
          </a:p>
        </p:txBody>
      </p:sp>
      <p:sp>
        <p:nvSpPr>
          <p:cNvPr id="13" name="Rectangle 12">
            <a:extLst>
              <a:ext uri="{FF2B5EF4-FFF2-40B4-BE49-F238E27FC236}">
                <a16:creationId xmlns:a16="http://schemas.microsoft.com/office/drawing/2014/main" id="{FC6F816B-3162-1BC6-3F43-84E81D3F7C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8A40B0B3-B503-ECE5-8D39-EF18CB6A8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7708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8063CB-81F1-6C19-A74C-80AA14869A3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6475D29-BD76-D5FA-F51F-4D73E210D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F0F56B-B7B5-1688-A5CF-9CFD07A4B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B5089BD7-2B40-D70B-866F-C6911ECA89FA}"/>
              </a:ext>
            </a:extLst>
          </p:cNvPr>
          <p:cNvSpPr>
            <a:spLocks noGrp="1"/>
          </p:cNvSpPr>
          <p:nvPr>
            <p:ph type="ctrTitle"/>
          </p:nvPr>
        </p:nvSpPr>
        <p:spPr>
          <a:xfrm>
            <a:off x="565148" y="1204721"/>
            <a:ext cx="8267299" cy="1446550"/>
          </a:xfrm>
        </p:spPr>
        <p:txBody>
          <a:bodyPr>
            <a:normAutofit/>
          </a:bodyPr>
          <a:lstStyle/>
          <a:p>
            <a:r>
              <a:rPr lang="en-US" dirty="0"/>
              <a:t>Final Project – Additional Details</a:t>
            </a:r>
          </a:p>
          <a:p>
            <a:endParaRPr lang="en-US" dirty="0"/>
          </a:p>
        </p:txBody>
      </p:sp>
      <p:sp>
        <p:nvSpPr>
          <p:cNvPr id="3" name="Content Placeholder">
            <a:extLst>
              <a:ext uri="{FF2B5EF4-FFF2-40B4-BE49-F238E27FC236}">
                <a16:creationId xmlns:a16="http://schemas.microsoft.com/office/drawing/2014/main" id="{85DC8787-1F9A-D8CE-EE20-0459CD119FEA}"/>
              </a:ext>
            </a:extLst>
          </p:cNvPr>
          <p:cNvSpPr>
            <a:spLocks noGrp="1"/>
          </p:cNvSpPr>
          <p:nvPr>
            <p:ph idx="1"/>
          </p:nvPr>
        </p:nvSpPr>
        <p:spPr>
          <a:xfrm>
            <a:off x="565149" y="2085600"/>
            <a:ext cx="10074833" cy="4438975"/>
          </a:xfrm>
        </p:spPr>
        <p:txBody>
          <a:bodyPr vert="horz" lIns="91440" tIns="45720" rIns="91440" bIns="45720" rtlCol="0" anchor="t">
            <a:normAutofit/>
          </a:bodyPr>
          <a:lstStyle/>
          <a:p>
            <a:endParaRPr lang="en-US" dirty="0"/>
          </a:p>
          <a:p>
            <a:endParaRPr lang="en-US" dirty="0"/>
          </a:p>
          <a:p>
            <a:endParaRPr lang="en-US" dirty="0"/>
          </a:p>
        </p:txBody>
      </p:sp>
      <p:sp>
        <p:nvSpPr>
          <p:cNvPr id="13" name="Rectangle 12">
            <a:extLst>
              <a:ext uri="{FF2B5EF4-FFF2-40B4-BE49-F238E27FC236}">
                <a16:creationId xmlns:a16="http://schemas.microsoft.com/office/drawing/2014/main" id="{172AB754-0F48-8445-1675-5BBC4027EF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1959115D-EFB4-4C28-0FE5-BED03A8E24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CF3253A-A27C-B513-C7B7-FCB7166600F2}"/>
              </a:ext>
            </a:extLst>
          </p:cNvPr>
          <p:cNvSpPr txBox="1"/>
          <p:nvPr/>
        </p:nvSpPr>
        <p:spPr>
          <a:xfrm>
            <a:off x="803752" y="2275562"/>
            <a:ext cx="8997863"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ea typeface="+mn-lt"/>
                <a:cs typeface="+mn-lt"/>
              </a:rPr>
              <a:t>Again, your goal is to address an NLP problem. </a:t>
            </a:r>
            <a:endParaRPr lang="en-US" dirty="0"/>
          </a:p>
          <a:p>
            <a:pPr marL="285750" indent="-285750">
              <a:buFont typeface="Calibri"/>
              <a:buChar char="-"/>
            </a:pPr>
            <a:endParaRPr lang="en-US" dirty="0">
              <a:ea typeface="+mn-lt"/>
              <a:cs typeface="+mn-lt"/>
            </a:endParaRPr>
          </a:p>
          <a:p>
            <a:pPr marL="285750" indent="-285750">
              <a:buFont typeface="Calibri"/>
              <a:buChar char="-"/>
            </a:pPr>
            <a:r>
              <a:rPr lang="en-US" dirty="0">
                <a:ea typeface="+mn-lt"/>
                <a:cs typeface="+mn-lt"/>
              </a:rPr>
              <a:t>There are no requirements for deployable tools or browser extensions. </a:t>
            </a:r>
          </a:p>
          <a:p>
            <a:pPr marL="742950" lvl="1" indent="-285750">
              <a:buFont typeface="Courier New"/>
              <a:buChar char="o"/>
            </a:pPr>
            <a:r>
              <a:rPr lang="en-US" dirty="0">
                <a:ea typeface="+mn-lt"/>
                <a:cs typeface="+mn-lt"/>
              </a:rPr>
              <a:t>You can still add these, but be careful that they do not take away from addressing the question.   </a:t>
            </a:r>
          </a:p>
          <a:p>
            <a:pPr marL="285750" indent="-285750">
              <a:buFont typeface="Calibri"/>
              <a:buChar char="-"/>
            </a:pPr>
            <a:endParaRPr lang="en-US" dirty="0">
              <a:ea typeface="+mn-lt"/>
              <a:cs typeface="+mn-lt"/>
            </a:endParaRPr>
          </a:p>
          <a:p>
            <a:pPr marL="285750" indent="-285750">
              <a:buFont typeface="Calibri"/>
              <a:buChar char="-"/>
            </a:pPr>
            <a:r>
              <a:rPr lang="en-US" dirty="0">
                <a:ea typeface="+mn-lt"/>
                <a:cs typeface="+mn-lt"/>
              </a:rPr>
              <a:t>The project will more closely model some of the research papers we'll be looking at throughout the semester (although no requirement for novel research). </a:t>
            </a:r>
            <a:endParaRPr lang="en-US">
              <a:ea typeface="+mn-lt"/>
              <a:cs typeface="+mn-lt"/>
            </a:endParaRPr>
          </a:p>
          <a:p>
            <a:pPr marL="285750" indent="-285750">
              <a:buFont typeface="Calibri"/>
              <a:buChar char="-"/>
            </a:pPr>
            <a:endParaRPr lang="en-US" dirty="0">
              <a:ea typeface="+mn-lt"/>
              <a:cs typeface="+mn-lt"/>
            </a:endParaRPr>
          </a:p>
          <a:p>
            <a:pPr marL="285750" indent="-285750">
              <a:buFont typeface="Calibri"/>
              <a:buChar char="-"/>
            </a:pPr>
            <a:r>
              <a:rPr lang="en-US" dirty="0">
                <a:ea typeface="+mn-lt"/>
                <a:cs typeface="+mn-lt"/>
              </a:rPr>
              <a:t>You need not (and should not simply) re-implement other research papers. </a:t>
            </a:r>
          </a:p>
          <a:p>
            <a:pPr marL="742950" lvl="1" indent="-285750">
              <a:buFont typeface="Courier New"/>
              <a:buChar char="o"/>
            </a:pPr>
            <a:r>
              <a:rPr lang="en-US" dirty="0">
                <a:ea typeface="+mn-lt"/>
                <a:cs typeface="+mn-lt"/>
              </a:rPr>
              <a:t> You can start with other research papers, but you'll want to explore different models or datasets or questions. Or extend the ideas. </a:t>
            </a:r>
            <a:endParaRPr lang="en-US"/>
          </a:p>
        </p:txBody>
      </p:sp>
    </p:spTree>
    <p:extLst>
      <p:ext uri="{BB962C8B-B14F-4D97-AF65-F5344CB8AC3E}">
        <p14:creationId xmlns:p14="http://schemas.microsoft.com/office/powerpoint/2010/main" val="2542435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8267299" cy="1446550"/>
          </a:xfrm>
        </p:spPr>
        <p:txBody>
          <a:bodyPr>
            <a:normAutofit/>
          </a:bodyPr>
          <a:lstStyle/>
          <a:p>
            <a:r>
              <a:rPr lang="en-US" dirty="0"/>
              <a:t>Other Details</a:t>
            </a:r>
          </a:p>
        </p:txBody>
      </p:sp>
      <p:sp>
        <p:nvSpPr>
          <p:cNvPr id="3" name="Content Placeholder"/>
          <p:cNvSpPr>
            <a:spLocks noGrp="1"/>
          </p:cNvSpPr>
          <p:nvPr>
            <p:ph idx="1"/>
          </p:nvPr>
        </p:nvSpPr>
        <p:spPr>
          <a:xfrm>
            <a:off x="565149" y="2085600"/>
            <a:ext cx="10074833" cy="4438975"/>
          </a:xfrm>
        </p:spPr>
        <p:txBody>
          <a:bodyPr vert="horz" lIns="91440" tIns="45720" rIns="91440" bIns="45720" rtlCol="0" anchor="t">
            <a:normAutofit lnSpcReduction="10000"/>
          </a:bodyPr>
          <a:lstStyle/>
          <a:p>
            <a:r>
              <a:rPr lang="en-US" dirty="0"/>
              <a:t>Number of students per project?</a:t>
            </a:r>
          </a:p>
          <a:p>
            <a:pPr lvl="1"/>
            <a:r>
              <a:rPr lang="en-US" dirty="0"/>
              <a:t>Up to 3</a:t>
            </a:r>
          </a:p>
          <a:p>
            <a:pPr lvl="1"/>
            <a:r>
              <a:rPr lang="en-US" dirty="0"/>
              <a:t>Students can choose their own groups</a:t>
            </a:r>
          </a:p>
          <a:p>
            <a:pPr lvl="1"/>
            <a:r>
              <a:rPr lang="en-US" dirty="0"/>
              <a:t>I will open a discussion board for students to find other members on </a:t>
            </a:r>
            <a:r>
              <a:rPr lang="en-US" dirty="0" err="1"/>
              <a:t>brightspace</a:t>
            </a:r>
            <a:endParaRPr lang="en-US" dirty="0"/>
          </a:p>
          <a:p>
            <a:pPr lvl="1"/>
            <a:r>
              <a:rPr lang="en-US" dirty="0"/>
              <a:t>Students should be contributing equally to project</a:t>
            </a:r>
          </a:p>
          <a:p>
            <a:pPr lvl="2"/>
            <a:r>
              <a:rPr lang="en-US" dirty="0"/>
              <a:t>Evaluation at end of project</a:t>
            </a:r>
          </a:p>
          <a:p>
            <a:pPr lvl="2"/>
            <a:r>
              <a:rPr lang="en-US" dirty="0"/>
              <a:t>Concerns during semester should be brought to professor ASAP</a:t>
            </a:r>
          </a:p>
          <a:p>
            <a:r>
              <a:rPr lang="en-US" dirty="0"/>
              <a:t>Projects must:</a:t>
            </a:r>
          </a:p>
          <a:p>
            <a:pPr lvl="1"/>
            <a:r>
              <a:rPr lang="en-US" dirty="0"/>
              <a:t>Involve NLP ideas/methodologies (if there is no text, then probably not going to work!!!)</a:t>
            </a:r>
          </a:p>
          <a:p>
            <a:pPr lvl="1"/>
            <a:r>
              <a:rPr lang="en-US" dirty="0"/>
              <a:t>NOT be regular sentiment analysis (we investigate during class, there are more interesting classification topics)</a:t>
            </a:r>
          </a:p>
          <a:p>
            <a:pPr marL="0" indent="0">
              <a:buNone/>
            </a:pPr>
            <a:endParaRPr lang="en-US" dirty="0"/>
          </a:p>
          <a:p>
            <a:endParaRPr lang="en-US" dirty="0"/>
          </a:p>
          <a:p>
            <a:endParaRPr lang="en-US" dirty="0"/>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1383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8267299" cy="1446550"/>
          </a:xfrm>
        </p:spPr>
        <p:txBody>
          <a:bodyPr>
            <a:normAutofit/>
          </a:bodyPr>
          <a:lstStyle/>
          <a:p>
            <a:r>
              <a:rPr lang="en-US" dirty="0"/>
              <a:t>Other Details</a:t>
            </a:r>
          </a:p>
        </p:txBody>
      </p:sp>
      <p:sp>
        <p:nvSpPr>
          <p:cNvPr id="3" name="Content Placeholder"/>
          <p:cNvSpPr>
            <a:spLocks noGrp="1"/>
          </p:cNvSpPr>
          <p:nvPr>
            <p:ph idx="1"/>
          </p:nvPr>
        </p:nvSpPr>
        <p:spPr>
          <a:xfrm>
            <a:off x="565149" y="2085600"/>
            <a:ext cx="8267299" cy="3942789"/>
          </a:xfrm>
        </p:spPr>
        <p:txBody>
          <a:bodyPr vert="horz" lIns="91440" tIns="45720" rIns="91440" bIns="45720" rtlCol="0" anchor="t">
            <a:normAutofit/>
          </a:bodyPr>
          <a:lstStyle/>
          <a:p>
            <a:r>
              <a:rPr lang="en-US" dirty="0"/>
              <a:t>How do I come up with ideas for the project?</a:t>
            </a:r>
          </a:p>
          <a:p>
            <a:pPr lvl="1"/>
            <a:r>
              <a:rPr lang="en-US" dirty="0" err="1"/>
              <a:t>SemEval</a:t>
            </a:r>
            <a:r>
              <a:rPr lang="en-US" dirty="0"/>
              <a:t> projects</a:t>
            </a:r>
          </a:p>
          <a:p>
            <a:pPr lvl="2"/>
            <a:r>
              <a:rPr lang="en-US" dirty="0">
                <a:ea typeface="+mn-lt"/>
                <a:cs typeface="+mn-lt"/>
                <a:hlinkClick r:id="rId2"/>
              </a:rPr>
              <a:t>https://semeval.github.io/SemEval2026/</a:t>
            </a:r>
            <a:endParaRPr lang="en-US" dirty="0">
              <a:ea typeface="+mn-lt"/>
              <a:cs typeface="+mn-lt"/>
            </a:endParaRPr>
          </a:p>
          <a:p>
            <a:pPr lvl="2"/>
            <a:r>
              <a:rPr lang="en-US" dirty="0">
                <a:ea typeface="+mn-lt"/>
                <a:cs typeface="+mn-lt"/>
                <a:hlinkClick r:id="rId3"/>
              </a:rPr>
              <a:t>https://semeval.github.io/SemEval2024/tasks</a:t>
            </a:r>
            <a:endParaRPr lang="en-US"/>
          </a:p>
          <a:p>
            <a:pPr lvl="2"/>
            <a:r>
              <a:rPr lang="en-US" dirty="0">
                <a:ea typeface="+mn-lt"/>
                <a:cs typeface="+mn-lt"/>
                <a:hlinkClick r:id="rId4"/>
              </a:rPr>
              <a:t>https://semeval.github.io/SemEval2023/tasks</a:t>
            </a:r>
            <a:endParaRPr lang="en-US" dirty="0"/>
          </a:p>
          <a:p>
            <a:pPr lvl="1"/>
            <a:r>
              <a:rPr lang="en-US" dirty="0"/>
              <a:t>Look to NLP research for inspirations</a:t>
            </a:r>
          </a:p>
          <a:p>
            <a:pPr lvl="2"/>
            <a:r>
              <a:rPr lang="en-US" dirty="0">
                <a:ea typeface="+mn-lt"/>
                <a:cs typeface="+mn-lt"/>
                <a:hlinkClick r:id="rId5"/>
              </a:rPr>
              <a:t>https://aclanthology.org/</a:t>
            </a:r>
            <a:endParaRPr lang="en-US" dirty="0"/>
          </a:p>
          <a:p>
            <a:pPr lvl="2"/>
            <a:r>
              <a:rPr lang="en-US" dirty="0">
                <a:ea typeface="+mn-lt"/>
                <a:cs typeface="+mn-lt"/>
                <a:hlinkClick r:id="rId6"/>
              </a:rPr>
              <a:t>https://aclanthology.org/events/acl-2022/#2022-acl-long</a:t>
            </a:r>
            <a:endParaRPr lang="en-US" dirty="0"/>
          </a:p>
          <a:p>
            <a:pPr lvl="2"/>
            <a:r>
              <a:rPr lang="en-US" dirty="0">
                <a:ea typeface="+mn-lt"/>
                <a:cs typeface="+mn-lt"/>
                <a:hlinkClick r:id="rId7"/>
              </a:rPr>
              <a:t>https://aclanthology.org/events/naacl-2022/#2022-naacl-main</a:t>
            </a:r>
            <a:endParaRPr lang="en-US" dirty="0"/>
          </a:p>
          <a:p>
            <a:pPr lvl="2"/>
            <a:r>
              <a:rPr lang="en-US" dirty="0"/>
              <a:t>Scholar.google.com</a:t>
            </a:r>
          </a:p>
          <a:p>
            <a:pPr lvl="1"/>
            <a:r>
              <a:rPr lang="en-US" dirty="0"/>
              <a:t>Discuss with group or professor</a:t>
            </a:r>
          </a:p>
          <a:p>
            <a:pPr marL="0" indent="0">
              <a:buNone/>
            </a:pPr>
            <a:endParaRPr lang="en-US" dirty="0"/>
          </a:p>
          <a:p>
            <a:endParaRPr lang="en-US" dirty="0"/>
          </a:p>
          <a:p>
            <a:endParaRPr lang="en-US" dirty="0"/>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8803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1B68C1-36C8-0D5E-EFE4-1A5358FA56B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00F0CC2-080F-B9B9-747F-D1A53D9EE0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E7B4D9E-B51C-969A-6216-44D54A7F5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a:extLst>
              <a:ext uri="{FF2B5EF4-FFF2-40B4-BE49-F238E27FC236}">
                <a16:creationId xmlns:a16="http://schemas.microsoft.com/office/drawing/2014/main" id="{BECED278-C786-B35F-8C2A-E8BDA0EC4BA1}"/>
              </a:ext>
            </a:extLst>
          </p:cNvPr>
          <p:cNvSpPr>
            <a:spLocks noGrp="1"/>
          </p:cNvSpPr>
          <p:nvPr>
            <p:ph type="ctrTitle"/>
          </p:nvPr>
        </p:nvSpPr>
        <p:spPr>
          <a:xfrm>
            <a:off x="565148" y="1204721"/>
            <a:ext cx="8267299" cy="1446550"/>
          </a:xfrm>
        </p:spPr>
        <p:txBody>
          <a:bodyPr>
            <a:normAutofit/>
          </a:bodyPr>
          <a:lstStyle/>
          <a:p>
            <a:r>
              <a:rPr lang="en-US" dirty="0"/>
              <a:t>Questions to consider</a:t>
            </a:r>
          </a:p>
        </p:txBody>
      </p:sp>
      <p:sp>
        <p:nvSpPr>
          <p:cNvPr id="3" name="Content Placeholder">
            <a:extLst>
              <a:ext uri="{FF2B5EF4-FFF2-40B4-BE49-F238E27FC236}">
                <a16:creationId xmlns:a16="http://schemas.microsoft.com/office/drawing/2014/main" id="{C0EB30E2-BCA5-EF52-D745-F877F9479E15}"/>
              </a:ext>
            </a:extLst>
          </p:cNvPr>
          <p:cNvSpPr>
            <a:spLocks noGrp="1"/>
          </p:cNvSpPr>
          <p:nvPr>
            <p:ph idx="1"/>
          </p:nvPr>
        </p:nvSpPr>
        <p:spPr>
          <a:xfrm>
            <a:off x="565149" y="2085600"/>
            <a:ext cx="10970833" cy="3942789"/>
          </a:xfrm>
        </p:spPr>
        <p:txBody>
          <a:bodyPr vert="horz" lIns="91440" tIns="45720" rIns="91440" bIns="45720" rtlCol="0" anchor="t">
            <a:normAutofit lnSpcReduction="10000"/>
          </a:bodyPr>
          <a:lstStyle/>
          <a:p>
            <a:pPr marL="457200" indent="-457200">
              <a:buAutoNum type="arabicPeriod"/>
            </a:pPr>
            <a:r>
              <a:rPr lang="en-US" dirty="0"/>
              <a:t>What datasets are available to help me accomplish my goal? </a:t>
            </a:r>
          </a:p>
          <a:p>
            <a:pPr marL="914400" lvl="1" indent="-457200">
              <a:buFont typeface="Courier New"/>
              <a:buChar char="o"/>
            </a:pPr>
            <a:r>
              <a:rPr lang="en-US" dirty="0"/>
              <a:t>Often there is not enough time to collect enough original data so it is recommended to find some starting datasets. </a:t>
            </a:r>
          </a:p>
          <a:p>
            <a:pPr marL="457200" indent="-457200">
              <a:buAutoNum type="arabicPeriod"/>
            </a:pPr>
            <a:r>
              <a:rPr lang="en-US" dirty="0"/>
              <a:t>How will I evaluate that my goal was achieved?</a:t>
            </a:r>
          </a:p>
          <a:p>
            <a:pPr marL="914400" lvl="1" indent="-457200">
              <a:buFont typeface="Courier New"/>
              <a:buChar char="o"/>
            </a:pPr>
            <a:r>
              <a:rPr lang="en-US" dirty="0"/>
              <a:t>This will differ based on different NLP tasks. For example, classification might use accuracy and F1 while generation might use BERT-score. In all cases you should know what the evaluation metrics are actually evaluating. </a:t>
            </a:r>
          </a:p>
          <a:p>
            <a:pPr marL="457200" indent="-457200">
              <a:buAutoNum type="arabicPeriod"/>
            </a:pPr>
            <a:r>
              <a:rPr lang="en-US" dirty="0"/>
              <a:t>Do all group members have enough to work on?</a:t>
            </a:r>
          </a:p>
          <a:p>
            <a:pPr marL="914400" lvl="1" indent="-457200">
              <a:buFont typeface="Courier New"/>
              <a:buChar char="o"/>
            </a:pPr>
            <a:r>
              <a:rPr lang="en-US" dirty="0"/>
              <a:t>If you have two or three group members, than one NLP model is not going to be enough equal work throughout the semester. You may decide to add in multiple models or variations or address multiple NLP related tasks at once. </a:t>
            </a:r>
          </a:p>
          <a:p>
            <a:pPr marL="457200" indent="-457200">
              <a:buAutoNum type="arabicPeriod"/>
            </a:pPr>
            <a:endParaRPr lang="en-US" dirty="0"/>
          </a:p>
          <a:p>
            <a:pPr>
              <a:buAutoNum type="arabicPeriod"/>
            </a:pPr>
            <a:endParaRPr lang="en-US" dirty="0"/>
          </a:p>
          <a:p>
            <a:pPr>
              <a:buAutoNum type="arabicPeriod"/>
            </a:pPr>
            <a:endParaRPr lang="en-US" dirty="0"/>
          </a:p>
        </p:txBody>
      </p:sp>
      <p:sp>
        <p:nvSpPr>
          <p:cNvPr id="13" name="Rectangle 12">
            <a:extLst>
              <a:ext uri="{FF2B5EF4-FFF2-40B4-BE49-F238E27FC236}">
                <a16:creationId xmlns:a16="http://schemas.microsoft.com/office/drawing/2014/main" id="{28832895-0877-B158-6ABC-189DD3E022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AC11F0C-227B-7140-9865-63D54CF272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7032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9" y="1204721"/>
            <a:ext cx="4114799" cy="1446550"/>
          </a:xfrm>
        </p:spPr>
        <p:txBody>
          <a:bodyPr>
            <a:normAutofit/>
          </a:bodyPr>
          <a:lstStyle/>
          <a:p>
            <a:r>
              <a:rPr lang="en-US"/>
              <a:t>Grade Breakdown</a:t>
            </a:r>
          </a:p>
        </p:txBody>
      </p:sp>
      <p:graphicFrame>
        <p:nvGraphicFramePr>
          <p:cNvPr id="4" name="Table 4">
            <a:extLst>
              <a:ext uri="{FF2B5EF4-FFF2-40B4-BE49-F238E27FC236}">
                <a16:creationId xmlns:a16="http://schemas.microsoft.com/office/drawing/2014/main" id="{5DCE8086-3614-E534-8CF9-60269511816C}"/>
              </a:ext>
            </a:extLst>
          </p:cNvPr>
          <p:cNvGraphicFramePr>
            <a:graphicFrameLocks noGrp="1"/>
          </p:cNvGraphicFramePr>
          <p:nvPr>
            <p:ph idx="1"/>
            <p:extLst>
              <p:ext uri="{D42A27DB-BD31-4B8C-83A1-F6EECF244321}">
                <p14:modId xmlns:p14="http://schemas.microsoft.com/office/powerpoint/2010/main" val="457323901"/>
              </p:ext>
            </p:extLst>
          </p:nvPr>
        </p:nvGraphicFramePr>
        <p:xfrm>
          <a:off x="565150" y="2692400"/>
          <a:ext cx="4119190" cy="2595878"/>
        </p:xfrm>
        <a:graphic>
          <a:graphicData uri="http://schemas.openxmlformats.org/drawingml/2006/table">
            <a:tbl>
              <a:tblPr firstRow="1" bandRow="1">
                <a:tableStyleId>{5C22544A-7EE6-4342-B048-85BDC9FD1C3A}</a:tableStyleId>
              </a:tblPr>
              <a:tblGrid>
                <a:gridCol w="2059595">
                  <a:extLst>
                    <a:ext uri="{9D8B030D-6E8A-4147-A177-3AD203B41FA5}">
                      <a16:colId xmlns:a16="http://schemas.microsoft.com/office/drawing/2014/main" val="3557029279"/>
                    </a:ext>
                  </a:extLst>
                </a:gridCol>
                <a:gridCol w="2059595">
                  <a:extLst>
                    <a:ext uri="{9D8B030D-6E8A-4147-A177-3AD203B41FA5}">
                      <a16:colId xmlns:a16="http://schemas.microsoft.com/office/drawing/2014/main" val="476003314"/>
                    </a:ext>
                  </a:extLst>
                </a:gridCol>
              </a:tblGrid>
              <a:tr h="370840">
                <a:tc>
                  <a:txBody>
                    <a:bodyPr/>
                    <a:lstStyle/>
                    <a:p>
                      <a:r>
                        <a:rPr lang="en-US" dirty="0"/>
                        <a:t>Project Total</a:t>
                      </a:r>
                    </a:p>
                  </a:txBody>
                  <a:tcPr/>
                </a:tc>
                <a:tc>
                  <a:txBody>
                    <a:bodyPr/>
                    <a:lstStyle/>
                    <a:p>
                      <a:r>
                        <a:rPr lang="en-US" dirty="0"/>
                        <a:t>40% (points)</a:t>
                      </a:r>
                    </a:p>
                  </a:txBody>
                  <a:tcPr/>
                </a:tc>
                <a:extLst>
                  <a:ext uri="{0D108BD9-81ED-4DB2-BD59-A6C34878D82A}">
                    <a16:rowId xmlns:a16="http://schemas.microsoft.com/office/drawing/2014/main" val="2499095953"/>
                  </a:ext>
                </a:extLst>
              </a:tr>
              <a:tr h="370839">
                <a:tc>
                  <a:txBody>
                    <a:bodyPr/>
                    <a:lstStyle/>
                    <a:p>
                      <a:pPr lvl="0">
                        <a:buNone/>
                      </a:pPr>
                      <a:r>
                        <a:rPr lang="en-US" dirty="0"/>
                        <a:t>Project Idea(s)</a:t>
                      </a:r>
                    </a:p>
                  </a:txBody>
                  <a:tcPr/>
                </a:tc>
                <a:tc>
                  <a:txBody>
                    <a:bodyPr/>
                    <a:lstStyle/>
                    <a:p>
                      <a:pPr lvl="0">
                        <a:buNone/>
                      </a:pPr>
                      <a:r>
                        <a:rPr lang="en-US" dirty="0"/>
                        <a:t>2% (20)</a:t>
                      </a:r>
                    </a:p>
                  </a:txBody>
                  <a:tcPr/>
                </a:tc>
                <a:extLst>
                  <a:ext uri="{0D108BD9-81ED-4DB2-BD59-A6C34878D82A}">
                    <a16:rowId xmlns:a16="http://schemas.microsoft.com/office/drawing/2014/main" val="1338916965"/>
                  </a:ext>
                </a:extLst>
              </a:tr>
              <a:tr h="370840">
                <a:tc>
                  <a:txBody>
                    <a:bodyPr/>
                    <a:lstStyle/>
                    <a:p>
                      <a:r>
                        <a:rPr lang="en-US" dirty="0"/>
                        <a:t>Proposal</a:t>
                      </a:r>
                    </a:p>
                  </a:txBody>
                  <a:tcPr/>
                </a:tc>
                <a:tc>
                  <a:txBody>
                    <a:bodyPr/>
                    <a:lstStyle/>
                    <a:p>
                      <a:r>
                        <a:rPr lang="en-US" dirty="0"/>
                        <a:t>8% (80)</a:t>
                      </a:r>
                    </a:p>
                  </a:txBody>
                  <a:tcPr/>
                </a:tc>
                <a:extLst>
                  <a:ext uri="{0D108BD9-81ED-4DB2-BD59-A6C34878D82A}">
                    <a16:rowId xmlns:a16="http://schemas.microsoft.com/office/drawing/2014/main" val="874951576"/>
                  </a:ext>
                </a:extLst>
              </a:tr>
              <a:tr h="370840">
                <a:tc>
                  <a:txBody>
                    <a:bodyPr/>
                    <a:lstStyle/>
                    <a:p>
                      <a:r>
                        <a:rPr lang="en-US" dirty="0"/>
                        <a:t>Update 1</a:t>
                      </a:r>
                    </a:p>
                  </a:txBody>
                  <a:tcPr/>
                </a:tc>
                <a:tc>
                  <a:txBody>
                    <a:bodyPr/>
                    <a:lstStyle/>
                    <a:p>
                      <a:r>
                        <a:rPr lang="en-US" dirty="0"/>
                        <a:t>5% (50)</a:t>
                      </a:r>
                    </a:p>
                  </a:txBody>
                  <a:tcPr/>
                </a:tc>
                <a:extLst>
                  <a:ext uri="{0D108BD9-81ED-4DB2-BD59-A6C34878D82A}">
                    <a16:rowId xmlns:a16="http://schemas.microsoft.com/office/drawing/2014/main" val="515165876"/>
                  </a:ext>
                </a:extLst>
              </a:tr>
              <a:tr h="370840">
                <a:tc>
                  <a:txBody>
                    <a:bodyPr/>
                    <a:lstStyle/>
                    <a:p>
                      <a:r>
                        <a:rPr lang="en-US" dirty="0"/>
                        <a:t>Update 2</a:t>
                      </a:r>
                    </a:p>
                  </a:txBody>
                  <a:tcPr/>
                </a:tc>
                <a:tc>
                  <a:txBody>
                    <a:bodyPr/>
                    <a:lstStyle/>
                    <a:p>
                      <a:r>
                        <a:rPr lang="en-US" dirty="0"/>
                        <a:t>5% (50)</a:t>
                      </a:r>
                    </a:p>
                  </a:txBody>
                  <a:tcPr/>
                </a:tc>
                <a:extLst>
                  <a:ext uri="{0D108BD9-81ED-4DB2-BD59-A6C34878D82A}">
                    <a16:rowId xmlns:a16="http://schemas.microsoft.com/office/drawing/2014/main" val="2756440636"/>
                  </a:ext>
                </a:extLst>
              </a:tr>
              <a:tr h="370840">
                <a:tc>
                  <a:txBody>
                    <a:bodyPr/>
                    <a:lstStyle/>
                    <a:p>
                      <a:r>
                        <a:rPr lang="en-US" dirty="0"/>
                        <a:t>Final Paper </a:t>
                      </a:r>
                    </a:p>
                  </a:txBody>
                  <a:tcPr/>
                </a:tc>
                <a:tc>
                  <a:txBody>
                    <a:bodyPr/>
                    <a:lstStyle/>
                    <a:p>
                      <a:r>
                        <a:rPr lang="en-US" dirty="0"/>
                        <a:t>15% (150)</a:t>
                      </a:r>
                    </a:p>
                  </a:txBody>
                  <a:tcPr/>
                </a:tc>
                <a:extLst>
                  <a:ext uri="{0D108BD9-81ED-4DB2-BD59-A6C34878D82A}">
                    <a16:rowId xmlns:a16="http://schemas.microsoft.com/office/drawing/2014/main" val="919582387"/>
                  </a:ext>
                </a:extLst>
              </a:tr>
              <a:tr h="370839">
                <a:tc>
                  <a:txBody>
                    <a:bodyPr/>
                    <a:lstStyle/>
                    <a:p>
                      <a:pPr lvl="0">
                        <a:buNone/>
                      </a:pPr>
                      <a:r>
                        <a:rPr lang="en-US" dirty="0"/>
                        <a:t>Presentation</a:t>
                      </a:r>
                    </a:p>
                  </a:txBody>
                  <a:tcPr/>
                </a:tc>
                <a:tc>
                  <a:txBody>
                    <a:bodyPr/>
                    <a:lstStyle/>
                    <a:p>
                      <a:pPr lvl="0">
                        <a:buNone/>
                      </a:pPr>
                      <a:r>
                        <a:rPr lang="en-US" dirty="0"/>
                        <a:t>5% (50)</a:t>
                      </a:r>
                    </a:p>
                  </a:txBody>
                  <a:tcPr/>
                </a:tc>
                <a:extLst>
                  <a:ext uri="{0D108BD9-81ED-4DB2-BD59-A6C34878D82A}">
                    <a16:rowId xmlns:a16="http://schemas.microsoft.com/office/drawing/2014/main" val="1291949894"/>
                  </a:ext>
                </a:extLst>
              </a:tr>
            </a:tbl>
          </a:graphicData>
        </a:graphic>
      </p:graphicFrame>
      <p:pic>
        <p:nvPicPr>
          <p:cNvPr id="6" name="Picture 5" descr="Close-up of hopscotch on a sidewalk">
            <a:extLst>
              <a:ext uri="{FF2B5EF4-FFF2-40B4-BE49-F238E27FC236}">
                <a16:creationId xmlns:a16="http://schemas.microsoft.com/office/drawing/2014/main" id="{8A6F8AC9-34D4-8F46-3FBC-4D3CC8A0C74D}"/>
              </a:ext>
            </a:extLst>
          </p:cNvPr>
          <p:cNvPicPr>
            <a:picLocks noChangeAspect="1"/>
          </p:cNvPicPr>
          <p:nvPr/>
        </p:nvPicPr>
        <p:blipFill rotWithShape="1">
          <a:blip r:embed="rId2"/>
          <a:srcRect l="19098" r="13129" b="-10"/>
          <a:stretch/>
        </p:blipFill>
        <p:spPr>
          <a:xfrm>
            <a:off x="5224242" y="10"/>
            <a:ext cx="6967758" cy="6857990"/>
          </a:xfrm>
          <a:prstGeom prst="rect">
            <a:avLst/>
          </a:prstGeom>
        </p:spPr>
      </p:pic>
      <p:sp>
        <p:nvSpPr>
          <p:cNvPr id="12" name="Cross 11">
            <a:extLst>
              <a:ext uri="{FF2B5EF4-FFF2-40B4-BE49-F238E27FC236}">
                <a16:creationId xmlns:a16="http://schemas.microsoft.com/office/drawing/2014/main" id="{EAB1217A-7C36-3A41-8536-BC68C45210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6810"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1001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9764717" cy="1446550"/>
          </a:xfrm>
        </p:spPr>
        <p:txBody>
          <a:bodyPr>
            <a:normAutofit/>
          </a:bodyPr>
          <a:lstStyle/>
          <a:p>
            <a:r>
              <a:rPr lang="en-US" dirty="0"/>
              <a:t>Project Idea(s)(</a:t>
            </a:r>
            <a:r>
              <a:rPr lang="en-US" dirty="0">
                <a:ea typeface="+mj-lt"/>
                <a:cs typeface="+mj-lt"/>
              </a:rPr>
              <a:t>Due Week 4</a:t>
            </a:r>
            <a:r>
              <a:rPr lang="en-US" dirty="0"/>
              <a:t>)</a:t>
            </a:r>
          </a:p>
        </p:txBody>
      </p:sp>
      <p:sp>
        <p:nvSpPr>
          <p:cNvPr id="3" name="Content Placeholder"/>
          <p:cNvSpPr>
            <a:spLocks noGrp="1"/>
          </p:cNvSpPr>
          <p:nvPr>
            <p:ph idx="1"/>
          </p:nvPr>
        </p:nvSpPr>
        <p:spPr>
          <a:xfrm>
            <a:off x="565149" y="2037875"/>
            <a:ext cx="8267299" cy="4417442"/>
          </a:xfrm>
        </p:spPr>
        <p:txBody>
          <a:bodyPr vert="horz" lIns="91440" tIns="45720" rIns="91440" bIns="45720" rtlCol="0" anchor="t">
            <a:normAutofit/>
          </a:bodyPr>
          <a:lstStyle/>
          <a:p>
            <a:r>
              <a:rPr lang="en-US" dirty="0"/>
              <a:t>Must submit simple document which details group members and possible ideas for your final project</a:t>
            </a:r>
          </a:p>
          <a:p>
            <a:pPr lvl="1">
              <a:buFont typeface="Courier New"/>
              <a:buChar char="o"/>
            </a:pPr>
            <a:r>
              <a:rPr lang="en-US" dirty="0"/>
              <a:t>Give a few details for each idea beyond a generic wording:</a:t>
            </a:r>
          </a:p>
          <a:p>
            <a:pPr lvl="2">
              <a:buFont typeface="Wingdings"/>
              <a:buChar char="§"/>
            </a:pPr>
            <a:r>
              <a:rPr lang="en-US" dirty="0"/>
              <a:t>e.g. "Text Classification" is too general</a:t>
            </a:r>
          </a:p>
          <a:p>
            <a:r>
              <a:rPr lang="en-US" dirty="0"/>
              <a:t>Do not have to have them fully realized</a:t>
            </a:r>
          </a:p>
          <a:p>
            <a:r>
              <a:rPr lang="en-US" dirty="0"/>
              <a:t>I will be providing feedback to help you in what is realistic for your time in this semester</a:t>
            </a:r>
          </a:p>
          <a:p>
            <a:r>
              <a:rPr lang="en-US" b="1" dirty="0"/>
              <a:t>No Sentiment Analysis allowed</a:t>
            </a:r>
            <a:endParaRPr lang="en-US" dirty="0"/>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7741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8267299" cy="1446550"/>
          </a:xfrm>
        </p:spPr>
        <p:txBody>
          <a:bodyPr>
            <a:normAutofit/>
          </a:bodyPr>
          <a:lstStyle/>
          <a:p>
            <a:r>
              <a:rPr lang="en-US" dirty="0"/>
              <a:t>Proposal (Week 6)</a:t>
            </a:r>
          </a:p>
        </p:txBody>
      </p:sp>
      <p:sp>
        <p:nvSpPr>
          <p:cNvPr id="3" name="Content Placeholder"/>
          <p:cNvSpPr>
            <a:spLocks noGrp="1"/>
          </p:cNvSpPr>
          <p:nvPr>
            <p:ph idx="1"/>
          </p:nvPr>
        </p:nvSpPr>
        <p:spPr>
          <a:xfrm>
            <a:off x="565149" y="2037875"/>
            <a:ext cx="8267299" cy="4417442"/>
          </a:xfrm>
        </p:spPr>
        <p:txBody>
          <a:bodyPr vert="horz" lIns="91440" tIns="45720" rIns="91440" bIns="45720" rtlCol="0" anchor="t">
            <a:normAutofit lnSpcReduction="10000"/>
          </a:bodyPr>
          <a:lstStyle/>
          <a:p>
            <a:r>
              <a:rPr lang="en-US" dirty="0"/>
              <a:t>Paper </a:t>
            </a:r>
            <a:r>
              <a:rPr lang="en-US" dirty="0">
                <a:ea typeface="+mn-lt"/>
                <a:cs typeface="+mn-lt"/>
              </a:rPr>
              <a:t>describing problem to work on</a:t>
            </a:r>
          </a:p>
          <a:p>
            <a:r>
              <a:rPr lang="en-US" dirty="0"/>
              <a:t>Should include motivation</a:t>
            </a:r>
          </a:p>
          <a:p>
            <a:r>
              <a:rPr lang="en-US" dirty="0"/>
              <a:t>Problem statement (not the same as motivation)</a:t>
            </a:r>
          </a:p>
          <a:p>
            <a:r>
              <a:rPr lang="en-US" dirty="0"/>
              <a:t>Model/Algorithm to address problem (may be initial thoughts, but should expand on the idea)</a:t>
            </a:r>
          </a:p>
          <a:p>
            <a:r>
              <a:rPr lang="en-US" dirty="0"/>
              <a:t>Datasets that might be used (may add additional later)</a:t>
            </a:r>
          </a:p>
          <a:p>
            <a:r>
              <a:rPr lang="en-US" dirty="0"/>
              <a:t>Measurement of success (accuracy, F1)</a:t>
            </a:r>
          </a:p>
          <a:p>
            <a:r>
              <a:rPr lang="en-US" dirty="0"/>
              <a:t>Possible future additional analysis that can be done (will become more clear throughout the project) </a:t>
            </a:r>
            <a:r>
              <a:rPr lang="en-US" dirty="0">
                <a:ea typeface="+mn-lt"/>
                <a:cs typeface="+mn-lt"/>
              </a:rPr>
              <a:t>(Do not confuse this with results!)</a:t>
            </a:r>
          </a:p>
          <a:p>
            <a:endParaRPr lang="en-US" dirty="0"/>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624964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8267299" cy="1446550"/>
          </a:xfrm>
        </p:spPr>
        <p:txBody>
          <a:bodyPr>
            <a:normAutofit/>
          </a:bodyPr>
          <a:lstStyle/>
          <a:p>
            <a:r>
              <a:rPr lang="en-US" dirty="0"/>
              <a:t>Proposal (Week</a:t>
            </a:r>
            <a:r>
              <a:rPr lang="en-US" dirty="0">
                <a:ea typeface="+mj-lt"/>
                <a:cs typeface="+mj-lt"/>
              </a:rPr>
              <a:t> 6</a:t>
            </a:r>
            <a:r>
              <a:rPr lang="en-US" dirty="0"/>
              <a:t>)</a:t>
            </a:r>
          </a:p>
        </p:txBody>
      </p:sp>
      <p:sp>
        <p:nvSpPr>
          <p:cNvPr id="3" name="Content Placeholder"/>
          <p:cNvSpPr>
            <a:spLocks noGrp="1"/>
          </p:cNvSpPr>
          <p:nvPr>
            <p:ph idx="1"/>
          </p:nvPr>
        </p:nvSpPr>
        <p:spPr>
          <a:xfrm>
            <a:off x="565149" y="2037875"/>
            <a:ext cx="8267299" cy="4417442"/>
          </a:xfrm>
        </p:spPr>
        <p:txBody>
          <a:bodyPr vert="horz" lIns="91440" tIns="45720" rIns="91440" bIns="45720" rtlCol="0" anchor="t">
            <a:normAutofit lnSpcReduction="10000"/>
          </a:bodyPr>
          <a:lstStyle/>
          <a:p>
            <a:r>
              <a:rPr lang="en-US" dirty="0"/>
              <a:t>(Up to) 3 page paper</a:t>
            </a:r>
          </a:p>
          <a:p>
            <a:r>
              <a:rPr lang="en-US" dirty="0"/>
              <a:t>Must</a:t>
            </a:r>
            <a:r>
              <a:rPr lang="en-US" dirty="0">
                <a:ea typeface="+mn-lt"/>
                <a:cs typeface="+mn-lt"/>
              </a:rPr>
              <a:t> use ACL formatting</a:t>
            </a:r>
            <a:endParaRPr lang="en-US" dirty="0"/>
          </a:p>
          <a:p>
            <a:pPr lvl="1"/>
            <a:r>
              <a:rPr lang="en-US" dirty="0">
                <a:ea typeface="+mn-lt"/>
                <a:cs typeface="+mn-lt"/>
                <a:hlinkClick r:id="rId2"/>
              </a:rPr>
              <a:t>https://aclrollingreview.org/authorchecklist</a:t>
            </a:r>
            <a:endParaRPr lang="en-US">
              <a:ea typeface="+mn-lt"/>
              <a:cs typeface="+mn-lt"/>
            </a:endParaRPr>
          </a:p>
          <a:p>
            <a:pPr lvl="1"/>
            <a:r>
              <a:rPr lang="en-US" dirty="0">
                <a:ea typeface="+mn-lt"/>
                <a:cs typeface="+mn-lt"/>
                <a:hlinkClick r:id="rId3"/>
              </a:rPr>
              <a:t>https://github.com/acl-org/acl-style-files/tree/master/latex</a:t>
            </a:r>
            <a:endParaRPr lang="en-US" dirty="0">
              <a:ea typeface="+mn-lt"/>
              <a:cs typeface="+mn-lt"/>
            </a:endParaRPr>
          </a:p>
          <a:p>
            <a:pPr lvl="1"/>
            <a:r>
              <a:rPr lang="en-US" dirty="0">
                <a:ea typeface="+mn-lt"/>
                <a:cs typeface="+mn-lt"/>
                <a:hlinkClick r:id="rId4"/>
              </a:rPr>
              <a:t>https://www.overleaf.com/latex/templates/association-for-computational-linguistics-acl-conference/jvxskxpnznfj</a:t>
            </a:r>
            <a:endParaRPr lang="en-US">
              <a:ea typeface="+mn-lt"/>
              <a:cs typeface="+mn-lt"/>
            </a:endParaRPr>
          </a:p>
          <a:p>
            <a:r>
              <a:rPr lang="en-US" dirty="0">
                <a:ea typeface="+mn-lt"/>
                <a:cs typeface="+mn-lt"/>
              </a:rPr>
              <a:t>Overleaf.com can be a great tool for writing, especially with multiple group members</a:t>
            </a:r>
            <a:endParaRPr lang="en-US"/>
          </a:p>
          <a:p>
            <a:r>
              <a:rPr lang="en-US" dirty="0"/>
              <a:t>References are not required, but you'll need them in your final paper so it doesn't hurt to start to get familiar with them</a:t>
            </a:r>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47845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8267299" cy="1446550"/>
          </a:xfrm>
        </p:spPr>
        <p:txBody>
          <a:bodyPr>
            <a:normAutofit/>
          </a:bodyPr>
          <a:lstStyle/>
          <a:p>
            <a:r>
              <a:rPr lang="en-US" dirty="0"/>
              <a:t>Project Update 1 (Due</a:t>
            </a:r>
            <a:r>
              <a:rPr lang="en-US" dirty="0">
                <a:ea typeface="+mj-lt"/>
                <a:cs typeface="+mj-lt"/>
              </a:rPr>
              <a:t> Week 10</a:t>
            </a:r>
            <a:r>
              <a:rPr lang="en-US" dirty="0"/>
              <a:t>)</a:t>
            </a:r>
          </a:p>
        </p:txBody>
      </p:sp>
      <p:sp>
        <p:nvSpPr>
          <p:cNvPr id="3" name="Content Placeholder"/>
          <p:cNvSpPr>
            <a:spLocks noGrp="1"/>
          </p:cNvSpPr>
          <p:nvPr>
            <p:ph idx="1"/>
          </p:nvPr>
        </p:nvSpPr>
        <p:spPr>
          <a:xfrm>
            <a:off x="565149" y="2247374"/>
            <a:ext cx="10195857" cy="3905804"/>
          </a:xfrm>
        </p:spPr>
        <p:txBody>
          <a:bodyPr vert="horz" lIns="91440" tIns="45720" rIns="91440" bIns="45720" rtlCol="0" anchor="t">
            <a:normAutofit fontScale="92500" lnSpcReduction="10000"/>
          </a:bodyPr>
          <a:lstStyle/>
          <a:p>
            <a:r>
              <a:rPr lang="en-US" dirty="0"/>
              <a:t>Include initial draft of Related Work section</a:t>
            </a:r>
          </a:p>
          <a:p>
            <a:r>
              <a:rPr lang="en-US" dirty="0"/>
              <a:t>Include initial draft of Methodology (include the methods used so far)</a:t>
            </a:r>
          </a:p>
          <a:p>
            <a:r>
              <a:rPr lang="en-US" dirty="0"/>
              <a:t>Include in a Results section: </a:t>
            </a:r>
          </a:p>
          <a:p>
            <a:pPr lvl="1">
              <a:buFont typeface="Courier New"/>
              <a:buChar char="o"/>
            </a:pPr>
            <a:r>
              <a:rPr lang="en-US" dirty="0"/>
              <a:t>Describe current results</a:t>
            </a:r>
          </a:p>
          <a:p>
            <a:pPr lvl="1">
              <a:buFont typeface="Courier New"/>
              <a:buChar char="o"/>
            </a:pPr>
            <a:r>
              <a:rPr lang="en-US" dirty="0"/>
              <a:t>Describe upcoming results</a:t>
            </a:r>
          </a:p>
          <a:p>
            <a:pPr lvl="1">
              <a:buFont typeface="Courier New"/>
              <a:buChar char="o"/>
            </a:pPr>
            <a:r>
              <a:rPr lang="en-US" dirty="0"/>
              <a:t>Describe analysis done</a:t>
            </a:r>
          </a:p>
          <a:p>
            <a:pPr lvl="1">
              <a:buFont typeface="Courier New"/>
              <a:buChar char="o"/>
            </a:pPr>
            <a:r>
              <a:rPr lang="en-US" dirty="0"/>
              <a:t>Describe upcoming analysis</a:t>
            </a:r>
          </a:p>
          <a:p>
            <a:r>
              <a:rPr lang="en-US" dirty="0"/>
              <a:t>Describe problems encountered which may have changed the project direction</a:t>
            </a:r>
          </a:p>
          <a:p>
            <a:r>
              <a:rPr lang="en-US" dirty="0"/>
              <a:t>Same formatting as proposal (ACL formatting)</a:t>
            </a:r>
          </a:p>
          <a:p>
            <a:r>
              <a:rPr lang="en-US" dirty="0"/>
              <a:t>Include </a:t>
            </a:r>
            <a:r>
              <a:rPr lang="en-US" dirty="0" err="1"/>
              <a:t>github</a:t>
            </a:r>
            <a:r>
              <a:rPr lang="en-US" dirty="0"/>
              <a:t> link which stores code and results</a:t>
            </a:r>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0542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8267299" cy="1446550"/>
          </a:xfrm>
        </p:spPr>
        <p:txBody>
          <a:bodyPr>
            <a:normAutofit/>
          </a:bodyPr>
          <a:lstStyle/>
          <a:p>
            <a:r>
              <a:rPr lang="en-US" dirty="0"/>
              <a:t>Project Update 2 (Due Week 13)</a:t>
            </a:r>
          </a:p>
        </p:txBody>
      </p:sp>
      <p:sp>
        <p:nvSpPr>
          <p:cNvPr id="3" name="Content Placeholder"/>
          <p:cNvSpPr>
            <a:spLocks noGrp="1"/>
          </p:cNvSpPr>
          <p:nvPr>
            <p:ph idx="1"/>
          </p:nvPr>
        </p:nvSpPr>
        <p:spPr>
          <a:xfrm>
            <a:off x="565149" y="1929874"/>
            <a:ext cx="10435370" cy="4322277"/>
          </a:xfrm>
        </p:spPr>
        <p:txBody>
          <a:bodyPr vert="horz" lIns="91440" tIns="45720" rIns="91440" bIns="45720" rtlCol="0" anchor="t">
            <a:normAutofit fontScale="85000" lnSpcReduction="20000"/>
          </a:bodyPr>
          <a:lstStyle/>
          <a:p>
            <a:r>
              <a:rPr lang="en-US" sz="2200" dirty="0"/>
              <a:t>Include initial draft of Introduction </a:t>
            </a:r>
          </a:p>
          <a:p>
            <a:r>
              <a:rPr lang="en-US" sz="2200" dirty="0"/>
              <a:t>Include more complete draft of Related Work section</a:t>
            </a:r>
            <a:endParaRPr lang="en-US" dirty="0"/>
          </a:p>
          <a:p>
            <a:r>
              <a:rPr lang="en-US" sz="2200" dirty="0"/>
              <a:t>Include more complete draft of Methodology (include the methods used so far)</a:t>
            </a:r>
          </a:p>
          <a:p>
            <a:r>
              <a:rPr lang="en-US" sz="2200" dirty="0"/>
              <a:t>Include initial draft of Experiments/Experimental Setup</a:t>
            </a:r>
          </a:p>
          <a:p>
            <a:r>
              <a:rPr lang="en-US" sz="2200" dirty="0"/>
              <a:t>Include in a Results section: </a:t>
            </a:r>
          </a:p>
          <a:p>
            <a:pPr lvl="1">
              <a:buFont typeface="Courier New,monospace"/>
              <a:buChar char="o"/>
            </a:pPr>
            <a:r>
              <a:rPr lang="en-US" sz="1900" dirty="0"/>
              <a:t>Describe current results</a:t>
            </a:r>
          </a:p>
          <a:p>
            <a:pPr lvl="1">
              <a:buFont typeface="Courier New,monospace"/>
              <a:buChar char="o"/>
            </a:pPr>
            <a:r>
              <a:rPr lang="en-US" sz="1900" dirty="0"/>
              <a:t>Describe upcoming results</a:t>
            </a:r>
          </a:p>
          <a:p>
            <a:pPr lvl="1">
              <a:buFont typeface="Courier New,monospace"/>
              <a:buChar char="o"/>
            </a:pPr>
            <a:r>
              <a:rPr lang="en-US" sz="1900" dirty="0"/>
              <a:t>Describe analysis done</a:t>
            </a:r>
          </a:p>
          <a:p>
            <a:pPr lvl="1">
              <a:buFont typeface="Courier New,monospace"/>
              <a:buChar char="o"/>
            </a:pPr>
            <a:r>
              <a:rPr lang="en-US" sz="1900" dirty="0"/>
              <a:t>Describe upcoming analysis</a:t>
            </a:r>
          </a:p>
          <a:p>
            <a:r>
              <a:rPr lang="en-US" dirty="0"/>
              <a:t>+ progress since last update</a:t>
            </a:r>
          </a:p>
          <a:p>
            <a:r>
              <a:rPr lang="en-US" dirty="0"/>
              <a:t>Ideas that were tried that didn't work out</a:t>
            </a:r>
          </a:p>
          <a:p>
            <a:r>
              <a:rPr lang="en-US" dirty="0"/>
              <a:t>Next steps/analysis</a:t>
            </a:r>
          </a:p>
          <a:p>
            <a:r>
              <a:rPr lang="en-US" dirty="0">
                <a:ea typeface="+mn-lt"/>
                <a:cs typeface="+mn-lt"/>
              </a:rPr>
              <a:t>Same formatting as proposal (ACL formatting)</a:t>
            </a:r>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0596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8267299" cy="1446550"/>
          </a:xfrm>
        </p:spPr>
        <p:txBody>
          <a:bodyPr>
            <a:normAutofit/>
          </a:bodyPr>
          <a:lstStyle/>
          <a:p>
            <a:r>
              <a:rPr lang="en-US" dirty="0"/>
              <a:t>Final Presentation (Week 16 and Finals Week)</a:t>
            </a:r>
          </a:p>
        </p:txBody>
      </p:sp>
      <p:sp>
        <p:nvSpPr>
          <p:cNvPr id="3" name="Content Placeholder"/>
          <p:cNvSpPr>
            <a:spLocks noGrp="1"/>
          </p:cNvSpPr>
          <p:nvPr>
            <p:ph idx="1"/>
          </p:nvPr>
        </p:nvSpPr>
        <p:spPr>
          <a:xfrm>
            <a:off x="565149" y="2900516"/>
            <a:ext cx="9100736" cy="3503582"/>
          </a:xfrm>
        </p:spPr>
        <p:txBody>
          <a:bodyPr vert="horz" lIns="91440" tIns="45720" rIns="91440" bIns="45720" rtlCol="0" anchor="t">
            <a:normAutofit lnSpcReduction="10000"/>
          </a:bodyPr>
          <a:lstStyle/>
          <a:p>
            <a:r>
              <a:rPr lang="en-US" dirty="0"/>
              <a:t>~20 minute in class presentations (15 minutes presenting, 5 minutes questions)</a:t>
            </a:r>
          </a:p>
          <a:p>
            <a:r>
              <a:rPr lang="en-US" dirty="0"/>
              <a:t>Describes problem, motivation, method, experiments, results, analysis, etc. </a:t>
            </a:r>
          </a:p>
          <a:p>
            <a:r>
              <a:rPr lang="en-US" dirty="0"/>
              <a:t>May not have time to describe everything in final paper, but should touch on all the most important details</a:t>
            </a:r>
          </a:p>
          <a:p>
            <a:r>
              <a:rPr lang="en-US" dirty="0"/>
              <a:t>Every team member should participate</a:t>
            </a:r>
          </a:p>
          <a:p>
            <a:r>
              <a:rPr lang="en-US" dirty="0"/>
              <a:t>Hand in slides the evening before your presentation</a:t>
            </a:r>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53355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cNvSpPr>
            <a:spLocks noGrp="1"/>
          </p:cNvSpPr>
          <p:nvPr>
            <p:ph type="title"/>
          </p:nvPr>
        </p:nvSpPr>
        <p:spPr/>
        <p:txBody>
          <a:bodyPr>
            <a:normAutofit/>
          </a:bodyPr>
          <a:lstStyle/>
          <a:p>
            <a:r>
              <a:rPr lang="en-US" dirty="0"/>
              <a:t>Final Paper (Due Week 16)</a:t>
            </a:r>
          </a:p>
        </p:txBody>
      </p:sp>
      <p:sp>
        <p:nvSpPr>
          <p:cNvPr id="3" name="Content Placeholder"/>
          <p:cNvSpPr>
            <a:spLocks noGrp="1"/>
          </p:cNvSpPr>
          <p:nvPr>
            <p:ph idx="4294967295"/>
          </p:nvPr>
        </p:nvSpPr>
        <p:spPr>
          <a:xfrm>
            <a:off x="690113" y="2143484"/>
            <a:ext cx="8267700" cy="3941763"/>
          </a:xfrm>
        </p:spPr>
        <p:txBody>
          <a:bodyPr vert="horz" lIns="91440" tIns="45720" rIns="91440" bIns="45720" rtlCol="0" anchor="t">
            <a:normAutofit lnSpcReduction="10000"/>
          </a:bodyPr>
          <a:lstStyle/>
          <a:p>
            <a:r>
              <a:rPr lang="en-US" dirty="0"/>
              <a:t>(up to) 5 page paper </a:t>
            </a:r>
          </a:p>
          <a:p>
            <a:r>
              <a:rPr lang="en-US" dirty="0"/>
              <a:t>Treated as a research paper (those we have been reading throughout the semester)</a:t>
            </a:r>
          </a:p>
          <a:p>
            <a:r>
              <a:rPr lang="en-US" dirty="0"/>
              <a:t>Include (at least) abstract, introduction, (slight) related work, methodology, experiments/experimental setup, results, additional analysis, conclusion </a:t>
            </a:r>
          </a:p>
          <a:p>
            <a:r>
              <a:rPr lang="en-US" dirty="0"/>
              <a:t>Should include citations (see examples on </a:t>
            </a:r>
            <a:r>
              <a:rPr lang="en-US" dirty="0" err="1"/>
              <a:t>brightspace</a:t>
            </a:r>
            <a:r>
              <a:rPr lang="en-US" dirty="0"/>
              <a:t> for how to use citations on overleaf)</a:t>
            </a:r>
          </a:p>
          <a:p>
            <a:r>
              <a:rPr lang="en-US" dirty="0"/>
              <a:t>See other research papers for ways of presenting the research</a:t>
            </a:r>
          </a:p>
        </p:txBody>
      </p:sp>
    </p:spTree>
    <p:extLst>
      <p:ext uri="{BB962C8B-B14F-4D97-AF65-F5344CB8AC3E}">
        <p14:creationId xmlns:p14="http://schemas.microsoft.com/office/powerpoint/2010/main" val="207499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8267299" cy="1446550"/>
          </a:xfrm>
        </p:spPr>
        <p:txBody>
          <a:bodyPr>
            <a:normAutofit/>
          </a:bodyPr>
          <a:lstStyle/>
          <a:p>
            <a:r>
              <a:rPr lang="en-US" dirty="0"/>
              <a:t>Final Paper (</a:t>
            </a:r>
            <a:r>
              <a:rPr lang="en-US" dirty="0">
                <a:ea typeface="+mj-lt"/>
                <a:cs typeface="+mj-lt"/>
              </a:rPr>
              <a:t>Due Week</a:t>
            </a:r>
            <a:r>
              <a:rPr lang="en-US" dirty="0"/>
              <a:t> 16)</a:t>
            </a:r>
          </a:p>
        </p:txBody>
      </p:sp>
      <p:sp>
        <p:nvSpPr>
          <p:cNvPr id="3" name="Content Placeholder"/>
          <p:cNvSpPr>
            <a:spLocks noGrp="1"/>
          </p:cNvSpPr>
          <p:nvPr>
            <p:ph idx="1"/>
          </p:nvPr>
        </p:nvSpPr>
        <p:spPr>
          <a:xfrm>
            <a:off x="565149" y="2085600"/>
            <a:ext cx="8267299" cy="3942789"/>
          </a:xfrm>
        </p:spPr>
        <p:txBody>
          <a:bodyPr vert="horz" lIns="91440" tIns="45720" rIns="91440" bIns="45720" rtlCol="0" anchor="t">
            <a:normAutofit fontScale="92500" lnSpcReduction="20000"/>
          </a:bodyPr>
          <a:lstStyle/>
          <a:p>
            <a:r>
              <a:rPr lang="en-US" dirty="0"/>
              <a:t>Must use ACL formatting</a:t>
            </a:r>
          </a:p>
          <a:p>
            <a:pPr lvl="1"/>
            <a:r>
              <a:rPr lang="en-US" dirty="0">
                <a:ea typeface="+mn-lt"/>
                <a:cs typeface="+mn-lt"/>
                <a:hlinkClick r:id="rId2"/>
              </a:rPr>
              <a:t>https://aclrollingreview.org/authorchecklist</a:t>
            </a:r>
            <a:endParaRPr lang="en-US" dirty="0">
              <a:ea typeface="+mn-lt"/>
              <a:cs typeface="+mn-lt"/>
            </a:endParaRPr>
          </a:p>
          <a:p>
            <a:pPr lvl="1"/>
            <a:r>
              <a:rPr lang="en-US" dirty="0">
                <a:ea typeface="+mn-lt"/>
                <a:cs typeface="+mn-lt"/>
                <a:hlinkClick r:id="rId3"/>
              </a:rPr>
              <a:t>https://www.overleaf.com/latex/templates/association-for-computational-linguistics-acl-conference/jvxskxpnznfj</a:t>
            </a:r>
          </a:p>
          <a:p>
            <a:r>
              <a:rPr lang="en-US" dirty="0"/>
              <a:t>Must include </a:t>
            </a:r>
            <a:r>
              <a:rPr lang="en-US" dirty="0" err="1"/>
              <a:t>github</a:t>
            </a:r>
            <a:r>
              <a:rPr lang="en-US" dirty="0"/>
              <a:t> link with code/artifacts created/used for the project</a:t>
            </a:r>
          </a:p>
          <a:p>
            <a:r>
              <a:rPr lang="en-US" dirty="0"/>
              <a:t>5 pages max, does not include references</a:t>
            </a:r>
          </a:p>
          <a:p>
            <a:r>
              <a:rPr lang="en-US" b="1" dirty="0"/>
              <a:t>Should be well written</a:t>
            </a:r>
          </a:p>
          <a:p>
            <a:pPr lvl="1"/>
            <a:r>
              <a:rPr lang="en-US" u="sng" dirty="0"/>
              <a:t>It's not enough just to include the required sections</a:t>
            </a:r>
          </a:p>
          <a:p>
            <a:r>
              <a:rPr lang="en-US" dirty="0"/>
              <a:t>Overleaf.com can be a great tool for writing, especially with multiple group members</a:t>
            </a:r>
          </a:p>
          <a:p>
            <a:pPr marL="0" indent="0">
              <a:buNone/>
            </a:pPr>
            <a:endParaRPr lang="en-US" dirty="0"/>
          </a:p>
          <a:p>
            <a:endParaRPr lang="en-US" dirty="0"/>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6121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9A1310-DCC2-24DE-8F17-9B6BFC4AAED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6B4FCC1-AEF1-FC54-1E36-B3AABB0C9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Table 9">
            <a:extLst>
              <a:ext uri="{FF2B5EF4-FFF2-40B4-BE49-F238E27FC236}">
                <a16:creationId xmlns:a16="http://schemas.microsoft.com/office/drawing/2014/main" id="{6321259D-4ECA-6D5E-E4C2-77B3CDD6215E}"/>
              </a:ext>
            </a:extLst>
          </p:cNvPr>
          <p:cNvGraphicFramePr>
            <a:graphicFrameLocks noGrp="1"/>
          </p:cNvGraphicFramePr>
          <p:nvPr>
            <p:extLst>
              <p:ext uri="{D42A27DB-BD31-4B8C-83A1-F6EECF244321}">
                <p14:modId xmlns:p14="http://schemas.microsoft.com/office/powerpoint/2010/main" val="2833793785"/>
              </p:ext>
            </p:extLst>
          </p:nvPr>
        </p:nvGraphicFramePr>
        <p:xfrm>
          <a:off x="12915" y="-1"/>
          <a:ext cx="12179393" cy="6840636"/>
        </p:xfrm>
        <a:graphic>
          <a:graphicData uri="http://schemas.openxmlformats.org/drawingml/2006/table">
            <a:tbl>
              <a:tblPr bandRow="1">
                <a:tableStyleId>{5C22544A-7EE6-4342-B048-85BDC9FD1C3A}</a:tableStyleId>
              </a:tblPr>
              <a:tblGrid>
                <a:gridCol w="1924372">
                  <a:extLst>
                    <a:ext uri="{9D8B030D-6E8A-4147-A177-3AD203B41FA5}">
                      <a16:colId xmlns:a16="http://schemas.microsoft.com/office/drawing/2014/main" val="1578533623"/>
                    </a:ext>
                  </a:extLst>
                </a:gridCol>
                <a:gridCol w="761999">
                  <a:extLst>
                    <a:ext uri="{9D8B030D-6E8A-4147-A177-3AD203B41FA5}">
                      <a16:colId xmlns:a16="http://schemas.microsoft.com/office/drawing/2014/main" val="1265517919"/>
                    </a:ext>
                  </a:extLst>
                </a:gridCol>
                <a:gridCol w="2727321">
                  <a:extLst>
                    <a:ext uri="{9D8B030D-6E8A-4147-A177-3AD203B41FA5}">
                      <a16:colId xmlns:a16="http://schemas.microsoft.com/office/drawing/2014/main" val="3527550958"/>
                    </a:ext>
                  </a:extLst>
                </a:gridCol>
                <a:gridCol w="2363489">
                  <a:extLst>
                    <a:ext uri="{9D8B030D-6E8A-4147-A177-3AD203B41FA5}">
                      <a16:colId xmlns:a16="http://schemas.microsoft.com/office/drawing/2014/main" val="4083156402"/>
                    </a:ext>
                  </a:extLst>
                </a:gridCol>
                <a:gridCol w="2053525">
                  <a:extLst>
                    <a:ext uri="{9D8B030D-6E8A-4147-A177-3AD203B41FA5}">
                      <a16:colId xmlns:a16="http://schemas.microsoft.com/office/drawing/2014/main" val="1291743689"/>
                    </a:ext>
                  </a:extLst>
                </a:gridCol>
                <a:gridCol w="2348687">
                  <a:extLst>
                    <a:ext uri="{9D8B030D-6E8A-4147-A177-3AD203B41FA5}">
                      <a16:colId xmlns:a16="http://schemas.microsoft.com/office/drawing/2014/main" val="1976925789"/>
                    </a:ext>
                  </a:extLst>
                </a:gridCol>
              </a:tblGrid>
              <a:tr h="539649">
                <a:tc>
                  <a:txBody>
                    <a:bodyPr/>
                    <a:lstStyle/>
                    <a:p>
                      <a:r>
                        <a:rPr lang="en-US" sz="1600" b="1" dirty="0">
                          <a:effectLst/>
                        </a:rPr>
                        <a:t>Final Project Rubric</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1" dirty="0">
                          <a:effectLst/>
                        </a:rPr>
                        <a:t>Points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1" dirty="0">
                          <a:effectLst/>
                        </a:rPr>
                        <a:t>Needs Improvement (0-25%)</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1" dirty="0">
                          <a:effectLst/>
                        </a:rPr>
                        <a:t>Satisfactory (25-50%)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1" dirty="0">
                          <a:effectLst/>
                        </a:rPr>
                        <a:t>Good      (50-75%)</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1" dirty="0">
                          <a:effectLst/>
                        </a:rPr>
                        <a:t>Excellent (75-100%)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2000455148"/>
                  </a:ext>
                </a:extLst>
              </a:tr>
              <a:tr h="658108">
                <a:tc>
                  <a:txBody>
                    <a:bodyPr/>
                    <a:lstStyle/>
                    <a:p>
                      <a:r>
                        <a:rPr lang="en-US" sz="1600" b="0" dirty="0">
                          <a:effectLst/>
                        </a:rPr>
                        <a:t>Writing</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r>
                        <a:rPr lang="en-US" sz="1600" b="0" dirty="0">
                          <a:effectLst/>
                        </a:rPr>
                        <a:t>10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Frequent errors, unclear writing.</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Noticeable errors, somewhat clear.</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Minor errors, mostly clear and concise.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Clear, concise, and error-free writing.</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752845871"/>
                  </a:ext>
                </a:extLst>
              </a:tr>
              <a:tr h="1937288">
                <a:tc>
                  <a:txBody>
                    <a:bodyPr/>
                    <a:lstStyle/>
                    <a:p>
                      <a:r>
                        <a:rPr lang="en-US" sz="1600" b="0" dirty="0">
                          <a:effectLst/>
                        </a:rPr>
                        <a:t>Abstract, Introduction, Related Work</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r>
                        <a:rPr lang="en-US" sz="1600" b="0" dirty="0">
                          <a:effectLst/>
                        </a:rPr>
                        <a:t>30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Incomplete or unclear. Abstract is vague. Introduction lacks context. Related work is insufficient or irrelevant.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Adequate but lacks depth. Abstract is basic. Introduction is somewhat clear. Related work is somewhat relevant.</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Clear and relevant. Abstract summarizes key points. Introduction provides context. Related work is relevant and well-cited.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Comprehensive and insightful. Abstract summarizes well. Introduction sets context. Related work is thorough and well-cited.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940577323"/>
                  </a:ext>
                </a:extLst>
              </a:tr>
              <a:tr h="1433593">
                <a:tc>
                  <a:txBody>
                    <a:bodyPr/>
                    <a:lstStyle/>
                    <a:p>
                      <a:r>
                        <a:rPr lang="en-US" sz="1600" b="0" dirty="0">
                          <a:effectLst/>
                        </a:rPr>
                        <a:t>Methodology, Experiments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r>
                        <a:rPr lang="en-US" sz="1600" b="0" dirty="0">
                          <a:effectLst/>
                        </a:rPr>
                        <a:t>50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Incomplete or unclear methodology. Experiments are poorly documented.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Basic methodology and experiments. Lacks detail and clarity.</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Clear methodology and experiments. Some details may be missing.</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Detailed and well-structured methodology. Experiments are thorough and well-documented.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218759484"/>
                  </a:ext>
                </a:extLst>
              </a:tr>
              <a:tr h="1278610">
                <a:tc>
                  <a:txBody>
                    <a:bodyPr/>
                    <a:lstStyle/>
                    <a:p>
                      <a:r>
                        <a:rPr lang="en-US" sz="1600" b="0" dirty="0">
                          <a:effectLst/>
                        </a:rPr>
                        <a:t>Results, Additional Analysis, Conclusion</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r>
                        <a:rPr lang="en-US" sz="1600" b="0" dirty="0">
                          <a:effectLst/>
                        </a:rPr>
                        <a:t>50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Results are unclear or missing. Analysis is poor. Conclusion is unsupported.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Results are presented but lack clarity. Analysis is basic. Conclusion is weak.</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Results are clear. Analysis is relevant. Conclusion is supported by data.</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Results are clearly presented and analyzed. Conclusion is insightful and well-supported.</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4024096855"/>
                  </a:ext>
                </a:extLst>
              </a:tr>
              <a:tr h="658108">
                <a:tc>
                  <a:txBody>
                    <a:bodyPr/>
                    <a:lstStyle/>
                    <a:p>
                      <a:r>
                        <a:rPr lang="en-US" sz="1600" b="0" dirty="0">
                          <a:effectLst/>
                        </a:rPr>
                        <a:t>Paper Format/Citations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r>
                        <a:rPr lang="en-US" sz="1600" b="0" dirty="0">
                          <a:effectLst/>
                        </a:rPr>
                        <a:t>10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Frequent formatting or citation errors.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Noticeable formatting or citation errors.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Minor formatting or citation errors.</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r>
                        <a:rPr lang="en-US" sz="1600" b="0" dirty="0">
                          <a:effectLst/>
                        </a:rPr>
                        <a:t>Perfect formatting and citation style.</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915527189"/>
                  </a:ext>
                </a:extLst>
              </a:tr>
              <a:tr h="315891">
                <a:tc>
                  <a:txBody>
                    <a:bodyPr/>
                    <a:lstStyle/>
                    <a:p>
                      <a:r>
                        <a:rPr lang="en-US" sz="1600" b="0" dirty="0">
                          <a:effectLst/>
                        </a:rPr>
                        <a:t>Total</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algn="r"/>
                      <a:r>
                        <a:rPr lang="en-US" sz="1600" b="0" dirty="0"/>
                        <a:t>150</a:t>
                      </a:r>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endParaRPr lang="en-US" sz="1600" b="1"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endParaRPr lang="en-US" sz="1600" b="1"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endParaRPr lang="en-US" sz="16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endParaRPr lang="en-US" sz="1600" dirty="0"/>
                    </a:p>
                  </a:txBody>
                  <a:tcPr anchor="ctr">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543237272"/>
                  </a:ext>
                </a:extLst>
              </a:tr>
            </a:tbl>
          </a:graphicData>
        </a:graphic>
      </p:graphicFrame>
    </p:spTree>
    <p:extLst>
      <p:ext uri="{BB962C8B-B14F-4D97-AF65-F5344CB8AC3E}">
        <p14:creationId xmlns:p14="http://schemas.microsoft.com/office/powerpoint/2010/main" val="36744409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9E3846-8D0B-B14A-817A-7FAC9DDAB4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A5172B-100A-154D-8648-280629D6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81559" y="976630"/>
            <a:ext cx="1336774" cy="1201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565148" y="1204721"/>
            <a:ext cx="8267299" cy="1446550"/>
          </a:xfrm>
        </p:spPr>
        <p:txBody>
          <a:bodyPr>
            <a:normAutofit/>
          </a:bodyPr>
          <a:lstStyle/>
          <a:p>
            <a:r>
              <a:rPr lang="en-US" dirty="0"/>
              <a:t>Other Details</a:t>
            </a:r>
          </a:p>
        </p:txBody>
      </p:sp>
      <p:sp>
        <p:nvSpPr>
          <p:cNvPr id="3" name="Content Placeholder"/>
          <p:cNvSpPr>
            <a:spLocks noGrp="1"/>
          </p:cNvSpPr>
          <p:nvPr>
            <p:ph idx="1"/>
          </p:nvPr>
        </p:nvSpPr>
        <p:spPr>
          <a:xfrm>
            <a:off x="565149" y="2085600"/>
            <a:ext cx="8267299" cy="3942789"/>
          </a:xfrm>
        </p:spPr>
        <p:txBody>
          <a:bodyPr vert="horz" lIns="91440" tIns="45720" rIns="91440" bIns="45720" rtlCol="0" anchor="t">
            <a:normAutofit/>
          </a:bodyPr>
          <a:lstStyle/>
          <a:p>
            <a:r>
              <a:rPr lang="en-US" dirty="0"/>
              <a:t>How do I write the final paper?</a:t>
            </a:r>
          </a:p>
          <a:p>
            <a:pPr lvl="1"/>
            <a:r>
              <a:rPr lang="en-US" dirty="0"/>
              <a:t>Start adding details early on</a:t>
            </a:r>
          </a:p>
          <a:p>
            <a:pPr lvl="2"/>
            <a:r>
              <a:rPr lang="en-US" dirty="0"/>
              <a:t>Motivation, Methodology, datasets</a:t>
            </a:r>
          </a:p>
          <a:p>
            <a:pPr lvl="1"/>
            <a:r>
              <a:rPr lang="en-US" dirty="0"/>
              <a:t>Continue to add/improve old writing</a:t>
            </a:r>
          </a:p>
          <a:p>
            <a:pPr lvl="1"/>
            <a:r>
              <a:rPr lang="en-US" u="sng" dirty="0"/>
              <a:t>Waiting until the last minute will result in a poorly written paper</a:t>
            </a:r>
          </a:p>
          <a:p>
            <a:pPr lvl="2"/>
            <a:r>
              <a:rPr lang="en-US" dirty="0"/>
              <a:t>All members should contribute, waiting until the last minute won't allow this either</a:t>
            </a:r>
            <a:endParaRPr lang="en-US" u="sng" dirty="0"/>
          </a:p>
          <a:p>
            <a:pPr lvl="1"/>
            <a:r>
              <a:rPr lang="en-US" dirty="0"/>
              <a:t>Ask other groups to proofread your paper</a:t>
            </a:r>
          </a:p>
          <a:p>
            <a:pPr lvl="2"/>
            <a:r>
              <a:rPr lang="en-US" dirty="0"/>
              <a:t>Grammar, missing/unclear details, etc.</a:t>
            </a:r>
          </a:p>
          <a:p>
            <a:pPr lvl="1"/>
            <a:r>
              <a:rPr lang="en-US" dirty="0"/>
              <a:t>Get familiar with overleaf/latex</a:t>
            </a:r>
          </a:p>
          <a:p>
            <a:pPr marL="0" indent="0">
              <a:buNone/>
            </a:pPr>
            <a:endParaRPr lang="en-US" dirty="0"/>
          </a:p>
          <a:p>
            <a:endParaRPr lang="en-US" dirty="0"/>
          </a:p>
          <a:p>
            <a:endParaRPr lang="en-US" dirty="0"/>
          </a:p>
        </p:txBody>
      </p:sp>
      <p:sp>
        <p:nvSpPr>
          <p:cNvPr id="13" name="Rectangle 12">
            <a:extLst>
              <a:ext uri="{FF2B5EF4-FFF2-40B4-BE49-F238E27FC236}">
                <a16:creationId xmlns:a16="http://schemas.microsoft.com/office/drawing/2014/main" id="{37A9EF9F-F5F8-3B4C-B721-17C0A18761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38231" y="1096772"/>
            <a:ext cx="453769" cy="576122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5" name="Cross 14">
            <a:extLst>
              <a:ext uri="{FF2B5EF4-FFF2-40B4-BE49-F238E27FC236}">
                <a16:creationId xmlns:a16="http://schemas.microsoft.com/office/drawing/2014/main" id="{6DEB3960-7668-064C-B56F-2B18221DED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31286" y="5618903"/>
            <a:ext cx="524933" cy="524933"/>
          </a:xfrm>
          <a:prstGeom prst="plus">
            <a:avLst>
              <a:gd name="adj" fmla="val 39516"/>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0878156"/>
      </p:ext>
    </p:extLst>
  </p:cSld>
  <p:clrMapOvr>
    <a:masterClrMapping/>
  </p:clrMapOvr>
</p:sld>
</file>

<file path=ppt/theme/theme1.xml><?xml version="1.0" encoding="utf-8"?>
<a:theme xmlns:a="http://schemas.openxmlformats.org/drawingml/2006/main" name="MadridVTI">
  <a:themeElements>
    <a:clrScheme name="AnalogousFromLightSeedRightStep">
      <a:dk1>
        <a:srgbClr val="000000"/>
      </a:dk1>
      <a:lt1>
        <a:srgbClr val="FFFFFF"/>
      </a:lt1>
      <a:dk2>
        <a:srgbClr val="243341"/>
      </a:dk2>
      <a:lt2>
        <a:srgbClr val="E8E5E2"/>
      </a:lt2>
      <a:accent1>
        <a:srgbClr val="63A7E9"/>
      </a:accent1>
      <a:accent2>
        <a:srgbClr val="525FE7"/>
      </a:accent2>
      <a:accent3>
        <a:srgbClr val="9971EB"/>
      </a:accent3>
      <a:accent4>
        <a:srgbClr val="C152E7"/>
      </a:accent4>
      <a:accent5>
        <a:srgbClr val="EB71D8"/>
      </a:accent5>
      <a:accent6>
        <a:srgbClr val="E75291"/>
      </a:accent6>
      <a:hlink>
        <a:srgbClr val="9D7D5E"/>
      </a:hlink>
      <a:folHlink>
        <a:srgbClr val="7F7F7F"/>
      </a:folHlink>
    </a:clrScheme>
    <a:fontScheme name="Madrid">
      <a:majorFont>
        <a:latin typeface="Seaford Display"/>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dridVTI" id="{5F675924-ADDD-6B4C-A2D4-69150D1F0C16}" vid="{BEA84270-19BD-7342-8ABF-EFF1668AF117}"/>
    </a:ext>
  </a:extLst>
</a:theme>
</file>

<file path=docProps/app.xml><?xml version="1.0" encoding="utf-8"?>
<Properties xmlns="http://schemas.openxmlformats.org/officeDocument/2006/extended-properties" xmlns:vt="http://schemas.openxmlformats.org/officeDocument/2006/docPropsVTypes">
  <TotalTime>0</TotalTime>
  <Words>15</Words>
  <Application>Microsoft Office PowerPoint</Application>
  <PresentationFormat>Widescreen</PresentationFormat>
  <Paragraphs>6</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MadridVTI</vt:lpstr>
      <vt:lpstr>Final Project NLP</vt:lpstr>
      <vt:lpstr>Contents</vt:lpstr>
      <vt:lpstr>Final Project </vt:lpstr>
      <vt:lpstr>Final Project – Additional Details </vt:lpstr>
      <vt:lpstr>Other Details</vt:lpstr>
      <vt:lpstr>Other Details</vt:lpstr>
      <vt:lpstr>Questions to consider</vt:lpstr>
      <vt:lpstr>Grade Breakdown</vt:lpstr>
      <vt:lpstr>Project Idea(s)(Due Week 4)</vt:lpstr>
      <vt:lpstr>Proposal (Week 6)</vt:lpstr>
      <vt:lpstr>Proposal (Week 6)</vt:lpstr>
      <vt:lpstr>Project Update 1 (Due Week 10)</vt:lpstr>
      <vt:lpstr>Project Update 2 (Due Week 13)</vt:lpstr>
      <vt:lpstr>Final Presentation (Week 16 and Finals Week)</vt:lpstr>
      <vt:lpstr>Final Paper (Due Week 16)</vt:lpstr>
      <vt:lpstr>Final Paper (Due Week 16)</vt:lpstr>
      <vt:lpstr>PowerPoint Presentation</vt:lpstr>
      <vt:lpstr>Other Details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c:creator>
  <cp:lastModifiedBy>-</cp:lastModifiedBy>
  <cp:revision>609</cp:revision>
  <dcterms:created xsi:type="dcterms:W3CDTF">2019-10-16T03:03:10Z</dcterms:created>
  <dcterms:modified xsi:type="dcterms:W3CDTF">2025-09-19T16:46:19Z</dcterms:modified>
</cp:coreProperties>
</file>